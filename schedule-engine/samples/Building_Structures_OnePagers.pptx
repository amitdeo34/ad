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Supply</c:v>
                </c:pt>
              </c:strCache>
            </c:strRef>
          </c:tx>
          <c:spPr>
            <a:solidFill>
              <a:srgbClr val="00B8F5"/>
            </a:solidFill>
            <a:effectLst/>
          </c:spPr>
          <c:invertIfNegative val="0"/>
          <c:dLbls>
            <c:numFmt formatCode="#,##0;;;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1B1B1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Oct-26</c:v>
                  </c:pt>
                  <c:pt idx="1">
                    <c:v>Nov</c:v>
                  </c:pt>
                  <c:pt idx="2">
                    <c:v>Dec</c:v>
                  </c:pt>
                  <c:pt idx="3">
                    <c:v>Jan-27</c:v>
                  </c:pt>
                  <c:pt idx="4">
                    <c:v>Feb</c:v>
                  </c:pt>
                  <c:pt idx="5">
                    <c:v>Mar</c:v>
                  </c:pt>
                  <c:pt idx="6">
                    <c:v>Apr</c:v>
                  </c:pt>
                  <c:pt idx="7">
                    <c:v>May</c:v>
                  </c:pt>
                  <c:pt idx="8">
                    <c:v>Jun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620</c:v>
                </c:pt>
                <c:pt idx="1">
                  <c:v>670</c:v>
                </c:pt>
                <c:pt idx="2">
                  <c:v>870</c:v>
                </c:pt>
                <c:pt idx="3">
                  <c:v>822</c:v>
                </c:pt>
                <c:pt idx="4">
                  <c:v>430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Erection</c:v>
                </c:pt>
              </c:strCache>
            </c:strRef>
          </c:tx>
          <c:spPr>
            <a:solidFill>
              <a:srgbClr val="1E49E2"/>
            </a:solidFill>
            <a:effectLst/>
          </c:spPr>
          <c:invertIfNegative val="0"/>
          <c:dLbls>
            <c:numFmt formatCode="#,##0;;;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1B1B1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Oct-26</c:v>
                  </c:pt>
                  <c:pt idx="1">
                    <c:v>Nov</c:v>
                  </c:pt>
                  <c:pt idx="2">
                    <c:v>Dec</c:v>
                  </c:pt>
                  <c:pt idx="3">
                    <c:v>Jan-27</c:v>
                  </c:pt>
                  <c:pt idx="4">
                    <c:v>Feb</c:v>
                  </c:pt>
                  <c:pt idx="5">
                    <c:v>Mar</c:v>
                  </c:pt>
                  <c:pt idx="6">
                    <c:v>Apr</c:v>
                  </c:pt>
                  <c:pt idx="7">
                    <c:v>May</c:v>
                  </c:pt>
                  <c:pt idx="8">
                    <c:v>Jun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50</c:v>
                </c:pt>
                <c:pt idx="1">
                  <c:v>380</c:v>
                </c:pt>
                <c:pt idx="2">
                  <c:v>500</c:v>
                </c:pt>
                <c:pt idx="3">
                  <c:v>526</c:v>
                </c:pt>
                <c:pt idx="4">
                  <c:v>538</c:v>
                </c:pt>
                <c:pt idx="5">
                  <c:v>473</c:v>
                </c:pt>
                <c:pt idx="6">
                  <c:v>345</c:v>
                </c:pt>
                <c:pt idx="7">
                  <c:v>300</c:v>
                </c:pt>
                <c:pt idx="8">
                  <c:v>300</c:v>
                </c:pt>
              </c:numCache>
            </c:numRef>
          </c:val>
        </c:ser>
        <c:dLbls>
          <c:numFmt formatCode="#,##0;;;" sourceLinked="0"/>
          <c:txPr>
            <a:bodyPr/>
            <a:lstStyle/>
            <a:p>
              <a:pPr>
                <a:defRPr b="0" i="0" strike="noStrike" sz="650" u="none">
                  <a:solidFill>
                    <a:srgbClr val="1B1B1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47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8EE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47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800">
              <a:solidFill>
                <a:srgbClr val="5B6475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Cum. supply</c:v>
                </c:pt>
              </c:strCache>
            </c:strRef>
          </c:tx>
          <c:spPr>
            <a:solidFill>
              <a:srgbClr val="00B8F5"/>
            </a:solidFill>
            <a:ln w="25400" cap="flat">
              <a:solidFill>
                <a:srgbClr val="00B8F5"/>
              </a:solidFill>
              <a:prstDash val="solid,solid,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00B8F5"/>
              </a:solidFill>
              <a:ln w="9525" cap="flat">
                <a:solidFill>
                  <a:srgbClr val="00B8F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Oct-26</c:v>
                  </c:pt>
                  <c:pt idx="1">
                    <c:v>Nov</c:v>
                  </c:pt>
                  <c:pt idx="2">
                    <c:v>Dec</c:v>
                  </c:pt>
                  <c:pt idx="3">
                    <c:v>Jan-27</c:v>
                  </c:pt>
                  <c:pt idx="4">
                    <c:v>Feb</c:v>
                  </c:pt>
                  <c:pt idx="5">
                    <c:v>Mar</c:v>
                  </c:pt>
                  <c:pt idx="6">
                    <c:v>Apr</c:v>
                  </c:pt>
                  <c:pt idx="7">
                    <c:v>May</c:v>
                  </c:pt>
                  <c:pt idx="8">
                    <c:v>Jun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632</c:v>
                </c:pt>
                <c:pt idx="1">
                  <c:v>1302</c:v>
                </c:pt>
                <c:pt idx="2">
                  <c:v>2172</c:v>
                </c:pt>
                <c:pt idx="3">
                  <c:v>2994</c:v>
                </c:pt>
                <c:pt idx="4">
                  <c:v>3424</c:v>
                </c:pt>
                <c:pt idx="5">
                  <c:v>3424</c:v>
                </c:pt>
                <c:pt idx="6">
                  <c:v>3424</c:v>
                </c:pt>
                <c:pt idx="7">
                  <c:v>3424</c:v>
                </c:pt>
                <c:pt idx="8">
                  <c:v>3424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Cum. erection</c:v>
                </c:pt>
              </c:strCache>
            </c:strRef>
          </c:tx>
          <c:spPr>
            <a:solidFill>
              <a:srgbClr val="1E49E2"/>
            </a:solidFill>
            <a:ln w="25400" cap="flat">
              <a:solidFill>
                <a:srgbClr val="1E49E2"/>
              </a:solidFill>
              <a:prstDash val="solid,solid,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1E49E2"/>
              </a:solidFill>
              <a:ln w="9525" cap="flat">
                <a:solidFill>
                  <a:srgbClr val="1E49E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Oct-26</c:v>
                  </c:pt>
                  <c:pt idx="1">
                    <c:v>Nov</c:v>
                  </c:pt>
                  <c:pt idx="2">
                    <c:v>Dec</c:v>
                  </c:pt>
                  <c:pt idx="3">
                    <c:v>Jan-27</c:v>
                  </c:pt>
                  <c:pt idx="4">
                    <c:v>Feb</c:v>
                  </c:pt>
                  <c:pt idx="5">
                    <c:v>Mar</c:v>
                  </c:pt>
                  <c:pt idx="6">
                    <c:v>Apr</c:v>
                  </c:pt>
                  <c:pt idx="7">
                    <c:v>May</c:v>
                  </c:pt>
                  <c:pt idx="8">
                    <c:v>Jun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50</c:v>
                </c:pt>
                <c:pt idx="1">
                  <c:v>430</c:v>
                </c:pt>
                <c:pt idx="2">
                  <c:v>930</c:v>
                </c:pt>
                <c:pt idx="3">
                  <c:v>1456</c:v>
                </c:pt>
                <c:pt idx="4">
                  <c:v>1994</c:v>
                </c:pt>
                <c:pt idx="5">
                  <c:v>2467</c:v>
                </c:pt>
                <c:pt idx="6">
                  <c:v>2812</c:v>
                </c:pt>
                <c:pt idx="7">
                  <c:v>3112</c:v>
                </c:pt>
                <c:pt idx="8">
                  <c:v>3412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Scope</c:v>
                </c:pt>
              </c:strCache>
            </c:strRef>
          </c:tx>
          <c:spPr>
            <a:solidFill>
              <a:srgbClr val="5B6475"/>
            </a:solidFill>
            <a:ln w="25400" cap="flat">
              <a:solidFill>
                <a:srgbClr val="5B6475"/>
              </a:solidFill>
              <a:prstDash val="solid,solid,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5B6475"/>
              </a:solidFill>
              <a:ln w="9525" cap="flat">
                <a:solidFill>
                  <a:srgbClr val="5B647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Oct-26</c:v>
                  </c:pt>
                  <c:pt idx="1">
                    <c:v>Nov</c:v>
                  </c:pt>
                  <c:pt idx="2">
                    <c:v>Dec</c:v>
                  </c:pt>
                  <c:pt idx="3">
                    <c:v>Jan-27</c:v>
                  </c:pt>
                  <c:pt idx="4">
                    <c:v>Feb</c:v>
                  </c:pt>
                  <c:pt idx="5">
                    <c:v>Mar</c:v>
                  </c:pt>
                  <c:pt idx="6">
                    <c:v>Apr</c:v>
                  </c:pt>
                  <c:pt idx="7">
                    <c:v>May</c:v>
                  </c:pt>
                  <c:pt idx="8">
                    <c:v>Jun</c:v>
                  </c:pt>
                </c:lvl>
              </c:multiLvlStrCache>
            </c:multiLvl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3412</c:v>
                </c:pt>
                <c:pt idx="1">
                  <c:v>3412</c:v>
                </c:pt>
                <c:pt idx="2">
                  <c:v>3412</c:v>
                </c:pt>
                <c:pt idx="3">
                  <c:v>3412</c:v>
                </c:pt>
                <c:pt idx="4">
                  <c:v>3412</c:v>
                </c:pt>
                <c:pt idx="5">
                  <c:v>3412</c:v>
                </c:pt>
                <c:pt idx="6">
                  <c:v>3412</c:v>
                </c:pt>
                <c:pt idx="7">
                  <c:v>3412</c:v>
                </c:pt>
                <c:pt idx="8">
                  <c:v>3412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47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8EE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47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800">
              <a:solidFill>
                <a:srgbClr val="5B6475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TALKING POINTS - ADDITIVE GRINDING BUILDING
1. 2,000 MT scope, vendor KBL.
2. 1,399 MT drawings released (70% of scope  ·  601 MT pending).
3. Next three months: supply 1,050 MT, erection 400 MT.
4. DRAWINGS: Only 1,399 of 2,000 MT drawings released; 601 MT (30%) pending. Cumulative supply crosses 1,399 MT in Jan-27. Action: Close balance drawings / PO by Nov-26 to feed Jan-27 fabrication.
5. SUPPLY: Oct-26–Feb supply plan totals 2,000 MT but the balance is 1,988 MT (12 MT already done) - quantities not reconciled against scope. Action: Reconcile the supply plan against scope and the Sep-26 actual.
6. SUPPLY: Dispatch must jump from 12 MT in Sep-26 to 520 MT/month; Dec and Jan-27 alone need 1,020 MT. Action: Lock fabrication lot plan; weekly dispatch vs 250/300/500/520/430 MT.
7. ERECTION: Erection starts Nov-26 and must hold 150–300 MT/month for 8 months. Action: Mobilise crane and erection crew before Nov-26.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TALKING POINTS - SCREEN HOUSE / BUILDING
1. 1,019 MT scope, vendor Samal Brothers.
2. 1,019 MT drawings released (100% of scope  ·  nil pending).
3. Next three months: supply 750 MT, erection 430 MT.
4. SUPPLY: Dispatch must jump from 0 MT in Sep-26 to 269 MT/month; Oct and Jan-27 alone need 519 MT. Action: Lock fabrication lot plan; weekly dispatch vs 250/250/250/269 MT.
5. FRONT: Erection starts first and needs surveyed starter-bay foundations now. Action: Release surveyed starter-bay foundations / anchor bolts.
6. ERECTION: Erection starts Oct-26 and must hold 50–200 MT/month for 7 months. Action: Mobilise crane and erection crew before Oct-26.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TALKING POINTS - RETURN FINES BUILDING
1. 393 MT scope, vendor Vrinda Bhillai (site fabrication).
2. 393 MT drawings released (100% of scope  ·  nil pending).
3. Next three months: supply 360 MT, erection 100 MT.
4. SUPPLY: Dispatch must jump from 0 MT in Sep-26 to 120 MT/month; Oct and Nov alone need 240 MT. Action: Lock fabrication lot plan; weekly dispatch vs 120/120/120/33 MT.
5. ERECTION: Erection starts Nov-26 and must hold 50–120 MT/month for 5 months. Action: Mobilise crane and erection crew before Nov-26.
6. INTERFACE: Bin-support and conveyor interface not yet frozen. Action: Freeze bin-support and conveyor interface.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Combined supply and erection plan across 3 groups.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310896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C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Additive Grinding Building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804672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vendor: KBL   |   2,000 MT + TS 160.9 MT (silos 132.3 + liner 28.6)   |   Supply Oct-26 → Feb-27   |   Erection Nov-26 → Jun-27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9052560" y="310896"/>
            <a:ext cx="2724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as on:  30-Sep-26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0222992" y="566928"/>
            <a:ext cx="1554480" cy="292608"/>
          </a:xfrm>
          <a:prstGeom prst="roundRect">
            <a:avLst>
              <a:gd name="adj" fmla="val 48828"/>
            </a:avLst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222992" y="56692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RISK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188720"/>
            <a:ext cx="1801368" cy="731520"/>
          </a:xfrm>
          <a:prstGeom prst="rect">
            <a:avLst/>
          </a:prstGeom>
          <a:solidFill>
            <a:srgbClr val="0C233C"/>
          </a:solidFill>
          <a:ln w="12700">
            <a:solidFill>
              <a:srgbClr val="0C233C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21208" y="1243584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B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521208" y="1417320"/>
            <a:ext cx="1618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 MT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21208" y="1719072"/>
            <a:ext cx="1655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dirty="0">
                <a:solidFill>
                  <a:srgbClr val="C9D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TS 160.9 MT (silos 132.3 + liner 28.6)</a:t>
            </a:r>
            <a:endParaRPr lang="en-US" sz="680" dirty="0"/>
          </a:p>
        </p:txBody>
      </p:sp>
      <p:sp>
        <p:nvSpPr>
          <p:cNvPr id="11" name="Shape 9"/>
          <p:cNvSpPr/>
          <p:nvPr/>
        </p:nvSpPr>
        <p:spPr>
          <a:xfrm>
            <a:off x="2322576" y="1188720"/>
            <a:ext cx="1801368" cy="731520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432304" y="1243584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DRAWINGS RELEASED</a:t>
            </a:r>
            <a:endParaRPr lang="en-US" sz="750" dirty="0"/>
          </a:p>
        </p:txBody>
      </p:sp>
      <p:sp>
        <p:nvSpPr>
          <p:cNvPr id="13" name="Text 11"/>
          <p:cNvSpPr txBox="1"/>
          <p:nvPr/>
        </p:nvSpPr>
        <p:spPr>
          <a:xfrm>
            <a:off x="2432304" y="1417320"/>
            <a:ext cx="1618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C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1,399 MT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432304" y="1719072"/>
            <a:ext cx="1655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 of scope  ·  601 MT pending</a:t>
            </a:r>
            <a:endParaRPr lang="en-US" sz="680" dirty="0"/>
          </a:p>
        </p:txBody>
      </p:sp>
      <p:sp>
        <p:nvSpPr>
          <p:cNvPr id="15" name="Shape 13"/>
          <p:cNvSpPr/>
          <p:nvPr/>
        </p:nvSpPr>
        <p:spPr>
          <a:xfrm>
            <a:off x="4233672" y="1188720"/>
            <a:ext cx="1801368" cy="731520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343400" y="1243584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SUPPLIED TILL SEP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4343400" y="1417320"/>
            <a:ext cx="1618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C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MT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343400" y="1719072"/>
            <a:ext cx="1655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 actual 12 MT; plan exceeds balance by 12</a:t>
            </a:r>
            <a:endParaRPr lang="en-US" sz="680" dirty="0"/>
          </a:p>
        </p:txBody>
      </p:sp>
      <p:sp>
        <p:nvSpPr>
          <p:cNvPr id="19" name="Shape 17"/>
          <p:cNvSpPr/>
          <p:nvPr/>
        </p:nvSpPr>
        <p:spPr>
          <a:xfrm>
            <a:off x="6144768" y="1188720"/>
            <a:ext cx="1801368" cy="731520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54496" y="1243584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OCT–DEC SUPPLY PLAN</a:t>
            </a:r>
            <a:endParaRPr lang="en-US" sz="750" dirty="0"/>
          </a:p>
        </p:txBody>
      </p:sp>
      <p:sp>
        <p:nvSpPr>
          <p:cNvPr id="21" name="Text 19"/>
          <p:cNvSpPr txBox="1"/>
          <p:nvPr/>
        </p:nvSpPr>
        <p:spPr>
          <a:xfrm>
            <a:off x="6254496" y="1417320"/>
            <a:ext cx="1618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C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1,050 MT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254496" y="1719072"/>
            <a:ext cx="1655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 of scope  ·  250 / 300 / 500 MT</a:t>
            </a:r>
            <a:endParaRPr lang="en-US" sz="680" dirty="0"/>
          </a:p>
        </p:txBody>
      </p:sp>
      <p:sp>
        <p:nvSpPr>
          <p:cNvPr id="23" name="Shape 21"/>
          <p:cNvSpPr/>
          <p:nvPr/>
        </p:nvSpPr>
        <p:spPr>
          <a:xfrm>
            <a:off x="8055864" y="1188720"/>
            <a:ext cx="1801368" cy="731520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165592" y="1243584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OCT–DEC ERECTION PLAN</a:t>
            </a:r>
            <a:endParaRPr lang="en-US" sz="750" dirty="0"/>
          </a:p>
        </p:txBody>
      </p:sp>
      <p:sp>
        <p:nvSpPr>
          <p:cNvPr id="25" name="Text 23"/>
          <p:cNvSpPr txBox="1"/>
          <p:nvPr/>
        </p:nvSpPr>
        <p:spPr>
          <a:xfrm>
            <a:off x="8165592" y="1417320"/>
            <a:ext cx="1618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C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 MT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165592" y="1719072"/>
            <a:ext cx="1655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of scope  ·  0 erected, starts Nov-26</a:t>
            </a:r>
            <a:endParaRPr lang="en-US" sz="680" dirty="0"/>
          </a:p>
        </p:txBody>
      </p:sp>
      <p:sp>
        <p:nvSpPr>
          <p:cNvPr id="27" name="Shape 25"/>
          <p:cNvSpPr/>
          <p:nvPr/>
        </p:nvSpPr>
        <p:spPr>
          <a:xfrm>
            <a:off x="9966960" y="1188720"/>
            <a:ext cx="1801368" cy="731520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076688" y="1243584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MONTHLY RATE (MT)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10076688" y="1417320"/>
            <a:ext cx="1618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C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520 | 300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10076688" y="1719072"/>
            <a:ext cx="1655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(Jan-27)  |  erection (May–Jun)</a:t>
            </a:r>
            <a:endParaRPr lang="en-US" sz="680" dirty="0"/>
          </a:p>
        </p:txBody>
      </p:sp>
      <p:sp>
        <p:nvSpPr>
          <p:cNvPr id="31" name="Shape 29"/>
          <p:cNvSpPr/>
          <p:nvPr/>
        </p:nvSpPr>
        <p:spPr>
          <a:xfrm>
            <a:off x="411480" y="2176272"/>
            <a:ext cx="82296" cy="82296"/>
          </a:xfrm>
          <a:prstGeom prst="rect">
            <a:avLst/>
          </a:prstGeom>
          <a:solidFill>
            <a:srgbClr val="1E49E2"/>
          </a:solidFill>
          <a:ln w="12700">
            <a:solidFill>
              <a:srgbClr val="1E49E2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57784" y="210312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C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WORK-FRONT SEQUENCE &amp; MONTHLY PLAN (MT)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343400" y="2180844"/>
            <a:ext cx="64008" cy="64008"/>
          </a:xfrm>
          <a:prstGeom prst="rect">
            <a:avLst/>
          </a:prstGeom>
          <a:solidFill>
            <a:srgbClr val="FD349C"/>
          </a:solidFill>
          <a:ln w="12700">
            <a:solidFill>
              <a:srgbClr val="FD349C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434840" y="2103120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 / drawings</a:t>
            </a:r>
            <a:endParaRPr lang="en-US" sz="630" dirty="0"/>
          </a:p>
        </p:txBody>
      </p:sp>
      <p:sp>
        <p:nvSpPr>
          <p:cNvPr id="35" name="Shape 33"/>
          <p:cNvSpPr/>
          <p:nvPr/>
        </p:nvSpPr>
        <p:spPr>
          <a:xfrm>
            <a:off x="5254142" y="2180844"/>
            <a:ext cx="64008" cy="64008"/>
          </a:xfrm>
          <a:prstGeom prst="rect">
            <a:avLst/>
          </a:prstGeom>
          <a:solidFill>
            <a:srgbClr val="00B8F5"/>
          </a:solidFill>
          <a:ln w="12700">
            <a:solidFill>
              <a:srgbClr val="00B8F5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345582" y="2103120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</a:t>
            </a:r>
            <a:endParaRPr lang="en-US" sz="630" dirty="0"/>
          </a:p>
        </p:txBody>
      </p:sp>
      <p:sp>
        <p:nvSpPr>
          <p:cNvPr id="37" name="Shape 35"/>
          <p:cNvSpPr/>
          <p:nvPr/>
        </p:nvSpPr>
        <p:spPr>
          <a:xfrm>
            <a:off x="5744261" y="2180844"/>
            <a:ext cx="64008" cy="64008"/>
          </a:xfrm>
          <a:prstGeom prst="rect">
            <a:avLst/>
          </a:prstGeom>
          <a:solidFill>
            <a:srgbClr val="1E49E2"/>
          </a:solidFill>
          <a:ln w="12700">
            <a:solidFill>
              <a:srgbClr val="1E49E2">
                <a:alpha val="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835701" y="2103120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Erection</a:t>
            </a:r>
            <a:endParaRPr lang="en-US" sz="630" dirty="0"/>
          </a:p>
        </p:txBody>
      </p:sp>
      <p:sp>
        <p:nvSpPr>
          <p:cNvPr id="39" name="Shape 37"/>
          <p:cNvSpPr/>
          <p:nvPr/>
        </p:nvSpPr>
        <p:spPr>
          <a:xfrm>
            <a:off x="6318504" y="2180844"/>
            <a:ext cx="64008" cy="64008"/>
          </a:xfrm>
          <a:prstGeom prst="rect">
            <a:avLst/>
          </a:prstGeom>
          <a:solidFill>
            <a:srgbClr val="7213EA"/>
          </a:solidFill>
          <a:ln w="12700">
            <a:solidFill>
              <a:srgbClr val="7213EA">
                <a:alpha val="0"/>
              </a:srgbClr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409944" y="2103120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 / bins</a:t>
            </a:r>
            <a:endParaRPr lang="en-US" sz="630" dirty="0"/>
          </a:p>
        </p:txBody>
      </p:sp>
      <p:sp>
        <p:nvSpPr>
          <p:cNvPr id="41" name="Shape 39"/>
          <p:cNvSpPr/>
          <p:nvPr/>
        </p:nvSpPr>
        <p:spPr>
          <a:xfrm>
            <a:off x="6934810" y="2180844"/>
            <a:ext cx="64008" cy="64008"/>
          </a:xfrm>
          <a:prstGeom prst="rect">
            <a:avLst/>
          </a:prstGeom>
          <a:solidFill>
            <a:srgbClr val="1F9D55"/>
          </a:solidFill>
          <a:ln w="12700">
            <a:solidFill>
              <a:srgbClr val="1F9D55">
                <a:alpha val="0"/>
              </a:srgbClr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026250" y="2103120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Handover</a:t>
            </a:r>
            <a:endParaRPr lang="en-US" sz="630" dirty="0"/>
          </a:p>
        </p:txBody>
      </p:sp>
      <p:sp>
        <p:nvSpPr>
          <p:cNvPr id="43" name="Shape 41"/>
          <p:cNvSpPr/>
          <p:nvPr/>
        </p:nvSpPr>
        <p:spPr>
          <a:xfrm>
            <a:off x="411480" y="2359152"/>
            <a:ext cx="6903720" cy="237744"/>
          </a:xfrm>
          <a:prstGeom prst="rect">
            <a:avLst/>
          </a:prstGeom>
          <a:solidFill>
            <a:srgbClr val="0C233C"/>
          </a:solidFill>
          <a:ln w="12700">
            <a:solidFill>
              <a:srgbClr val="0C233C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148840" y="2359152"/>
            <a:ext cx="1536192" cy="237744"/>
          </a:xfrm>
          <a:prstGeom prst="rect">
            <a:avLst/>
          </a:prstGeom>
          <a:solidFill>
            <a:srgbClr val="1E49E2"/>
          </a:solidFill>
          <a:ln w="12700">
            <a:solidFill>
              <a:srgbClr val="1E49E2">
                <a:alpha val="0"/>
              </a:srgbClr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84632" y="235915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front</a:t>
            </a:r>
            <a:endParaRPr lang="en-US" sz="800" dirty="0"/>
          </a:p>
        </p:txBody>
      </p:sp>
      <p:sp>
        <p:nvSpPr>
          <p:cNvPr id="46" name="Text 44"/>
          <p:cNvSpPr txBox="1"/>
          <p:nvPr/>
        </p:nvSpPr>
        <p:spPr>
          <a:xfrm>
            <a:off x="2148840" y="2359152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Oct-26</a:t>
            </a:r>
            <a:endParaRPr lang="en-US" sz="750" dirty="0"/>
          </a:p>
        </p:txBody>
      </p:sp>
      <p:sp>
        <p:nvSpPr>
          <p:cNvPr id="47" name="Text 45"/>
          <p:cNvSpPr txBox="1"/>
          <p:nvPr/>
        </p:nvSpPr>
        <p:spPr>
          <a:xfrm>
            <a:off x="2660904" y="2359152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</a:t>
            </a:r>
            <a:endParaRPr lang="en-US" sz="750" dirty="0"/>
          </a:p>
        </p:txBody>
      </p:sp>
      <p:sp>
        <p:nvSpPr>
          <p:cNvPr id="48" name="Text 46"/>
          <p:cNvSpPr txBox="1"/>
          <p:nvPr/>
        </p:nvSpPr>
        <p:spPr>
          <a:xfrm>
            <a:off x="3172968" y="2359152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</a:t>
            </a:r>
            <a:endParaRPr lang="en-US" sz="750" dirty="0"/>
          </a:p>
        </p:txBody>
      </p:sp>
      <p:sp>
        <p:nvSpPr>
          <p:cNvPr id="49" name="Text 47"/>
          <p:cNvSpPr txBox="1"/>
          <p:nvPr/>
        </p:nvSpPr>
        <p:spPr>
          <a:xfrm>
            <a:off x="3685032" y="2359152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Jan-27</a:t>
            </a:r>
            <a:endParaRPr lang="en-US" sz="750" dirty="0"/>
          </a:p>
        </p:txBody>
      </p:sp>
      <p:sp>
        <p:nvSpPr>
          <p:cNvPr id="50" name="Text 48"/>
          <p:cNvSpPr txBox="1"/>
          <p:nvPr/>
        </p:nvSpPr>
        <p:spPr>
          <a:xfrm>
            <a:off x="4197096" y="2359152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</a:t>
            </a:r>
            <a:endParaRPr lang="en-US" sz="750" dirty="0"/>
          </a:p>
        </p:txBody>
      </p:sp>
      <p:sp>
        <p:nvSpPr>
          <p:cNvPr id="51" name="Text 49"/>
          <p:cNvSpPr txBox="1"/>
          <p:nvPr/>
        </p:nvSpPr>
        <p:spPr>
          <a:xfrm>
            <a:off x="4709160" y="2359152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</a:t>
            </a:r>
            <a:endParaRPr lang="en-US" sz="750" dirty="0"/>
          </a:p>
        </p:txBody>
      </p:sp>
      <p:sp>
        <p:nvSpPr>
          <p:cNvPr id="52" name="Text 50"/>
          <p:cNvSpPr txBox="1"/>
          <p:nvPr/>
        </p:nvSpPr>
        <p:spPr>
          <a:xfrm>
            <a:off x="5221224" y="2359152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</a:t>
            </a:r>
            <a:endParaRPr lang="en-US" sz="750" dirty="0"/>
          </a:p>
        </p:txBody>
      </p:sp>
      <p:sp>
        <p:nvSpPr>
          <p:cNvPr id="53" name="Text 51"/>
          <p:cNvSpPr txBox="1"/>
          <p:nvPr/>
        </p:nvSpPr>
        <p:spPr>
          <a:xfrm>
            <a:off x="5733288" y="2359152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</a:t>
            </a:r>
            <a:endParaRPr lang="en-US" sz="750" dirty="0"/>
          </a:p>
        </p:txBody>
      </p:sp>
      <p:sp>
        <p:nvSpPr>
          <p:cNvPr id="54" name="Text 52"/>
          <p:cNvSpPr txBox="1"/>
          <p:nvPr/>
        </p:nvSpPr>
        <p:spPr>
          <a:xfrm>
            <a:off x="6245352" y="2359152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</a:t>
            </a:r>
            <a:endParaRPr lang="en-US" sz="750" dirty="0"/>
          </a:p>
        </p:txBody>
      </p:sp>
      <p:sp>
        <p:nvSpPr>
          <p:cNvPr id="55" name="Text 53"/>
          <p:cNvSpPr txBox="1"/>
          <p:nvPr/>
        </p:nvSpPr>
        <p:spPr>
          <a:xfrm>
            <a:off x="6757416" y="2359152"/>
            <a:ext cx="557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411480" y="2596896"/>
            <a:ext cx="6903720" cy="256032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>
                <a:alpha val="0"/>
              </a:srgbClr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484632" y="259689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Drawing / PO closure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2185416" y="2670048"/>
            <a:ext cx="950976" cy="118872"/>
          </a:xfrm>
          <a:prstGeom prst="roundRect">
            <a:avLst>
              <a:gd name="adj" fmla="val 177515"/>
            </a:avLst>
          </a:prstGeom>
          <a:solidFill>
            <a:srgbClr val="FD349C"/>
          </a:solidFill>
          <a:ln w="12700">
            <a:solidFill>
              <a:srgbClr val="FD349C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11480" y="2852928"/>
            <a:ext cx="69037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484632" y="28529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Fabrication &amp; supply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2185416" y="2926080"/>
            <a:ext cx="2487168" cy="118872"/>
          </a:xfrm>
          <a:prstGeom prst="roundRect">
            <a:avLst>
              <a:gd name="adj" fmla="val 177515"/>
            </a:avLst>
          </a:prstGeom>
          <a:solidFill>
            <a:srgbClr val="00B8F5"/>
          </a:solidFill>
          <a:ln w="12700">
            <a:solidFill>
              <a:srgbClr val="00B8F5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11480" y="3108960"/>
            <a:ext cx="6903720" cy="256032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>
                <a:alpha val="0"/>
              </a:srgbClr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484632" y="31089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 assembly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2185416" y="3182112"/>
            <a:ext cx="1975104" cy="118872"/>
          </a:xfrm>
          <a:prstGeom prst="roundRect">
            <a:avLst>
              <a:gd name="adj" fmla="val 177515"/>
            </a:avLst>
          </a:prstGeom>
          <a:solidFill>
            <a:srgbClr val="1E49E2"/>
          </a:solidFill>
          <a:ln w="12700">
            <a:solidFill>
              <a:srgbClr val="1E49E2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11480" y="3364992"/>
            <a:ext cx="69037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484632" y="33649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frame erection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2697480" y="3438144"/>
            <a:ext cx="4023360" cy="118872"/>
          </a:xfrm>
          <a:prstGeom prst="roundRect">
            <a:avLst>
              <a:gd name="adj" fmla="val 177515"/>
            </a:avLst>
          </a:prstGeom>
          <a:solidFill>
            <a:srgbClr val="1E49E2"/>
          </a:solidFill>
          <a:ln w="12700">
            <a:solidFill>
              <a:srgbClr val="1E49E2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11480" y="3621024"/>
            <a:ext cx="6903720" cy="256032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>
                <a:alpha val="0"/>
              </a:srgbClr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484632" y="362102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Silos / liners (TS)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5257800" y="3694176"/>
            <a:ext cx="1463040" cy="118872"/>
          </a:xfrm>
          <a:prstGeom prst="roundRect">
            <a:avLst>
              <a:gd name="adj" fmla="val 177515"/>
            </a:avLst>
          </a:prstGeom>
          <a:solidFill>
            <a:srgbClr val="7213EA"/>
          </a:solidFill>
          <a:ln w="12700">
            <a:solidFill>
              <a:srgbClr val="7213EA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11480" y="3877056"/>
            <a:ext cx="69037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484632" y="387705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Alignment / handover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5769864" y="3950208"/>
            <a:ext cx="950976" cy="118872"/>
          </a:xfrm>
          <a:prstGeom prst="roundRect">
            <a:avLst>
              <a:gd name="adj" fmla="val 177515"/>
            </a:avLst>
          </a:prstGeom>
          <a:solidFill>
            <a:srgbClr val="1F9D55"/>
          </a:solidFill>
          <a:ln w="12700">
            <a:solidFill>
              <a:srgbClr val="1F9D55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11480" y="4133088"/>
            <a:ext cx="6903720" cy="630936"/>
          </a:xfrm>
          <a:prstGeom prst="rect">
            <a:avLst/>
          </a:prstGeom>
          <a:solidFill>
            <a:srgbClr val="EDF1F6"/>
          </a:solidFill>
          <a:ln w="12700">
            <a:solidFill>
              <a:srgbClr val="EDF1F6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148840" y="2596896"/>
            <a:ext cx="914" cy="2167128"/>
          </a:xfrm>
          <a:prstGeom prst="line">
            <a:avLst/>
          </a:prstGeom>
          <a:noFill/>
          <a:ln w="6350">
            <a:solidFill>
              <a:srgbClr val="DDE2EA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660904" y="2596896"/>
            <a:ext cx="914" cy="2167128"/>
          </a:xfrm>
          <a:prstGeom prst="line">
            <a:avLst/>
          </a:prstGeom>
          <a:noFill/>
          <a:ln w="6350">
            <a:solidFill>
              <a:srgbClr val="DDE2EA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172968" y="2596896"/>
            <a:ext cx="914" cy="2167128"/>
          </a:xfrm>
          <a:prstGeom prst="line">
            <a:avLst/>
          </a:prstGeom>
          <a:noFill/>
          <a:ln w="6350">
            <a:solidFill>
              <a:srgbClr val="DDE2EA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685032" y="2596896"/>
            <a:ext cx="914" cy="2167128"/>
          </a:xfrm>
          <a:prstGeom prst="line">
            <a:avLst/>
          </a:prstGeom>
          <a:noFill/>
          <a:ln w="6350">
            <a:solidFill>
              <a:srgbClr val="DDE2EA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197096" y="2596896"/>
            <a:ext cx="914" cy="2167128"/>
          </a:xfrm>
          <a:prstGeom prst="line">
            <a:avLst/>
          </a:prstGeom>
          <a:noFill/>
          <a:ln w="6350">
            <a:solidFill>
              <a:srgbClr val="DDE2EA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709160" y="2596896"/>
            <a:ext cx="914" cy="2167128"/>
          </a:xfrm>
          <a:prstGeom prst="line">
            <a:avLst/>
          </a:prstGeom>
          <a:noFill/>
          <a:ln w="6350">
            <a:solidFill>
              <a:srgbClr val="DDE2EA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221224" y="2596896"/>
            <a:ext cx="914" cy="2167128"/>
          </a:xfrm>
          <a:prstGeom prst="line">
            <a:avLst/>
          </a:prstGeom>
          <a:noFill/>
          <a:ln w="6350">
            <a:solidFill>
              <a:srgbClr val="DDE2EA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733288" y="2596896"/>
            <a:ext cx="914" cy="2167128"/>
          </a:xfrm>
          <a:prstGeom prst="line">
            <a:avLst/>
          </a:prstGeom>
          <a:noFill/>
          <a:ln w="6350">
            <a:solidFill>
              <a:srgbClr val="DDE2EA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245352" y="2596896"/>
            <a:ext cx="914" cy="2167128"/>
          </a:xfrm>
          <a:prstGeom prst="line">
            <a:avLst/>
          </a:prstGeom>
          <a:noFill/>
          <a:ln w="6350">
            <a:solidFill>
              <a:srgbClr val="DDE2EA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757416" y="2596896"/>
            <a:ext cx="914" cy="2167128"/>
          </a:xfrm>
          <a:prstGeom prst="line">
            <a:avLst/>
          </a:prstGeom>
          <a:noFill/>
          <a:ln w="6350">
            <a:solidFill>
              <a:srgbClr val="DDE2EA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148840" y="2596896"/>
            <a:ext cx="1536192" cy="2167128"/>
          </a:xfrm>
          <a:prstGeom prst="rect">
            <a:avLst/>
          </a:prstGeom>
          <a:solidFill>
            <a:srgbClr val="1E49E2">
              <a:alpha val="7000"/>
            </a:srgbClr>
          </a:solidFill>
          <a:ln w="12700">
            <a:solidFill>
              <a:srgbClr val="1E49E2">
                <a:alpha val="0"/>
              </a:srgbClr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484632" y="4133088"/>
            <a:ext cx="1737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C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(MT)</a:t>
            </a:r>
            <a:endParaRPr lang="en-US" sz="750" dirty="0"/>
          </a:p>
        </p:txBody>
      </p:sp>
      <p:sp>
        <p:nvSpPr>
          <p:cNvPr id="87" name="Text 85"/>
          <p:cNvSpPr txBox="1"/>
          <p:nvPr/>
        </p:nvSpPr>
        <p:spPr>
          <a:xfrm>
            <a:off x="2148840" y="4133088"/>
            <a:ext cx="512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</a:t>
            </a:r>
            <a:endParaRPr lang="en-US" sz="750" dirty="0"/>
          </a:p>
        </p:txBody>
      </p:sp>
      <p:sp>
        <p:nvSpPr>
          <p:cNvPr id="88" name="Text 86"/>
          <p:cNvSpPr txBox="1"/>
          <p:nvPr/>
        </p:nvSpPr>
        <p:spPr>
          <a:xfrm>
            <a:off x="2660904" y="4133088"/>
            <a:ext cx="512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</a:t>
            </a:r>
            <a:endParaRPr lang="en-US" sz="750" dirty="0"/>
          </a:p>
        </p:txBody>
      </p:sp>
      <p:sp>
        <p:nvSpPr>
          <p:cNvPr id="89" name="Text 87"/>
          <p:cNvSpPr txBox="1"/>
          <p:nvPr/>
        </p:nvSpPr>
        <p:spPr>
          <a:xfrm>
            <a:off x="3172968" y="4133088"/>
            <a:ext cx="512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</a:t>
            </a:r>
            <a:endParaRPr lang="en-US" sz="750" dirty="0"/>
          </a:p>
        </p:txBody>
      </p:sp>
      <p:sp>
        <p:nvSpPr>
          <p:cNvPr id="90" name="Text 88"/>
          <p:cNvSpPr txBox="1"/>
          <p:nvPr/>
        </p:nvSpPr>
        <p:spPr>
          <a:xfrm>
            <a:off x="3685032" y="4133088"/>
            <a:ext cx="512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520</a:t>
            </a:r>
            <a:endParaRPr lang="en-US" sz="750" dirty="0"/>
          </a:p>
        </p:txBody>
      </p:sp>
      <p:sp>
        <p:nvSpPr>
          <p:cNvPr id="91" name="Text 89"/>
          <p:cNvSpPr txBox="1"/>
          <p:nvPr/>
        </p:nvSpPr>
        <p:spPr>
          <a:xfrm>
            <a:off x="4197096" y="4133088"/>
            <a:ext cx="512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430</a:t>
            </a:r>
            <a:endParaRPr lang="en-US" sz="750" dirty="0"/>
          </a:p>
        </p:txBody>
      </p:sp>
      <p:sp>
        <p:nvSpPr>
          <p:cNvPr id="92" name="Text 90"/>
          <p:cNvSpPr txBox="1"/>
          <p:nvPr/>
        </p:nvSpPr>
        <p:spPr>
          <a:xfrm>
            <a:off x="4709160" y="4133088"/>
            <a:ext cx="512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750" dirty="0"/>
          </a:p>
        </p:txBody>
      </p:sp>
      <p:sp>
        <p:nvSpPr>
          <p:cNvPr id="93" name="Text 91"/>
          <p:cNvSpPr txBox="1"/>
          <p:nvPr/>
        </p:nvSpPr>
        <p:spPr>
          <a:xfrm>
            <a:off x="5221224" y="4133088"/>
            <a:ext cx="512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750" dirty="0"/>
          </a:p>
        </p:txBody>
      </p:sp>
      <p:sp>
        <p:nvSpPr>
          <p:cNvPr id="94" name="Text 92"/>
          <p:cNvSpPr txBox="1"/>
          <p:nvPr/>
        </p:nvSpPr>
        <p:spPr>
          <a:xfrm>
            <a:off x="5733288" y="4133088"/>
            <a:ext cx="512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750" dirty="0"/>
          </a:p>
        </p:txBody>
      </p:sp>
      <p:sp>
        <p:nvSpPr>
          <p:cNvPr id="95" name="Text 93"/>
          <p:cNvSpPr txBox="1"/>
          <p:nvPr/>
        </p:nvSpPr>
        <p:spPr>
          <a:xfrm>
            <a:off x="6245352" y="4133088"/>
            <a:ext cx="512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750" dirty="0"/>
          </a:p>
        </p:txBody>
      </p:sp>
      <p:sp>
        <p:nvSpPr>
          <p:cNvPr id="96" name="Text 94"/>
          <p:cNvSpPr txBox="1"/>
          <p:nvPr/>
        </p:nvSpPr>
        <p:spPr>
          <a:xfrm>
            <a:off x="6757416" y="4133088"/>
            <a:ext cx="5577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C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</a:t>
            </a:r>
            <a:endParaRPr lang="en-US" sz="750" dirty="0"/>
          </a:p>
        </p:txBody>
      </p:sp>
      <p:sp>
        <p:nvSpPr>
          <p:cNvPr id="97" name="Text 95"/>
          <p:cNvSpPr txBox="1"/>
          <p:nvPr/>
        </p:nvSpPr>
        <p:spPr>
          <a:xfrm>
            <a:off x="484632" y="4343400"/>
            <a:ext cx="1737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C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Erection (MT)</a:t>
            </a:r>
            <a:endParaRPr lang="en-US" sz="750" dirty="0"/>
          </a:p>
        </p:txBody>
      </p:sp>
      <p:sp>
        <p:nvSpPr>
          <p:cNvPr id="98" name="Text 96"/>
          <p:cNvSpPr txBox="1"/>
          <p:nvPr/>
        </p:nvSpPr>
        <p:spPr>
          <a:xfrm>
            <a:off x="2148840" y="4343400"/>
            <a:ext cx="512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750" dirty="0"/>
          </a:p>
        </p:txBody>
      </p:sp>
      <p:sp>
        <p:nvSpPr>
          <p:cNvPr id="99" name="Text 97"/>
          <p:cNvSpPr txBox="1"/>
          <p:nvPr/>
        </p:nvSpPr>
        <p:spPr>
          <a:xfrm>
            <a:off x="2660904" y="4343400"/>
            <a:ext cx="512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750" dirty="0"/>
          </a:p>
        </p:txBody>
      </p:sp>
      <p:sp>
        <p:nvSpPr>
          <p:cNvPr id="100" name="Text 98"/>
          <p:cNvSpPr txBox="1"/>
          <p:nvPr/>
        </p:nvSpPr>
        <p:spPr>
          <a:xfrm>
            <a:off x="3172968" y="4343400"/>
            <a:ext cx="512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</a:t>
            </a:r>
            <a:endParaRPr lang="en-US" sz="750" dirty="0"/>
          </a:p>
        </p:txBody>
      </p:sp>
      <p:sp>
        <p:nvSpPr>
          <p:cNvPr id="101" name="Text 99"/>
          <p:cNvSpPr txBox="1"/>
          <p:nvPr/>
        </p:nvSpPr>
        <p:spPr>
          <a:xfrm>
            <a:off x="3685032" y="4343400"/>
            <a:ext cx="512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</a:t>
            </a:r>
            <a:endParaRPr lang="en-US" sz="750" dirty="0"/>
          </a:p>
        </p:txBody>
      </p:sp>
      <p:sp>
        <p:nvSpPr>
          <p:cNvPr id="102" name="Text 100"/>
          <p:cNvSpPr txBox="1"/>
          <p:nvPr/>
        </p:nvSpPr>
        <p:spPr>
          <a:xfrm>
            <a:off x="4197096" y="4343400"/>
            <a:ext cx="512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</a:t>
            </a:r>
            <a:endParaRPr lang="en-US" sz="750" dirty="0"/>
          </a:p>
        </p:txBody>
      </p:sp>
      <p:sp>
        <p:nvSpPr>
          <p:cNvPr id="103" name="Text 101"/>
          <p:cNvSpPr txBox="1"/>
          <p:nvPr/>
        </p:nvSpPr>
        <p:spPr>
          <a:xfrm>
            <a:off x="4709160" y="4343400"/>
            <a:ext cx="512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</a:t>
            </a:r>
            <a:endParaRPr lang="en-US" sz="750" dirty="0"/>
          </a:p>
        </p:txBody>
      </p:sp>
      <p:sp>
        <p:nvSpPr>
          <p:cNvPr id="104" name="Text 102"/>
          <p:cNvSpPr txBox="1"/>
          <p:nvPr/>
        </p:nvSpPr>
        <p:spPr>
          <a:xfrm>
            <a:off x="5221224" y="4343400"/>
            <a:ext cx="512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</a:t>
            </a:r>
            <a:endParaRPr lang="en-US" sz="750" dirty="0"/>
          </a:p>
        </p:txBody>
      </p:sp>
      <p:sp>
        <p:nvSpPr>
          <p:cNvPr id="105" name="Text 103"/>
          <p:cNvSpPr txBox="1"/>
          <p:nvPr/>
        </p:nvSpPr>
        <p:spPr>
          <a:xfrm>
            <a:off x="5733288" y="4343400"/>
            <a:ext cx="512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</a:t>
            </a:r>
            <a:endParaRPr lang="en-US" sz="750" dirty="0"/>
          </a:p>
        </p:txBody>
      </p:sp>
      <p:sp>
        <p:nvSpPr>
          <p:cNvPr id="106" name="Text 104"/>
          <p:cNvSpPr txBox="1"/>
          <p:nvPr/>
        </p:nvSpPr>
        <p:spPr>
          <a:xfrm>
            <a:off x="6245352" y="4343400"/>
            <a:ext cx="512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</a:t>
            </a:r>
            <a:endParaRPr lang="en-US" sz="750" dirty="0"/>
          </a:p>
        </p:txBody>
      </p:sp>
      <p:sp>
        <p:nvSpPr>
          <p:cNvPr id="107" name="Text 105"/>
          <p:cNvSpPr txBox="1"/>
          <p:nvPr/>
        </p:nvSpPr>
        <p:spPr>
          <a:xfrm>
            <a:off x="6757416" y="4343400"/>
            <a:ext cx="5577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C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</a:t>
            </a:r>
            <a:endParaRPr lang="en-US" sz="750" dirty="0"/>
          </a:p>
        </p:txBody>
      </p:sp>
      <p:sp>
        <p:nvSpPr>
          <p:cNvPr id="108" name="Text 106"/>
          <p:cNvSpPr txBox="1"/>
          <p:nvPr/>
        </p:nvSpPr>
        <p:spPr>
          <a:xfrm>
            <a:off x="484632" y="4553712"/>
            <a:ext cx="1737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Cum. erection (% of scope)</a:t>
            </a:r>
            <a:endParaRPr lang="en-US" sz="700" dirty="0"/>
          </a:p>
        </p:txBody>
      </p:sp>
      <p:sp>
        <p:nvSpPr>
          <p:cNvPr id="109" name="Text 107"/>
          <p:cNvSpPr txBox="1"/>
          <p:nvPr/>
        </p:nvSpPr>
        <p:spPr>
          <a:xfrm>
            <a:off x="2148840" y="4553712"/>
            <a:ext cx="512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750" dirty="0"/>
          </a:p>
        </p:txBody>
      </p:sp>
      <p:sp>
        <p:nvSpPr>
          <p:cNvPr id="110" name="Text 108"/>
          <p:cNvSpPr txBox="1"/>
          <p:nvPr/>
        </p:nvSpPr>
        <p:spPr>
          <a:xfrm>
            <a:off x="2660904" y="4553712"/>
            <a:ext cx="512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750" dirty="0"/>
          </a:p>
        </p:txBody>
      </p:sp>
      <p:sp>
        <p:nvSpPr>
          <p:cNvPr id="111" name="Text 109"/>
          <p:cNvSpPr txBox="1"/>
          <p:nvPr/>
        </p:nvSpPr>
        <p:spPr>
          <a:xfrm>
            <a:off x="3172968" y="4553712"/>
            <a:ext cx="512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750" dirty="0"/>
          </a:p>
        </p:txBody>
      </p:sp>
      <p:sp>
        <p:nvSpPr>
          <p:cNvPr id="112" name="Text 110"/>
          <p:cNvSpPr txBox="1"/>
          <p:nvPr/>
        </p:nvSpPr>
        <p:spPr>
          <a:xfrm>
            <a:off x="3685032" y="4553712"/>
            <a:ext cx="512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33%</a:t>
            </a:r>
            <a:endParaRPr lang="en-US" sz="750" dirty="0"/>
          </a:p>
        </p:txBody>
      </p:sp>
      <p:sp>
        <p:nvSpPr>
          <p:cNvPr id="113" name="Text 111"/>
          <p:cNvSpPr txBox="1"/>
          <p:nvPr/>
        </p:nvSpPr>
        <p:spPr>
          <a:xfrm>
            <a:off x="4197096" y="4553712"/>
            <a:ext cx="512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750" dirty="0"/>
          </a:p>
        </p:txBody>
      </p:sp>
      <p:sp>
        <p:nvSpPr>
          <p:cNvPr id="114" name="Text 112"/>
          <p:cNvSpPr txBox="1"/>
          <p:nvPr/>
        </p:nvSpPr>
        <p:spPr>
          <a:xfrm>
            <a:off x="4709160" y="4553712"/>
            <a:ext cx="512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750" dirty="0"/>
          </a:p>
        </p:txBody>
      </p:sp>
      <p:sp>
        <p:nvSpPr>
          <p:cNvPr id="115" name="Text 113"/>
          <p:cNvSpPr txBox="1"/>
          <p:nvPr/>
        </p:nvSpPr>
        <p:spPr>
          <a:xfrm>
            <a:off x="5221224" y="4553712"/>
            <a:ext cx="512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750" dirty="0"/>
          </a:p>
        </p:txBody>
      </p:sp>
      <p:sp>
        <p:nvSpPr>
          <p:cNvPr id="116" name="Text 114"/>
          <p:cNvSpPr txBox="1"/>
          <p:nvPr/>
        </p:nvSpPr>
        <p:spPr>
          <a:xfrm>
            <a:off x="5733288" y="4553712"/>
            <a:ext cx="512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750" dirty="0"/>
          </a:p>
        </p:txBody>
      </p:sp>
      <p:sp>
        <p:nvSpPr>
          <p:cNvPr id="117" name="Text 115"/>
          <p:cNvSpPr txBox="1"/>
          <p:nvPr/>
        </p:nvSpPr>
        <p:spPr>
          <a:xfrm>
            <a:off x="6245352" y="4553712"/>
            <a:ext cx="512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750" dirty="0"/>
          </a:p>
        </p:txBody>
      </p:sp>
      <p:sp>
        <p:nvSpPr>
          <p:cNvPr id="118" name="Text 116"/>
          <p:cNvSpPr txBox="1"/>
          <p:nvPr/>
        </p:nvSpPr>
        <p:spPr>
          <a:xfrm>
            <a:off x="6757416" y="4553712"/>
            <a:ext cx="5577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750" dirty="0"/>
          </a:p>
        </p:txBody>
      </p:sp>
      <p:sp>
        <p:nvSpPr>
          <p:cNvPr id="119" name="Shape 117"/>
          <p:cNvSpPr/>
          <p:nvPr/>
        </p:nvSpPr>
        <p:spPr>
          <a:xfrm>
            <a:off x="411480" y="4133088"/>
            <a:ext cx="6903720" cy="0"/>
          </a:xfrm>
          <a:prstGeom prst="line">
            <a:avLst/>
          </a:prstGeom>
          <a:noFill/>
          <a:ln w="9525">
            <a:solidFill>
              <a:srgbClr val="0C233C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11480" y="5029200"/>
            <a:ext cx="1197864" cy="786384"/>
          </a:xfrm>
          <a:prstGeom prst="chevron">
            <a:avLst/>
          </a:prstGeom>
          <a:solidFill>
            <a:srgbClr val="00B8F5"/>
          </a:solidFill>
          <a:ln w="12700">
            <a:solidFill>
              <a:srgbClr val="00B8F5">
                <a:alpha val="0"/>
              </a:srgbClr>
            </a:solidFill>
            <a:prstDash val="solid"/>
          </a:ln>
        </p:spPr>
      </p:sp>
      <p:sp>
        <p:nvSpPr>
          <p:cNvPr id="121" name="Text 119"/>
          <p:cNvSpPr txBox="1"/>
          <p:nvPr/>
        </p:nvSpPr>
        <p:spPr>
          <a:xfrm>
            <a:off x="685800" y="5102352"/>
            <a:ext cx="813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Oct-26</a:t>
            </a:r>
            <a:endParaRPr lang="en-US" sz="1100" dirty="0"/>
          </a:p>
        </p:txBody>
      </p:sp>
      <p:sp>
        <p:nvSpPr>
          <p:cNvPr id="122" name="Text 120"/>
          <p:cNvSpPr txBox="1"/>
          <p:nvPr/>
        </p:nvSpPr>
        <p:spPr>
          <a:xfrm>
            <a:off x="685800" y="5413248"/>
            <a:ext cx="813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 Supply start</a:t>
            </a:r>
            <a:endParaRPr lang="en-US" sz="800" dirty="0"/>
          </a:p>
        </p:txBody>
      </p:sp>
      <p:sp>
        <p:nvSpPr>
          <p:cNvPr id="123" name="Shape 121"/>
          <p:cNvSpPr/>
          <p:nvPr/>
        </p:nvSpPr>
        <p:spPr>
          <a:xfrm>
            <a:off x="1764792" y="5029200"/>
            <a:ext cx="1197864" cy="786384"/>
          </a:xfrm>
          <a:prstGeom prst="chevron">
            <a:avLst/>
          </a:prstGeom>
          <a:solidFill>
            <a:srgbClr val="1E49E2"/>
          </a:solidFill>
          <a:ln w="12700">
            <a:solidFill>
              <a:srgbClr val="1E49E2">
                <a:alpha val="0"/>
              </a:srgbClr>
            </a:solidFill>
            <a:prstDash val="solid"/>
          </a:ln>
        </p:spPr>
      </p:sp>
      <p:sp>
        <p:nvSpPr>
          <p:cNvPr id="124" name="Text 122"/>
          <p:cNvSpPr txBox="1"/>
          <p:nvPr/>
        </p:nvSpPr>
        <p:spPr>
          <a:xfrm>
            <a:off x="2039112" y="5102352"/>
            <a:ext cx="813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Nov-26</a:t>
            </a:r>
            <a:endParaRPr lang="en-US" sz="1100" dirty="0"/>
          </a:p>
        </p:txBody>
      </p:sp>
      <p:sp>
        <p:nvSpPr>
          <p:cNvPr id="125" name="Text 123"/>
          <p:cNvSpPr txBox="1"/>
          <p:nvPr/>
        </p:nvSpPr>
        <p:spPr>
          <a:xfrm>
            <a:off x="2039112" y="5413248"/>
            <a:ext cx="813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 Erection start</a:t>
            </a:r>
            <a:endParaRPr lang="en-US" sz="800" dirty="0"/>
          </a:p>
        </p:txBody>
      </p:sp>
      <p:sp>
        <p:nvSpPr>
          <p:cNvPr id="126" name="Shape 124"/>
          <p:cNvSpPr/>
          <p:nvPr/>
        </p:nvSpPr>
        <p:spPr>
          <a:xfrm>
            <a:off x="3118104" y="5029200"/>
            <a:ext cx="1197864" cy="786384"/>
          </a:xfrm>
          <a:prstGeom prst="chevron">
            <a:avLst/>
          </a:prstGeom>
          <a:solidFill>
            <a:srgbClr val="00B8F5"/>
          </a:solidFill>
          <a:ln w="12700">
            <a:solidFill>
              <a:srgbClr val="00B8F5">
                <a:alpha val="0"/>
              </a:srgbClr>
            </a:solidFill>
            <a:prstDash val="solid"/>
          </a:ln>
        </p:spPr>
      </p:sp>
      <p:sp>
        <p:nvSpPr>
          <p:cNvPr id="127" name="Text 125"/>
          <p:cNvSpPr txBox="1"/>
          <p:nvPr/>
        </p:nvSpPr>
        <p:spPr>
          <a:xfrm>
            <a:off x="3392424" y="5102352"/>
            <a:ext cx="813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Feb-27</a:t>
            </a:r>
            <a:endParaRPr lang="en-US" sz="1100" dirty="0"/>
          </a:p>
        </p:txBody>
      </p:sp>
      <p:sp>
        <p:nvSpPr>
          <p:cNvPr id="128" name="Text 126"/>
          <p:cNvSpPr txBox="1"/>
          <p:nvPr/>
        </p:nvSpPr>
        <p:spPr>
          <a:xfrm>
            <a:off x="3392424" y="5413248"/>
            <a:ext cx="813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complete</a:t>
            </a:r>
            <a:endParaRPr lang="en-US" sz="800" dirty="0"/>
          </a:p>
        </p:txBody>
      </p:sp>
      <p:sp>
        <p:nvSpPr>
          <p:cNvPr id="129" name="Shape 127"/>
          <p:cNvSpPr/>
          <p:nvPr/>
        </p:nvSpPr>
        <p:spPr>
          <a:xfrm>
            <a:off x="4471416" y="5029200"/>
            <a:ext cx="1197864" cy="786384"/>
          </a:xfrm>
          <a:prstGeom prst="chevron">
            <a:avLst/>
          </a:prstGeom>
          <a:solidFill>
            <a:srgbClr val="7213EA"/>
          </a:solidFill>
          <a:ln w="12700">
            <a:solidFill>
              <a:srgbClr val="7213EA">
                <a:alpha val="0"/>
              </a:srgbClr>
            </a:solidFill>
            <a:prstDash val="solid"/>
          </a:ln>
        </p:spPr>
      </p:sp>
      <p:sp>
        <p:nvSpPr>
          <p:cNvPr id="130" name="Text 128"/>
          <p:cNvSpPr txBox="1"/>
          <p:nvPr/>
        </p:nvSpPr>
        <p:spPr>
          <a:xfrm>
            <a:off x="4745736" y="5102352"/>
            <a:ext cx="813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 → Jun</a:t>
            </a:r>
            <a:endParaRPr lang="en-US" sz="1100" dirty="0"/>
          </a:p>
        </p:txBody>
      </p:sp>
      <p:sp>
        <p:nvSpPr>
          <p:cNvPr id="131" name="Text 129"/>
          <p:cNvSpPr txBox="1"/>
          <p:nvPr/>
        </p:nvSpPr>
        <p:spPr>
          <a:xfrm>
            <a:off x="4745736" y="5413248"/>
            <a:ext cx="813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Silos / liners (TS)</a:t>
            </a:r>
            <a:endParaRPr lang="en-US" sz="800" dirty="0"/>
          </a:p>
        </p:txBody>
      </p:sp>
      <p:sp>
        <p:nvSpPr>
          <p:cNvPr id="132" name="Shape 130"/>
          <p:cNvSpPr/>
          <p:nvPr/>
        </p:nvSpPr>
        <p:spPr>
          <a:xfrm>
            <a:off x="5824728" y="5029200"/>
            <a:ext cx="1197864" cy="786384"/>
          </a:xfrm>
          <a:prstGeom prst="chevron">
            <a:avLst/>
          </a:prstGeom>
          <a:solidFill>
            <a:srgbClr val="0C233C"/>
          </a:solidFill>
          <a:ln w="12700">
            <a:solidFill>
              <a:srgbClr val="0C233C">
                <a:alpha val="0"/>
              </a:srgbClr>
            </a:solidFill>
            <a:prstDash val="solid"/>
          </a:ln>
        </p:spPr>
      </p:sp>
      <p:sp>
        <p:nvSpPr>
          <p:cNvPr id="133" name="Text 131"/>
          <p:cNvSpPr txBox="1"/>
          <p:nvPr/>
        </p:nvSpPr>
        <p:spPr>
          <a:xfrm>
            <a:off x="6099048" y="5102352"/>
            <a:ext cx="813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Jun-27</a:t>
            </a:r>
            <a:endParaRPr lang="en-US" sz="1100" dirty="0"/>
          </a:p>
        </p:txBody>
      </p:sp>
      <p:sp>
        <p:nvSpPr>
          <p:cNvPr id="134" name="Text 132"/>
          <p:cNvSpPr txBox="1"/>
          <p:nvPr/>
        </p:nvSpPr>
        <p:spPr>
          <a:xfrm>
            <a:off x="6099048" y="5413248"/>
            <a:ext cx="813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Erection finish</a:t>
            </a:r>
            <a:endParaRPr lang="en-US" sz="800" dirty="0"/>
          </a:p>
        </p:txBody>
      </p:sp>
      <p:sp>
        <p:nvSpPr>
          <p:cNvPr id="135" name="Text 133"/>
          <p:cNvSpPr txBox="1"/>
          <p:nvPr/>
        </p:nvSpPr>
        <p:spPr>
          <a:xfrm>
            <a:off x="411480" y="5925312"/>
            <a:ext cx="6903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view:</a:t>
            </a:r>
            <a:pPr algn="l" indent="0" marL="0">
              <a:buNone/>
            </a:pPr>
            <a:r>
              <a:rPr lang="en-US" sz="78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Material waiting at site builds to ≈1,112 MT by Feb-27 (supply ends 5 months before erection) - plan laydown and erection sequence.</a:t>
            </a:r>
            <a:endParaRPr lang="en-US" sz="780" dirty="0"/>
          </a:p>
        </p:txBody>
      </p:sp>
      <p:sp>
        <p:nvSpPr>
          <p:cNvPr id="136" name="Shape 134"/>
          <p:cNvSpPr/>
          <p:nvPr/>
        </p:nvSpPr>
        <p:spPr>
          <a:xfrm>
            <a:off x="7543800" y="2176272"/>
            <a:ext cx="82296" cy="82296"/>
          </a:xfrm>
          <a:prstGeom prst="rect">
            <a:avLst/>
          </a:prstGeom>
          <a:solidFill>
            <a:srgbClr val="1E49E2"/>
          </a:solidFill>
          <a:ln w="12700">
            <a:solidFill>
              <a:srgbClr val="1E49E2">
                <a:alpha val="0"/>
              </a:srgbClr>
            </a:solidFill>
            <a:prstDash val="solid"/>
          </a:ln>
        </p:spPr>
      </p:sp>
      <p:sp>
        <p:nvSpPr>
          <p:cNvPr id="137" name="Text 135"/>
          <p:cNvSpPr txBox="1"/>
          <p:nvPr/>
        </p:nvSpPr>
        <p:spPr>
          <a:xfrm>
            <a:off x="7690104" y="2103120"/>
            <a:ext cx="4233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C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CONCERNS &amp; ACTIONS</a:t>
            </a:r>
            <a:endParaRPr lang="en-US" sz="950" dirty="0"/>
          </a:p>
        </p:txBody>
      </p:sp>
      <p:sp>
        <p:nvSpPr>
          <p:cNvPr id="138" name="Shape 136"/>
          <p:cNvSpPr/>
          <p:nvPr/>
        </p:nvSpPr>
        <p:spPr>
          <a:xfrm>
            <a:off x="7543800" y="2359152"/>
            <a:ext cx="4233672" cy="603504"/>
          </a:xfrm>
          <a:prstGeom prst="rect">
            <a:avLst/>
          </a:prstGeom>
          <a:solidFill>
            <a:srgbClr val="F3F6FA"/>
          </a:solidFill>
          <a:ln w="6350">
            <a:solidFill>
              <a:srgbClr val="DDE2EA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7616952" y="2441448"/>
            <a:ext cx="749808" cy="173736"/>
          </a:xfrm>
          <a:prstGeom prst="roundRect">
            <a:avLst>
              <a:gd name="adj" fmla="val 83102"/>
            </a:avLst>
          </a:prstGeom>
          <a:solidFill>
            <a:srgbClr val="0C233C"/>
          </a:solidFill>
          <a:ln w="12700">
            <a:solidFill>
              <a:srgbClr val="0C233C">
                <a:alpha val="0"/>
              </a:srgbClr>
            </a:solidFill>
            <a:prstDash val="solid"/>
          </a:ln>
        </p:spPr>
      </p:sp>
      <p:sp>
        <p:nvSpPr>
          <p:cNvPr id="140" name="Text 138"/>
          <p:cNvSpPr txBox="1"/>
          <p:nvPr/>
        </p:nvSpPr>
        <p:spPr>
          <a:xfrm>
            <a:off x="7616952" y="2441448"/>
            <a:ext cx="74980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DRAWINGS</a:t>
            </a:r>
            <a:endParaRPr lang="en-US" sz="650" dirty="0"/>
          </a:p>
        </p:txBody>
      </p:sp>
      <p:sp>
        <p:nvSpPr>
          <p:cNvPr id="141" name="Text 139"/>
          <p:cNvSpPr txBox="1"/>
          <p:nvPr/>
        </p:nvSpPr>
        <p:spPr>
          <a:xfrm>
            <a:off x="8458200" y="2395728"/>
            <a:ext cx="3246120" cy="350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1,399 of 2,000 MT drawings released; 601 MT (30%) pending. Cumulative supply crosses 1,399 MT in Jan-27.</a:t>
            </a:r>
            <a:endParaRPr lang="en-US" sz="740" dirty="0"/>
          </a:p>
        </p:txBody>
      </p:sp>
      <p:sp>
        <p:nvSpPr>
          <p:cNvPr id="142" name="Text 140"/>
          <p:cNvSpPr txBox="1"/>
          <p:nvPr/>
        </p:nvSpPr>
        <p:spPr>
          <a:xfrm>
            <a:off x="8458200" y="2721254"/>
            <a:ext cx="3246120" cy="229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E49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</a:t>
            </a:r>
            <a:pPr algn="l" indent="0" marL="0">
              <a:buNone/>
            </a:pPr>
            <a:r>
              <a:rPr lang="en-US" sz="720" dirty="0">
                <a:solidFill>
                  <a:srgbClr val="1E49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Close balance drawings / PO by Nov-26 to feed Jan-27 fabrication.</a:t>
            </a:r>
            <a:endParaRPr lang="en-US" sz="720" dirty="0"/>
          </a:p>
        </p:txBody>
      </p:sp>
      <p:sp>
        <p:nvSpPr>
          <p:cNvPr id="143" name="Shape 141"/>
          <p:cNvSpPr/>
          <p:nvPr/>
        </p:nvSpPr>
        <p:spPr>
          <a:xfrm>
            <a:off x="7543800" y="3017520"/>
            <a:ext cx="4233672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DE2EA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7616952" y="3099816"/>
            <a:ext cx="749808" cy="173736"/>
          </a:xfrm>
          <a:prstGeom prst="roundRect">
            <a:avLst>
              <a:gd name="adj" fmla="val 83102"/>
            </a:avLst>
          </a:prstGeom>
          <a:solidFill>
            <a:srgbClr val="00B8F5"/>
          </a:solidFill>
          <a:ln w="12700">
            <a:solidFill>
              <a:srgbClr val="00B8F5">
                <a:alpha val="0"/>
              </a:srgbClr>
            </a:solidFill>
            <a:prstDash val="solid"/>
          </a:ln>
        </p:spPr>
      </p:sp>
      <p:sp>
        <p:nvSpPr>
          <p:cNvPr id="145" name="Text 143"/>
          <p:cNvSpPr txBox="1"/>
          <p:nvPr/>
        </p:nvSpPr>
        <p:spPr>
          <a:xfrm>
            <a:off x="7616952" y="3099816"/>
            <a:ext cx="74980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</a:t>
            </a:r>
            <a:endParaRPr lang="en-US" sz="650" dirty="0"/>
          </a:p>
        </p:txBody>
      </p:sp>
      <p:sp>
        <p:nvSpPr>
          <p:cNvPr id="146" name="Text 144"/>
          <p:cNvSpPr txBox="1"/>
          <p:nvPr/>
        </p:nvSpPr>
        <p:spPr>
          <a:xfrm>
            <a:off x="8458200" y="3054096"/>
            <a:ext cx="3246120" cy="350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Oct-26–Feb supply plan totals 2,000 MT but the balance is 1,988 MT (12 MT already done) - quantities not reconciled against scope.</a:t>
            </a:r>
            <a:endParaRPr lang="en-US" sz="740" dirty="0"/>
          </a:p>
        </p:txBody>
      </p:sp>
      <p:sp>
        <p:nvSpPr>
          <p:cNvPr id="147" name="Text 145"/>
          <p:cNvSpPr txBox="1"/>
          <p:nvPr/>
        </p:nvSpPr>
        <p:spPr>
          <a:xfrm>
            <a:off x="8458200" y="3379622"/>
            <a:ext cx="3246120" cy="229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E49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</a:t>
            </a:r>
            <a:pPr algn="l" indent="0" marL="0">
              <a:buNone/>
            </a:pPr>
            <a:r>
              <a:rPr lang="en-US" sz="720" dirty="0">
                <a:solidFill>
                  <a:srgbClr val="1E49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Reconcile the supply plan against scope and the Sep-26 actual.</a:t>
            </a:r>
            <a:endParaRPr lang="en-US" sz="720" dirty="0"/>
          </a:p>
        </p:txBody>
      </p:sp>
      <p:sp>
        <p:nvSpPr>
          <p:cNvPr id="148" name="Shape 146"/>
          <p:cNvSpPr/>
          <p:nvPr/>
        </p:nvSpPr>
        <p:spPr>
          <a:xfrm>
            <a:off x="7543800" y="3675888"/>
            <a:ext cx="4233672" cy="603504"/>
          </a:xfrm>
          <a:prstGeom prst="rect">
            <a:avLst/>
          </a:prstGeom>
          <a:solidFill>
            <a:srgbClr val="F3F6FA"/>
          </a:solidFill>
          <a:ln w="6350">
            <a:solidFill>
              <a:srgbClr val="DDE2EA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7616952" y="3758184"/>
            <a:ext cx="749808" cy="173736"/>
          </a:xfrm>
          <a:prstGeom prst="roundRect">
            <a:avLst>
              <a:gd name="adj" fmla="val 83102"/>
            </a:avLst>
          </a:prstGeom>
          <a:solidFill>
            <a:srgbClr val="00B8F5"/>
          </a:solidFill>
          <a:ln w="12700">
            <a:solidFill>
              <a:srgbClr val="00B8F5">
                <a:alpha val="0"/>
              </a:srgbClr>
            </a:solidFill>
            <a:prstDash val="solid"/>
          </a:ln>
        </p:spPr>
      </p:sp>
      <p:sp>
        <p:nvSpPr>
          <p:cNvPr id="150" name="Text 148"/>
          <p:cNvSpPr txBox="1"/>
          <p:nvPr/>
        </p:nvSpPr>
        <p:spPr>
          <a:xfrm>
            <a:off x="7616952" y="3758184"/>
            <a:ext cx="74980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</a:t>
            </a:r>
            <a:endParaRPr lang="en-US" sz="650" dirty="0"/>
          </a:p>
        </p:txBody>
      </p:sp>
      <p:sp>
        <p:nvSpPr>
          <p:cNvPr id="151" name="Text 149"/>
          <p:cNvSpPr txBox="1"/>
          <p:nvPr/>
        </p:nvSpPr>
        <p:spPr>
          <a:xfrm>
            <a:off x="8458200" y="3712464"/>
            <a:ext cx="3246120" cy="350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 must jump from 12 MT in Sep-26 to 520 MT/month; Dec and Jan-27 alone need 1,020 MT.</a:t>
            </a:r>
            <a:endParaRPr lang="en-US" sz="740" dirty="0"/>
          </a:p>
        </p:txBody>
      </p:sp>
      <p:sp>
        <p:nvSpPr>
          <p:cNvPr id="152" name="Text 150"/>
          <p:cNvSpPr txBox="1"/>
          <p:nvPr/>
        </p:nvSpPr>
        <p:spPr>
          <a:xfrm>
            <a:off x="8458200" y="4037990"/>
            <a:ext cx="3246120" cy="229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E49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</a:t>
            </a:r>
            <a:pPr algn="l" indent="0" marL="0">
              <a:buNone/>
            </a:pPr>
            <a:r>
              <a:rPr lang="en-US" sz="720" dirty="0">
                <a:solidFill>
                  <a:srgbClr val="1E49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Lock fabrication lot plan; weekly dispatch vs 250/300/500/520/430 MT.</a:t>
            </a:r>
            <a:endParaRPr lang="en-US" sz="720" dirty="0"/>
          </a:p>
        </p:txBody>
      </p:sp>
      <p:sp>
        <p:nvSpPr>
          <p:cNvPr id="153" name="Shape 151"/>
          <p:cNvSpPr/>
          <p:nvPr/>
        </p:nvSpPr>
        <p:spPr>
          <a:xfrm>
            <a:off x="7543800" y="4334256"/>
            <a:ext cx="4233672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DE2EA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7616952" y="4416552"/>
            <a:ext cx="749808" cy="173736"/>
          </a:xfrm>
          <a:prstGeom prst="roundRect">
            <a:avLst>
              <a:gd name="adj" fmla="val 83102"/>
            </a:avLst>
          </a:prstGeom>
          <a:solidFill>
            <a:srgbClr val="1E49E2"/>
          </a:solidFill>
          <a:ln w="12700">
            <a:solidFill>
              <a:srgbClr val="1E49E2">
                <a:alpha val="0"/>
              </a:srgbClr>
            </a:solidFill>
            <a:prstDash val="solid"/>
          </a:ln>
        </p:spPr>
      </p:sp>
      <p:sp>
        <p:nvSpPr>
          <p:cNvPr id="155" name="Text 153"/>
          <p:cNvSpPr txBox="1"/>
          <p:nvPr/>
        </p:nvSpPr>
        <p:spPr>
          <a:xfrm>
            <a:off x="7616952" y="4416552"/>
            <a:ext cx="74980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ERECTION</a:t>
            </a:r>
            <a:endParaRPr lang="en-US" sz="650" dirty="0"/>
          </a:p>
        </p:txBody>
      </p:sp>
      <p:sp>
        <p:nvSpPr>
          <p:cNvPr id="156" name="Text 154"/>
          <p:cNvSpPr txBox="1"/>
          <p:nvPr/>
        </p:nvSpPr>
        <p:spPr>
          <a:xfrm>
            <a:off x="8458200" y="4370832"/>
            <a:ext cx="3246120" cy="350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Erection starts Nov-26 and must hold 150–300 MT/month for 8 months.</a:t>
            </a:r>
            <a:endParaRPr lang="en-US" sz="740" dirty="0"/>
          </a:p>
        </p:txBody>
      </p:sp>
      <p:sp>
        <p:nvSpPr>
          <p:cNvPr id="157" name="Text 155"/>
          <p:cNvSpPr txBox="1"/>
          <p:nvPr/>
        </p:nvSpPr>
        <p:spPr>
          <a:xfrm>
            <a:off x="8458200" y="4696358"/>
            <a:ext cx="3246120" cy="229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E49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</a:t>
            </a:r>
            <a:pPr algn="l" indent="0" marL="0">
              <a:buNone/>
            </a:pPr>
            <a:r>
              <a:rPr lang="en-US" sz="720" dirty="0">
                <a:solidFill>
                  <a:srgbClr val="1E49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Mobilise crane and erection crew before Nov-26.</a:t>
            </a:r>
            <a:endParaRPr lang="en-US" sz="720" dirty="0"/>
          </a:p>
        </p:txBody>
      </p:sp>
      <p:sp>
        <p:nvSpPr>
          <p:cNvPr id="158" name="Shape 156"/>
          <p:cNvSpPr/>
          <p:nvPr/>
        </p:nvSpPr>
        <p:spPr>
          <a:xfrm>
            <a:off x="7543800" y="5038344"/>
            <a:ext cx="82296" cy="82296"/>
          </a:xfrm>
          <a:prstGeom prst="rect">
            <a:avLst/>
          </a:prstGeom>
          <a:solidFill>
            <a:srgbClr val="1E49E2"/>
          </a:solidFill>
          <a:ln w="12700">
            <a:solidFill>
              <a:srgbClr val="1E49E2">
                <a:alpha val="0"/>
              </a:srgbClr>
            </a:solidFill>
            <a:prstDash val="solid"/>
          </a:ln>
        </p:spPr>
      </p:sp>
      <p:sp>
        <p:nvSpPr>
          <p:cNvPr id="159" name="Text 157"/>
          <p:cNvSpPr txBox="1"/>
          <p:nvPr/>
        </p:nvSpPr>
        <p:spPr>
          <a:xfrm>
            <a:off x="7690104" y="4974336"/>
            <a:ext cx="4233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C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vs DRAWINGS vs SUPPLY vs ERECTION (MT)</a:t>
            </a:r>
            <a:endParaRPr lang="en-US" sz="950" dirty="0"/>
          </a:p>
        </p:txBody>
      </p:sp>
      <p:sp>
        <p:nvSpPr>
          <p:cNvPr id="160" name="Shape 158"/>
          <p:cNvSpPr/>
          <p:nvPr/>
        </p:nvSpPr>
        <p:spPr>
          <a:xfrm>
            <a:off x="7543800" y="5212080"/>
            <a:ext cx="4233672" cy="201168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>
                <a:alpha val="0"/>
              </a:srgbClr>
            </a:solidFill>
            <a:prstDash val="solid"/>
          </a:ln>
        </p:spPr>
      </p:sp>
      <p:sp>
        <p:nvSpPr>
          <p:cNvPr id="161" name="Text 159"/>
          <p:cNvSpPr txBox="1"/>
          <p:nvPr/>
        </p:nvSpPr>
        <p:spPr>
          <a:xfrm>
            <a:off x="7616952" y="5212080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en-US" sz="780" dirty="0"/>
          </a:p>
        </p:txBody>
      </p:sp>
      <p:sp>
        <p:nvSpPr>
          <p:cNvPr id="162" name="Shape 160"/>
          <p:cNvSpPr/>
          <p:nvPr/>
        </p:nvSpPr>
        <p:spPr>
          <a:xfrm>
            <a:off x="8750808" y="5248656"/>
            <a:ext cx="1783080" cy="128016"/>
          </a:xfrm>
          <a:prstGeom prst="rect">
            <a:avLst/>
          </a:prstGeom>
          <a:solidFill>
            <a:srgbClr val="DDE2EA"/>
          </a:solidFill>
          <a:ln w="12700">
            <a:solidFill>
              <a:srgbClr val="DDE2EA">
                <a:alpha val="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8750808" y="5248656"/>
            <a:ext cx="1783080" cy="128016"/>
          </a:xfrm>
          <a:prstGeom prst="rect">
            <a:avLst/>
          </a:prstGeom>
          <a:solidFill>
            <a:srgbClr val="0C233C"/>
          </a:solidFill>
          <a:ln w="12700">
            <a:solidFill>
              <a:srgbClr val="0C233C">
                <a:alpha val="0"/>
              </a:srgbClr>
            </a:solidFill>
            <a:prstDash val="solid"/>
          </a:ln>
        </p:spPr>
      </p:sp>
      <p:sp>
        <p:nvSpPr>
          <p:cNvPr id="164" name="Text 162"/>
          <p:cNvSpPr txBox="1"/>
          <p:nvPr/>
        </p:nvSpPr>
        <p:spPr>
          <a:xfrm>
            <a:off x="10607040" y="521208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 MT</a:t>
            </a:r>
            <a:endParaRPr lang="en-US" sz="780" dirty="0"/>
          </a:p>
        </p:txBody>
      </p:sp>
      <p:sp>
        <p:nvSpPr>
          <p:cNvPr id="165" name="Shape 163"/>
          <p:cNvSpPr/>
          <p:nvPr/>
        </p:nvSpPr>
        <p:spPr>
          <a:xfrm>
            <a:off x="7543800" y="5449824"/>
            <a:ext cx="4233672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6" name="Text 164"/>
          <p:cNvSpPr txBox="1"/>
          <p:nvPr/>
        </p:nvSpPr>
        <p:spPr>
          <a:xfrm>
            <a:off x="7616952" y="5449824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Drawings released</a:t>
            </a:r>
            <a:endParaRPr lang="en-US" sz="780" dirty="0"/>
          </a:p>
        </p:txBody>
      </p:sp>
      <p:sp>
        <p:nvSpPr>
          <p:cNvPr id="167" name="Shape 165"/>
          <p:cNvSpPr/>
          <p:nvPr/>
        </p:nvSpPr>
        <p:spPr>
          <a:xfrm>
            <a:off x="8750808" y="5486400"/>
            <a:ext cx="1783080" cy="128016"/>
          </a:xfrm>
          <a:prstGeom prst="rect">
            <a:avLst/>
          </a:prstGeom>
          <a:solidFill>
            <a:srgbClr val="DDE2EA"/>
          </a:solidFill>
          <a:ln w="12700">
            <a:solidFill>
              <a:srgbClr val="DDE2EA">
                <a:alpha val="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8750808" y="5486400"/>
            <a:ext cx="1247264" cy="12801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169" name="Text 167"/>
          <p:cNvSpPr txBox="1"/>
          <p:nvPr/>
        </p:nvSpPr>
        <p:spPr>
          <a:xfrm>
            <a:off x="10607040" y="544982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1,399 MT  ·  70%</a:t>
            </a:r>
            <a:endParaRPr lang="en-US" sz="780" dirty="0"/>
          </a:p>
        </p:txBody>
      </p:sp>
      <p:sp>
        <p:nvSpPr>
          <p:cNvPr id="170" name="Shape 168"/>
          <p:cNvSpPr/>
          <p:nvPr/>
        </p:nvSpPr>
        <p:spPr>
          <a:xfrm>
            <a:off x="7543800" y="5687568"/>
            <a:ext cx="4233672" cy="201168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>
                <a:alpha val="0"/>
              </a:srgbClr>
            </a:solidFill>
            <a:prstDash val="solid"/>
          </a:ln>
        </p:spPr>
      </p:sp>
      <p:sp>
        <p:nvSpPr>
          <p:cNvPr id="171" name="Text 169"/>
          <p:cNvSpPr txBox="1"/>
          <p:nvPr/>
        </p:nvSpPr>
        <p:spPr>
          <a:xfrm>
            <a:off x="7616952" y="5687568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Supplied till Sep</a:t>
            </a:r>
            <a:endParaRPr lang="en-US" sz="780" dirty="0"/>
          </a:p>
        </p:txBody>
      </p:sp>
      <p:sp>
        <p:nvSpPr>
          <p:cNvPr id="172" name="Shape 170"/>
          <p:cNvSpPr/>
          <p:nvPr/>
        </p:nvSpPr>
        <p:spPr>
          <a:xfrm>
            <a:off x="8750808" y="5724144"/>
            <a:ext cx="1783080" cy="128016"/>
          </a:xfrm>
          <a:prstGeom prst="rect">
            <a:avLst/>
          </a:prstGeom>
          <a:solidFill>
            <a:srgbClr val="DDE2EA"/>
          </a:solidFill>
          <a:ln w="12700">
            <a:solidFill>
              <a:srgbClr val="DDE2EA">
                <a:alpha val="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8750808" y="5724144"/>
            <a:ext cx="27432" cy="128016"/>
          </a:xfrm>
          <a:prstGeom prst="rect">
            <a:avLst/>
          </a:prstGeom>
          <a:solidFill>
            <a:srgbClr val="00B8F5"/>
          </a:solidFill>
          <a:ln w="12700">
            <a:solidFill>
              <a:srgbClr val="00B8F5">
                <a:alpha val="0"/>
              </a:srgbClr>
            </a:solidFill>
            <a:prstDash val="solid"/>
          </a:ln>
        </p:spPr>
      </p:sp>
      <p:sp>
        <p:nvSpPr>
          <p:cNvPr id="174" name="Text 172"/>
          <p:cNvSpPr txBox="1"/>
          <p:nvPr/>
        </p:nvSpPr>
        <p:spPr>
          <a:xfrm>
            <a:off x="10607040" y="568756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MT  ·  0.6%</a:t>
            </a:r>
            <a:endParaRPr lang="en-US" sz="780" dirty="0"/>
          </a:p>
        </p:txBody>
      </p:sp>
      <p:sp>
        <p:nvSpPr>
          <p:cNvPr id="175" name="Shape 173"/>
          <p:cNvSpPr/>
          <p:nvPr/>
        </p:nvSpPr>
        <p:spPr>
          <a:xfrm>
            <a:off x="7543800" y="5925312"/>
            <a:ext cx="4233672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6" name="Text 174"/>
          <p:cNvSpPr txBox="1"/>
          <p:nvPr/>
        </p:nvSpPr>
        <p:spPr>
          <a:xfrm>
            <a:off x="7616952" y="5925312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Erected till date</a:t>
            </a:r>
            <a:endParaRPr lang="en-US" sz="780" dirty="0"/>
          </a:p>
        </p:txBody>
      </p:sp>
      <p:sp>
        <p:nvSpPr>
          <p:cNvPr id="177" name="Shape 175"/>
          <p:cNvSpPr/>
          <p:nvPr/>
        </p:nvSpPr>
        <p:spPr>
          <a:xfrm>
            <a:off x="8750808" y="5961888"/>
            <a:ext cx="1783080" cy="128016"/>
          </a:xfrm>
          <a:prstGeom prst="rect">
            <a:avLst/>
          </a:prstGeom>
          <a:solidFill>
            <a:srgbClr val="DDE2EA"/>
          </a:solidFill>
          <a:ln w="12700">
            <a:solidFill>
              <a:srgbClr val="DDE2EA">
                <a:alpha val="0"/>
              </a:srgbClr>
            </a:solidFill>
            <a:prstDash val="solid"/>
          </a:ln>
        </p:spPr>
      </p:sp>
      <p:sp>
        <p:nvSpPr>
          <p:cNvPr id="178" name="Text 176"/>
          <p:cNvSpPr txBox="1"/>
          <p:nvPr/>
        </p:nvSpPr>
        <p:spPr>
          <a:xfrm>
            <a:off x="10607040" y="592531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MT  ·  starts Nov-26</a:t>
            </a:r>
            <a:endParaRPr lang="en-US" sz="780" dirty="0"/>
          </a:p>
        </p:txBody>
      </p:sp>
      <p:sp>
        <p:nvSpPr>
          <p:cNvPr id="179" name="Text 177"/>
          <p:cNvSpPr txBox="1"/>
          <p:nvPr/>
        </p:nvSpPr>
        <p:spPr>
          <a:xfrm>
            <a:off x="7543800" y="6199632"/>
            <a:ext cx="4233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C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601 MT drawings pending; 0.6% supplied; erection starts Nov-26.</a:t>
            </a:r>
            <a:endParaRPr lang="en-US" sz="750" dirty="0"/>
          </a:p>
        </p:txBody>
      </p:sp>
      <p:sp>
        <p:nvSpPr>
          <p:cNvPr id="180" name="Text 178"/>
          <p:cNvSpPr txBox="1"/>
          <p:nvPr/>
        </p:nvSpPr>
        <p:spPr>
          <a:xfrm>
            <a:off x="411480" y="645566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 = building structure   ·   TS = technological structure</a:t>
            </a:r>
            <a:endParaRPr lang="en-US" sz="700" dirty="0"/>
          </a:p>
        </p:txBody>
      </p:sp>
      <p:sp>
        <p:nvSpPr>
          <p:cNvPr id="181" name="Text 179"/>
          <p:cNvSpPr txBox="1"/>
          <p:nvPr/>
        </p:nvSpPr>
        <p:spPr>
          <a:xfrm>
            <a:off x="11320272" y="64556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310896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C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House / Building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804672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vendor: Samal Brothers   |   1,019 MT + TS: equipment, crane &amp; conveyor supports   |   Supply Oct-26 → Jan-27   |   Erection Oct-26 → Apr-27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9052560" y="310896"/>
            <a:ext cx="2724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as on:  30-Sep-26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0222992" y="566928"/>
            <a:ext cx="1554480" cy="292608"/>
          </a:xfrm>
          <a:prstGeom prst="roundRect">
            <a:avLst>
              <a:gd name="adj" fmla="val 48828"/>
            </a:avLst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222992" y="56692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RISK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188720"/>
            <a:ext cx="1801368" cy="731520"/>
          </a:xfrm>
          <a:prstGeom prst="rect">
            <a:avLst/>
          </a:prstGeom>
          <a:solidFill>
            <a:srgbClr val="0C233C"/>
          </a:solidFill>
          <a:ln w="12700">
            <a:solidFill>
              <a:srgbClr val="0C233C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21208" y="1243584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B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521208" y="1417320"/>
            <a:ext cx="1618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1,019 MT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21208" y="1719072"/>
            <a:ext cx="1655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dirty="0">
                <a:solidFill>
                  <a:srgbClr val="C9D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TS: equipment, crane &amp; conveyor supports</a:t>
            </a:r>
            <a:endParaRPr lang="en-US" sz="680" dirty="0"/>
          </a:p>
        </p:txBody>
      </p:sp>
      <p:sp>
        <p:nvSpPr>
          <p:cNvPr id="11" name="Shape 9"/>
          <p:cNvSpPr/>
          <p:nvPr/>
        </p:nvSpPr>
        <p:spPr>
          <a:xfrm>
            <a:off x="2322576" y="1188720"/>
            <a:ext cx="1801368" cy="731520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432304" y="1243584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DRAWINGS RELEASED</a:t>
            </a:r>
            <a:endParaRPr lang="en-US" sz="750" dirty="0"/>
          </a:p>
        </p:txBody>
      </p:sp>
      <p:sp>
        <p:nvSpPr>
          <p:cNvPr id="13" name="Text 11"/>
          <p:cNvSpPr txBox="1"/>
          <p:nvPr/>
        </p:nvSpPr>
        <p:spPr>
          <a:xfrm>
            <a:off x="2432304" y="1417320"/>
            <a:ext cx="1618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C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1,019 MT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432304" y="1719072"/>
            <a:ext cx="1655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of scope  ·  nil pending</a:t>
            </a:r>
            <a:endParaRPr lang="en-US" sz="680" dirty="0"/>
          </a:p>
        </p:txBody>
      </p:sp>
      <p:sp>
        <p:nvSpPr>
          <p:cNvPr id="15" name="Shape 13"/>
          <p:cNvSpPr/>
          <p:nvPr/>
        </p:nvSpPr>
        <p:spPr>
          <a:xfrm>
            <a:off x="4233672" y="1188720"/>
            <a:ext cx="1801368" cy="731520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343400" y="1243584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SUPPLIED TILL SEP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4343400" y="1417320"/>
            <a:ext cx="1618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C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Nil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343400" y="1719072"/>
            <a:ext cx="1655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Nil in Sep</a:t>
            </a:r>
            <a:endParaRPr lang="en-US" sz="680" dirty="0"/>
          </a:p>
        </p:txBody>
      </p:sp>
      <p:sp>
        <p:nvSpPr>
          <p:cNvPr id="19" name="Shape 17"/>
          <p:cNvSpPr/>
          <p:nvPr/>
        </p:nvSpPr>
        <p:spPr>
          <a:xfrm>
            <a:off x="6144768" y="1188720"/>
            <a:ext cx="1801368" cy="731520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54496" y="1243584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OCT–DEC SUPPLY PLAN</a:t>
            </a:r>
            <a:endParaRPr lang="en-US" sz="750" dirty="0"/>
          </a:p>
        </p:txBody>
      </p:sp>
      <p:sp>
        <p:nvSpPr>
          <p:cNvPr id="21" name="Text 19"/>
          <p:cNvSpPr txBox="1"/>
          <p:nvPr/>
        </p:nvSpPr>
        <p:spPr>
          <a:xfrm>
            <a:off x="6254496" y="1417320"/>
            <a:ext cx="1618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C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750 MT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254496" y="1719072"/>
            <a:ext cx="1655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 of scope  ·  250 / 250 / 250 MT</a:t>
            </a:r>
            <a:endParaRPr lang="en-US" sz="680" dirty="0"/>
          </a:p>
        </p:txBody>
      </p:sp>
      <p:sp>
        <p:nvSpPr>
          <p:cNvPr id="23" name="Shape 21"/>
          <p:cNvSpPr/>
          <p:nvPr/>
        </p:nvSpPr>
        <p:spPr>
          <a:xfrm>
            <a:off x="8055864" y="1188720"/>
            <a:ext cx="1801368" cy="731520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165592" y="1243584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OCT–DEC ERECTION PLAN</a:t>
            </a:r>
            <a:endParaRPr lang="en-US" sz="750" dirty="0"/>
          </a:p>
        </p:txBody>
      </p:sp>
      <p:sp>
        <p:nvSpPr>
          <p:cNvPr id="25" name="Text 23"/>
          <p:cNvSpPr txBox="1"/>
          <p:nvPr/>
        </p:nvSpPr>
        <p:spPr>
          <a:xfrm>
            <a:off x="8165592" y="1417320"/>
            <a:ext cx="1618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C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430 MT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165592" y="1719072"/>
            <a:ext cx="1655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 of scope  ·  0 erected, starts Oct-26</a:t>
            </a:r>
            <a:endParaRPr lang="en-US" sz="680" dirty="0"/>
          </a:p>
        </p:txBody>
      </p:sp>
      <p:sp>
        <p:nvSpPr>
          <p:cNvPr id="27" name="Shape 25"/>
          <p:cNvSpPr/>
          <p:nvPr/>
        </p:nvSpPr>
        <p:spPr>
          <a:xfrm>
            <a:off x="9966960" y="1188720"/>
            <a:ext cx="1801368" cy="731520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076688" y="1243584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MONTHLY RATE (MT)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10076688" y="1417320"/>
            <a:ext cx="1618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C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269 | 200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10076688" y="1719072"/>
            <a:ext cx="1655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(Jan-27)  |  erection (Dec)</a:t>
            </a:r>
            <a:endParaRPr lang="en-US" sz="680" dirty="0"/>
          </a:p>
        </p:txBody>
      </p:sp>
      <p:sp>
        <p:nvSpPr>
          <p:cNvPr id="31" name="Shape 29"/>
          <p:cNvSpPr/>
          <p:nvPr/>
        </p:nvSpPr>
        <p:spPr>
          <a:xfrm>
            <a:off x="411480" y="2176272"/>
            <a:ext cx="82296" cy="82296"/>
          </a:xfrm>
          <a:prstGeom prst="rect">
            <a:avLst/>
          </a:prstGeom>
          <a:solidFill>
            <a:srgbClr val="1E49E2"/>
          </a:solidFill>
          <a:ln w="12700">
            <a:solidFill>
              <a:srgbClr val="1E49E2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57784" y="210312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C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WORK-FRONT SEQUENCE &amp; MONTHLY PLAN (MT)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343400" y="2180844"/>
            <a:ext cx="64008" cy="64008"/>
          </a:xfrm>
          <a:prstGeom prst="rect">
            <a:avLst/>
          </a:prstGeom>
          <a:solidFill>
            <a:srgbClr val="FD349C"/>
          </a:solidFill>
          <a:ln w="12700">
            <a:solidFill>
              <a:srgbClr val="FD349C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434840" y="2103120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 / drawings</a:t>
            </a:r>
            <a:endParaRPr lang="en-US" sz="630" dirty="0"/>
          </a:p>
        </p:txBody>
      </p:sp>
      <p:sp>
        <p:nvSpPr>
          <p:cNvPr id="35" name="Shape 33"/>
          <p:cNvSpPr/>
          <p:nvPr/>
        </p:nvSpPr>
        <p:spPr>
          <a:xfrm>
            <a:off x="5254142" y="2180844"/>
            <a:ext cx="64008" cy="64008"/>
          </a:xfrm>
          <a:prstGeom prst="rect">
            <a:avLst/>
          </a:prstGeom>
          <a:solidFill>
            <a:srgbClr val="00B8F5"/>
          </a:solidFill>
          <a:ln w="12700">
            <a:solidFill>
              <a:srgbClr val="00B8F5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345582" y="2103120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</a:t>
            </a:r>
            <a:endParaRPr lang="en-US" sz="630" dirty="0"/>
          </a:p>
        </p:txBody>
      </p:sp>
      <p:sp>
        <p:nvSpPr>
          <p:cNvPr id="37" name="Shape 35"/>
          <p:cNvSpPr/>
          <p:nvPr/>
        </p:nvSpPr>
        <p:spPr>
          <a:xfrm>
            <a:off x="5744261" y="2180844"/>
            <a:ext cx="64008" cy="64008"/>
          </a:xfrm>
          <a:prstGeom prst="rect">
            <a:avLst/>
          </a:prstGeom>
          <a:solidFill>
            <a:srgbClr val="1E49E2"/>
          </a:solidFill>
          <a:ln w="12700">
            <a:solidFill>
              <a:srgbClr val="1E49E2">
                <a:alpha val="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835701" y="2103120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Erection</a:t>
            </a:r>
            <a:endParaRPr lang="en-US" sz="630" dirty="0"/>
          </a:p>
        </p:txBody>
      </p:sp>
      <p:sp>
        <p:nvSpPr>
          <p:cNvPr id="39" name="Shape 37"/>
          <p:cNvSpPr/>
          <p:nvPr/>
        </p:nvSpPr>
        <p:spPr>
          <a:xfrm>
            <a:off x="6318504" y="2180844"/>
            <a:ext cx="64008" cy="64008"/>
          </a:xfrm>
          <a:prstGeom prst="rect">
            <a:avLst/>
          </a:prstGeom>
          <a:solidFill>
            <a:srgbClr val="7213EA"/>
          </a:solidFill>
          <a:ln w="12700">
            <a:solidFill>
              <a:srgbClr val="7213EA">
                <a:alpha val="0"/>
              </a:srgbClr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409944" y="2103120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 / bins</a:t>
            </a:r>
            <a:endParaRPr lang="en-US" sz="630" dirty="0"/>
          </a:p>
        </p:txBody>
      </p:sp>
      <p:sp>
        <p:nvSpPr>
          <p:cNvPr id="41" name="Shape 39"/>
          <p:cNvSpPr/>
          <p:nvPr/>
        </p:nvSpPr>
        <p:spPr>
          <a:xfrm>
            <a:off x="6934810" y="2180844"/>
            <a:ext cx="64008" cy="64008"/>
          </a:xfrm>
          <a:prstGeom prst="rect">
            <a:avLst/>
          </a:prstGeom>
          <a:solidFill>
            <a:srgbClr val="1F9D55"/>
          </a:solidFill>
          <a:ln w="12700">
            <a:solidFill>
              <a:srgbClr val="1F9D55">
                <a:alpha val="0"/>
              </a:srgbClr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026250" y="2103120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Handover</a:t>
            </a:r>
            <a:endParaRPr lang="en-US" sz="630" dirty="0"/>
          </a:p>
        </p:txBody>
      </p:sp>
      <p:sp>
        <p:nvSpPr>
          <p:cNvPr id="43" name="Shape 41"/>
          <p:cNvSpPr/>
          <p:nvPr/>
        </p:nvSpPr>
        <p:spPr>
          <a:xfrm>
            <a:off x="411480" y="2359152"/>
            <a:ext cx="6903720" cy="237744"/>
          </a:xfrm>
          <a:prstGeom prst="rect">
            <a:avLst/>
          </a:prstGeom>
          <a:solidFill>
            <a:srgbClr val="0C233C"/>
          </a:solidFill>
          <a:ln w="12700">
            <a:solidFill>
              <a:srgbClr val="0C233C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148840" y="2359152"/>
            <a:ext cx="1536192" cy="237744"/>
          </a:xfrm>
          <a:prstGeom prst="rect">
            <a:avLst/>
          </a:prstGeom>
          <a:solidFill>
            <a:srgbClr val="1E49E2"/>
          </a:solidFill>
          <a:ln w="12700">
            <a:solidFill>
              <a:srgbClr val="1E49E2">
                <a:alpha val="0"/>
              </a:srgbClr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84632" y="235915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front</a:t>
            </a:r>
            <a:endParaRPr lang="en-US" sz="800" dirty="0"/>
          </a:p>
        </p:txBody>
      </p:sp>
      <p:sp>
        <p:nvSpPr>
          <p:cNvPr id="46" name="Text 44"/>
          <p:cNvSpPr txBox="1"/>
          <p:nvPr/>
        </p:nvSpPr>
        <p:spPr>
          <a:xfrm>
            <a:off x="2148840" y="2359152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Oct-26</a:t>
            </a:r>
            <a:endParaRPr lang="en-US" sz="750" dirty="0"/>
          </a:p>
        </p:txBody>
      </p:sp>
      <p:sp>
        <p:nvSpPr>
          <p:cNvPr id="47" name="Text 45"/>
          <p:cNvSpPr txBox="1"/>
          <p:nvPr/>
        </p:nvSpPr>
        <p:spPr>
          <a:xfrm>
            <a:off x="2660904" y="2359152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</a:t>
            </a:r>
            <a:endParaRPr lang="en-US" sz="750" dirty="0"/>
          </a:p>
        </p:txBody>
      </p:sp>
      <p:sp>
        <p:nvSpPr>
          <p:cNvPr id="48" name="Text 46"/>
          <p:cNvSpPr txBox="1"/>
          <p:nvPr/>
        </p:nvSpPr>
        <p:spPr>
          <a:xfrm>
            <a:off x="3172968" y="2359152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</a:t>
            </a:r>
            <a:endParaRPr lang="en-US" sz="750" dirty="0"/>
          </a:p>
        </p:txBody>
      </p:sp>
      <p:sp>
        <p:nvSpPr>
          <p:cNvPr id="49" name="Text 47"/>
          <p:cNvSpPr txBox="1"/>
          <p:nvPr/>
        </p:nvSpPr>
        <p:spPr>
          <a:xfrm>
            <a:off x="3685032" y="2359152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Jan-27</a:t>
            </a:r>
            <a:endParaRPr lang="en-US" sz="750" dirty="0"/>
          </a:p>
        </p:txBody>
      </p:sp>
      <p:sp>
        <p:nvSpPr>
          <p:cNvPr id="50" name="Text 48"/>
          <p:cNvSpPr txBox="1"/>
          <p:nvPr/>
        </p:nvSpPr>
        <p:spPr>
          <a:xfrm>
            <a:off x="4197096" y="2359152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</a:t>
            </a:r>
            <a:endParaRPr lang="en-US" sz="750" dirty="0"/>
          </a:p>
        </p:txBody>
      </p:sp>
      <p:sp>
        <p:nvSpPr>
          <p:cNvPr id="51" name="Text 49"/>
          <p:cNvSpPr txBox="1"/>
          <p:nvPr/>
        </p:nvSpPr>
        <p:spPr>
          <a:xfrm>
            <a:off x="4709160" y="2359152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</a:t>
            </a:r>
            <a:endParaRPr lang="en-US" sz="750" dirty="0"/>
          </a:p>
        </p:txBody>
      </p:sp>
      <p:sp>
        <p:nvSpPr>
          <p:cNvPr id="52" name="Text 50"/>
          <p:cNvSpPr txBox="1"/>
          <p:nvPr/>
        </p:nvSpPr>
        <p:spPr>
          <a:xfrm>
            <a:off x="5221224" y="2359152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</a:t>
            </a:r>
            <a:endParaRPr lang="en-US" sz="750" dirty="0"/>
          </a:p>
        </p:txBody>
      </p:sp>
      <p:sp>
        <p:nvSpPr>
          <p:cNvPr id="53" name="Text 51"/>
          <p:cNvSpPr txBox="1"/>
          <p:nvPr/>
        </p:nvSpPr>
        <p:spPr>
          <a:xfrm>
            <a:off x="5733288" y="2359152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</a:t>
            </a:r>
            <a:endParaRPr lang="en-US" sz="750" dirty="0"/>
          </a:p>
        </p:txBody>
      </p:sp>
      <p:sp>
        <p:nvSpPr>
          <p:cNvPr id="54" name="Text 52"/>
          <p:cNvSpPr txBox="1"/>
          <p:nvPr/>
        </p:nvSpPr>
        <p:spPr>
          <a:xfrm>
            <a:off x="6245352" y="2359152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</a:t>
            </a:r>
            <a:endParaRPr lang="en-US" sz="750" dirty="0"/>
          </a:p>
        </p:txBody>
      </p:sp>
      <p:sp>
        <p:nvSpPr>
          <p:cNvPr id="55" name="Text 53"/>
          <p:cNvSpPr txBox="1"/>
          <p:nvPr/>
        </p:nvSpPr>
        <p:spPr>
          <a:xfrm>
            <a:off x="6757416" y="2359152"/>
            <a:ext cx="557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411480" y="2596896"/>
            <a:ext cx="6903720" cy="256032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>
                <a:alpha val="0"/>
              </a:srgbClr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484632" y="259689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release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2185416" y="2670048"/>
            <a:ext cx="438912" cy="118872"/>
          </a:xfrm>
          <a:prstGeom prst="roundRect">
            <a:avLst>
              <a:gd name="adj" fmla="val 177515"/>
            </a:avLst>
          </a:prstGeom>
          <a:solidFill>
            <a:srgbClr val="FD349C"/>
          </a:solidFill>
          <a:ln w="12700">
            <a:solidFill>
              <a:srgbClr val="FD349C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11480" y="2852928"/>
            <a:ext cx="69037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484632" y="28529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receipt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2185416" y="2926080"/>
            <a:ext cx="1975104" cy="118872"/>
          </a:xfrm>
          <a:prstGeom prst="roundRect">
            <a:avLst>
              <a:gd name="adj" fmla="val 177515"/>
            </a:avLst>
          </a:prstGeom>
          <a:solidFill>
            <a:srgbClr val="00B8F5"/>
          </a:solidFill>
          <a:ln w="12700">
            <a:solidFill>
              <a:srgbClr val="00B8F5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11480" y="3108960"/>
            <a:ext cx="6903720" cy="256032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>
                <a:alpha val="0"/>
              </a:srgbClr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484632" y="31089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 bay / bracing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2185416" y="3182112"/>
            <a:ext cx="950976" cy="118872"/>
          </a:xfrm>
          <a:prstGeom prst="roundRect">
            <a:avLst>
              <a:gd name="adj" fmla="val 177515"/>
            </a:avLst>
          </a:prstGeom>
          <a:solidFill>
            <a:srgbClr val="1E49E2"/>
          </a:solidFill>
          <a:ln w="12700">
            <a:solidFill>
              <a:srgbClr val="1E49E2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11480" y="3364992"/>
            <a:ext cx="69037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484632" y="33649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tiers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2697480" y="3438144"/>
            <a:ext cx="1463040" cy="118872"/>
          </a:xfrm>
          <a:prstGeom prst="roundRect">
            <a:avLst>
              <a:gd name="adj" fmla="val 177515"/>
            </a:avLst>
          </a:prstGeom>
          <a:solidFill>
            <a:srgbClr val="1E49E2"/>
          </a:solidFill>
          <a:ln w="12700">
            <a:solidFill>
              <a:srgbClr val="1E49E2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11480" y="3621024"/>
            <a:ext cx="6903720" cy="256032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>
                <a:alpha val="0"/>
              </a:srgbClr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484632" y="362102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/ crane levels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3209544" y="3694176"/>
            <a:ext cx="1975104" cy="118872"/>
          </a:xfrm>
          <a:prstGeom prst="roundRect">
            <a:avLst>
              <a:gd name="adj" fmla="val 177515"/>
            </a:avLst>
          </a:prstGeom>
          <a:solidFill>
            <a:srgbClr val="1E49E2"/>
          </a:solidFill>
          <a:ln w="12700">
            <a:solidFill>
              <a:srgbClr val="1E49E2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11480" y="3877056"/>
            <a:ext cx="69037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484632" y="387705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Upper tiers / roof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4233672" y="3950208"/>
            <a:ext cx="1463040" cy="118872"/>
          </a:xfrm>
          <a:prstGeom prst="roundRect">
            <a:avLst>
              <a:gd name="adj" fmla="val 177515"/>
            </a:avLst>
          </a:prstGeom>
          <a:solidFill>
            <a:srgbClr val="1E49E2"/>
          </a:solidFill>
          <a:ln w="12700">
            <a:solidFill>
              <a:srgbClr val="1E49E2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11480" y="4133088"/>
            <a:ext cx="6903720" cy="256032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>
                <a:alpha val="0"/>
              </a:srgbClr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484632" y="413308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Handover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5257800" y="4206240"/>
            <a:ext cx="438912" cy="118872"/>
          </a:xfrm>
          <a:prstGeom prst="roundRect">
            <a:avLst>
              <a:gd name="adj" fmla="val 177515"/>
            </a:avLst>
          </a:prstGeom>
          <a:solidFill>
            <a:srgbClr val="1F9D55"/>
          </a:solidFill>
          <a:ln w="12700">
            <a:solidFill>
              <a:srgbClr val="1F9D55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11480" y="4389120"/>
            <a:ext cx="6903720" cy="630936"/>
          </a:xfrm>
          <a:prstGeom prst="rect">
            <a:avLst/>
          </a:prstGeom>
          <a:solidFill>
            <a:srgbClr val="EDF1F6"/>
          </a:solidFill>
          <a:ln w="12700">
            <a:solidFill>
              <a:srgbClr val="EDF1F6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148840" y="2596896"/>
            <a:ext cx="914" cy="2423160"/>
          </a:xfrm>
          <a:prstGeom prst="line">
            <a:avLst/>
          </a:prstGeom>
          <a:noFill/>
          <a:ln w="6350">
            <a:solidFill>
              <a:srgbClr val="DDE2EA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660904" y="2596896"/>
            <a:ext cx="914" cy="2423160"/>
          </a:xfrm>
          <a:prstGeom prst="line">
            <a:avLst/>
          </a:prstGeom>
          <a:noFill/>
          <a:ln w="6350">
            <a:solidFill>
              <a:srgbClr val="DDE2EA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172968" y="2596896"/>
            <a:ext cx="914" cy="2423160"/>
          </a:xfrm>
          <a:prstGeom prst="line">
            <a:avLst/>
          </a:prstGeom>
          <a:noFill/>
          <a:ln w="6350">
            <a:solidFill>
              <a:srgbClr val="DDE2EA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685032" y="2596896"/>
            <a:ext cx="914" cy="2423160"/>
          </a:xfrm>
          <a:prstGeom prst="line">
            <a:avLst/>
          </a:prstGeom>
          <a:noFill/>
          <a:ln w="6350">
            <a:solidFill>
              <a:srgbClr val="DDE2EA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197096" y="2596896"/>
            <a:ext cx="914" cy="2423160"/>
          </a:xfrm>
          <a:prstGeom prst="line">
            <a:avLst/>
          </a:prstGeom>
          <a:noFill/>
          <a:ln w="6350">
            <a:solidFill>
              <a:srgbClr val="DDE2EA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4709160" y="2596896"/>
            <a:ext cx="914" cy="2423160"/>
          </a:xfrm>
          <a:prstGeom prst="line">
            <a:avLst/>
          </a:prstGeom>
          <a:noFill/>
          <a:ln w="6350">
            <a:solidFill>
              <a:srgbClr val="DDE2EA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221224" y="2596896"/>
            <a:ext cx="914" cy="2423160"/>
          </a:xfrm>
          <a:prstGeom prst="line">
            <a:avLst/>
          </a:prstGeom>
          <a:noFill/>
          <a:ln w="6350">
            <a:solidFill>
              <a:srgbClr val="DDE2EA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733288" y="2596896"/>
            <a:ext cx="914" cy="2423160"/>
          </a:xfrm>
          <a:prstGeom prst="line">
            <a:avLst/>
          </a:prstGeom>
          <a:noFill/>
          <a:ln w="6350">
            <a:solidFill>
              <a:srgbClr val="DDE2EA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245352" y="2596896"/>
            <a:ext cx="914" cy="2423160"/>
          </a:xfrm>
          <a:prstGeom prst="line">
            <a:avLst/>
          </a:prstGeom>
          <a:noFill/>
          <a:ln w="6350">
            <a:solidFill>
              <a:srgbClr val="DDE2EA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757416" y="2596896"/>
            <a:ext cx="914" cy="2423160"/>
          </a:xfrm>
          <a:prstGeom prst="line">
            <a:avLst/>
          </a:prstGeom>
          <a:noFill/>
          <a:ln w="6350">
            <a:solidFill>
              <a:srgbClr val="DDE2EA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2148840" y="2596896"/>
            <a:ext cx="1536192" cy="2423160"/>
          </a:xfrm>
          <a:prstGeom prst="rect">
            <a:avLst/>
          </a:prstGeom>
          <a:solidFill>
            <a:srgbClr val="1E49E2">
              <a:alpha val="7000"/>
            </a:srgbClr>
          </a:solidFill>
          <a:ln w="12700">
            <a:solidFill>
              <a:srgbClr val="1E49E2">
                <a:alpha val="0"/>
              </a:srgbClr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484632" y="4389120"/>
            <a:ext cx="1737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C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(MT)</a:t>
            </a:r>
            <a:endParaRPr lang="en-US" sz="750" dirty="0"/>
          </a:p>
        </p:txBody>
      </p:sp>
      <p:sp>
        <p:nvSpPr>
          <p:cNvPr id="90" name="Text 88"/>
          <p:cNvSpPr txBox="1"/>
          <p:nvPr/>
        </p:nvSpPr>
        <p:spPr>
          <a:xfrm>
            <a:off x="2148840" y="4389120"/>
            <a:ext cx="512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</a:t>
            </a:r>
            <a:endParaRPr lang="en-US" sz="750" dirty="0"/>
          </a:p>
        </p:txBody>
      </p:sp>
      <p:sp>
        <p:nvSpPr>
          <p:cNvPr id="91" name="Text 89"/>
          <p:cNvSpPr txBox="1"/>
          <p:nvPr/>
        </p:nvSpPr>
        <p:spPr>
          <a:xfrm>
            <a:off x="2660904" y="4389120"/>
            <a:ext cx="512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</a:t>
            </a:r>
            <a:endParaRPr lang="en-US" sz="750" dirty="0"/>
          </a:p>
        </p:txBody>
      </p:sp>
      <p:sp>
        <p:nvSpPr>
          <p:cNvPr id="92" name="Text 90"/>
          <p:cNvSpPr txBox="1"/>
          <p:nvPr/>
        </p:nvSpPr>
        <p:spPr>
          <a:xfrm>
            <a:off x="3172968" y="4389120"/>
            <a:ext cx="512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</a:t>
            </a:r>
            <a:endParaRPr lang="en-US" sz="750" dirty="0"/>
          </a:p>
        </p:txBody>
      </p:sp>
      <p:sp>
        <p:nvSpPr>
          <p:cNvPr id="93" name="Text 91"/>
          <p:cNvSpPr txBox="1"/>
          <p:nvPr/>
        </p:nvSpPr>
        <p:spPr>
          <a:xfrm>
            <a:off x="3685032" y="4389120"/>
            <a:ext cx="512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269</a:t>
            </a:r>
            <a:endParaRPr lang="en-US" sz="750" dirty="0"/>
          </a:p>
        </p:txBody>
      </p:sp>
      <p:sp>
        <p:nvSpPr>
          <p:cNvPr id="94" name="Text 92"/>
          <p:cNvSpPr txBox="1"/>
          <p:nvPr/>
        </p:nvSpPr>
        <p:spPr>
          <a:xfrm>
            <a:off x="4197096" y="4389120"/>
            <a:ext cx="512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750" dirty="0"/>
          </a:p>
        </p:txBody>
      </p:sp>
      <p:sp>
        <p:nvSpPr>
          <p:cNvPr id="95" name="Text 93"/>
          <p:cNvSpPr txBox="1"/>
          <p:nvPr/>
        </p:nvSpPr>
        <p:spPr>
          <a:xfrm>
            <a:off x="4709160" y="4389120"/>
            <a:ext cx="512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750" dirty="0"/>
          </a:p>
        </p:txBody>
      </p:sp>
      <p:sp>
        <p:nvSpPr>
          <p:cNvPr id="96" name="Text 94"/>
          <p:cNvSpPr txBox="1"/>
          <p:nvPr/>
        </p:nvSpPr>
        <p:spPr>
          <a:xfrm>
            <a:off x="5221224" y="4389120"/>
            <a:ext cx="512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750" dirty="0"/>
          </a:p>
        </p:txBody>
      </p:sp>
      <p:sp>
        <p:nvSpPr>
          <p:cNvPr id="97" name="Text 95"/>
          <p:cNvSpPr txBox="1"/>
          <p:nvPr/>
        </p:nvSpPr>
        <p:spPr>
          <a:xfrm>
            <a:off x="5733288" y="4389120"/>
            <a:ext cx="512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750" dirty="0"/>
          </a:p>
        </p:txBody>
      </p:sp>
      <p:sp>
        <p:nvSpPr>
          <p:cNvPr id="98" name="Text 96"/>
          <p:cNvSpPr txBox="1"/>
          <p:nvPr/>
        </p:nvSpPr>
        <p:spPr>
          <a:xfrm>
            <a:off x="6245352" y="4389120"/>
            <a:ext cx="512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750" dirty="0"/>
          </a:p>
        </p:txBody>
      </p:sp>
      <p:sp>
        <p:nvSpPr>
          <p:cNvPr id="99" name="Text 97"/>
          <p:cNvSpPr txBox="1"/>
          <p:nvPr/>
        </p:nvSpPr>
        <p:spPr>
          <a:xfrm>
            <a:off x="6757416" y="4389120"/>
            <a:ext cx="5577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C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1,019</a:t>
            </a:r>
            <a:endParaRPr lang="en-US" sz="750" dirty="0"/>
          </a:p>
        </p:txBody>
      </p:sp>
      <p:sp>
        <p:nvSpPr>
          <p:cNvPr id="100" name="Text 98"/>
          <p:cNvSpPr txBox="1"/>
          <p:nvPr/>
        </p:nvSpPr>
        <p:spPr>
          <a:xfrm>
            <a:off x="484632" y="4599432"/>
            <a:ext cx="1737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C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Erection (MT)</a:t>
            </a:r>
            <a:endParaRPr lang="en-US" sz="750" dirty="0"/>
          </a:p>
        </p:txBody>
      </p:sp>
      <p:sp>
        <p:nvSpPr>
          <p:cNvPr id="101" name="Text 99"/>
          <p:cNvSpPr txBox="1"/>
          <p:nvPr/>
        </p:nvSpPr>
        <p:spPr>
          <a:xfrm>
            <a:off x="2148840" y="4599432"/>
            <a:ext cx="512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750" dirty="0"/>
          </a:p>
        </p:txBody>
      </p:sp>
      <p:sp>
        <p:nvSpPr>
          <p:cNvPr id="102" name="Text 100"/>
          <p:cNvSpPr txBox="1"/>
          <p:nvPr/>
        </p:nvSpPr>
        <p:spPr>
          <a:xfrm>
            <a:off x="2660904" y="4599432"/>
            <a:ext cx="512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</a:t>
            </a:r>
            <a:endParaRPr lang="en-US" sz="750" dirty="0"/>
          </a:p>
        </p:txBody>
      </p:sp>
      <p:sp>
        <p:nvSpPr>
          <p:cNvPr id="103" name="Text 101"/>
          <p:cNvSpPr txBox="1"/>
          <p:nvPr/>
        </p:nvSpPr>
        <p:spPr>
          <a:xfrm>
            <a:off x="3172968" y="4599432"/>
            <a:ext cx="512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</a:t>
            </a:r>
            <a:endParaRPr lang="en-US" sz="750" dirty="0"/>
          </a:p>
        </p:txBody>
      </p:sp>
      <p:sp>
        <p:nvSpPr>
          <p:cNvPr id="104" name="Text 102"/>
          <p:cNvSpPr txBox="1"/>
          <p:nvPr/>
        </p:nvSpPr>
        <p:spPr>
          <a:xfrm>
            <a:off x="3685032" y="4599432"/>
            <a:ext cx="512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166</a:t>
            </a:r>
            <a:endParaRPr lang="en-US" sz="750" dirty="0"/>
          </a:p>
        </p:txBody>
      </p:sp>
      <p:sp>
        <p:nvSpPr>
          <p:cNvPr id="105" name="Text 103"/>
          <p:cNvSpPr txBox="1"/>
          <p:nvPr/>
        </p:nvSpPr>
        <p:spPr>
          <a:xfrm>
            <a:off x="4197096" y="4599432"/>
            <a:ext cx="512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168</a:t>
            </a:r>
            <a:endParaRPr lang="en-US" sz="750" dirty="0"/>
          </a:p>
        </p:txBody>
      </p:sp>
      <p:sp>
        <p:nvSpPr>
          <p:cNvPr id="106" name="Text 104"/>
          <p:cNvSpPr txBox="1"/>
          <p:nvPr/>
        </p:nvSpPr>
        <p:spPr>
          <a:xfrm>
            <a:off x="4709160" y="4599432"/>
            <a:ext cx="512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160</a:t>
            </a:r>
            <a:endParaRPr lang="en-US" sz="750" dirty="0"/>
          </a:p>
        </p:txBody>
      </p:sp>
      <p:sp>
        <p:nvSpPr>
          <p:cNvPr id="107" name="Text 105"/>
          <p:cNvSpPr txBox="1"/>
          <p:nvPr/>
        </p:nvSpPr>
        <p:spPr>
          <a:xfrm>
            <a:off x="5221224" y="4599432"/>
            <a:ext cx="512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</a:t>
            </a:r>
            <a:endParaRPr lang="en-US" sz="750" dirty="0"/>
          </a:p>
        </p:txBody>
      </p:sp>
      <p:sp>
        <p:nvSpPr>
          <p:cNvPr id="108" name="Text 106"/>
          <p:cNvSpPr txBox="1"/>
          <p:nvPr/>
        </p:nvSpPr>
        <p:spPr>
          <a:xfrm>
            <a:off x="5733288" y="4599432"/>
            <a:ext cx="512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750" dirty="0"/>
          </a:p>
        </p:txBody>
      </p:sp>
      <p:sp>
        <p:nvSpPr>
          <p:cNvPr id="109" name="Text 107"/>
          <p:cNvSpPr txBox="1"/>
          <p:nvPr/>
        </p:nvSpPr>
        <p:spPr>
          <a:xfrm>
            <a:off x="6245352" y="4599432"/>
            <a:ext cx="512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750" dirty="0"/>
          </a:p>
        </p:txBody>
      </p:sp>
      <p:sp>
        <p:nvSpPr>
          <p:cNvPr id="110" name="Text 108"/>
          <p:cNvSpPr txBox="1"/>
          <p:nvPr/>
        </p:nvSpPr>
        <p:spPr>
          <a:xfrm>
            <a:off x="6757416" y="4599432"/>
            <a:ext cx="5577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C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1,019</a:t>
            </a:r>
            <a:endParaRPr lang="en-US" sz="750" dirty="0"/>
          </a:p>
        </p:txBody>
      </p:sp>
      <p:sp>
        <p:nvSpPr>
          <p:cNvPr id="111" name="Text 109"/>
          <p:cNvSpPr txBox="1"/>
          <p:nvPr/>
        </p:nvSpPr>
        <p:spPr>
          <a:xfrm>
            <a:off x="484632" y="4809744"/>
            <a:ext cx="1737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Cum. erection (% of scope)</a:t>
            </a:r>
            <a:endParaRPr lang="en-US" sz="700" dirty="0"/>
          </a:p>
        </p:txBody>
      </p:sp>
      <p:sp>
        <p:nvSpPr>
          <p:cNvPr id="112" name="Text 110"/>
          <p:cNvSpPr txBox="1"/>
          <p:nvPr/>
        </p:nvSpPr>
        <p:spPr>
          <a:xfrm>
            <a:off x="2148840" y="4809744"/>
            <a:ext cx="512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750" dirty="0"/>
          </a:p>
        </p:txBody>
      </p:sp>
      <p:sp>
        <p:nvSpPr>
          <p:cNvPr id="113" name="Text 111"/>
          <p:cNvSpPr txBox="1"/>
          <p:nvPr/>
        </p:nvSpPr>
        <p:spPr>
          <a:xfrm>
            <a:off x="2660904" y="4809744"/>
            <a:ext cx="512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endParaRPr lang="en-US" sz="750" dirty="0"/>
          </a:p>
        </p:txBody>
      </p:sp>
      <p:sp>
        <p:nvSpPr>
          <p:cNvPr id="114" name="Text 112"/>
          <p:cNvSpPr txBox="1"/>
          <p:nvPr/>
        </p:nvSpPr>
        <p:spPr>
          <a:xfrm>
            <a:off x="3172968" y="4809744"/>
            <a:ext cx="512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750" dirty="0"/>
          </a:p>
        </p:txBody>
      </p:sp>
      <p:sp>
        <p:nvSpPr>
          <p:cNvPr id="115" name="Text 113"/>
          <p:cNvSpPr txBox="1"/>
          <p:nvPr/>
        </p:nvSpPr>
        <p:spPr>
          <a:xfrm>
            <a:off x="3685032" y="4809744"/>
            <a:ext cx="512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750" dirty="0"/>
          </a:p>
        </p:txBody>
      </p:sp>
      <p:sp>
        <p:nvSpPr>
          <p:cNvPr id="116" name="Text 114"/>
          <p:cNvSpPr txBox="1"/>
          <p:nvPr/>
        </p:nvSpPr>
        <p:spPr>
          <a:xfrm>
            <a:off x="4197096" y="4809744"/>
            <a:ext cx="512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750" dirty="0"/>
          </a:p>
        </p:txBody>
      </p:sp>
      <p:sp>
        <p:nvSpPr>
          <p:cNvPr id="117" name="Text 115"/>
          <p:cNvSpPr txBox="1"/>
          <p:nvPr/>
        </p:nvSpPr>
        <p:spPr>
          <a:xfrm>
            <a:off x="4709160" y="4809744"/>
            <a:ext cx="512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750" dirty="0"/>
          </a:p>
        </p:txBody>
      </p:sp>
      <p:sp>
        <p:nvSpPr>
          <p:cNvPr id="118" name="Text 116"/>
          <p:cNvSpPr txBox="1"/>
          <p:nvPr/>
        </p:nvSpPr>
        <p:spPr>
          <a:xfrm>
            <a:off x="5221224" y="4809744"/>
            <a:ext cx="512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750" dirty="0"/>
          </a:p>
        </p:txBody>
      </p:sp>
      <p:sp>
        <p:nvSpPr>
          <p:cNvPr id="119" name="Text 117"/>
          <p:cNvSpPr txBox="1"/>
          <p:nvPr/>
        </p:nvSpPr>
        <p:spPr>
          <a:xfrm>
            <a:off x="5733288" y="4809744"/>
            <a:ext cx="512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750" dirty="0"/>
          </a:p>
        </p:txBody>
      </p:sp>
      <p:sp>
        <p:nvSpPr>
          <p:cNvPr id="120" name="Text 118"/>
          <p:cNvSpPr txBox="1"/>
          <p:nvPr/>
        </p:nvSpPr>
        <p:spPr>
          <a:xfrm>
            <a:off x="6245352" y="4809744"/>
            <a:ext cx="512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750" dirty="0"/>
          </a:p>
        </p:txBody>
      </p:sp>
      <p:sp>
        <p:nvSpPr>
          <p:cNvPr id="121" name="Text 119"/>
          <p:cNvSpPr txBox="1"/>
          <p:nvPr/>
        </p:nvSpPr>
        <p:spPr>
          <a:xfrm>
            <a:off x="6757416" y="4809744"/>
            <a:ext cx="5577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750" dirty="0"/>
          </a:p>
        </p:txBody>
      </p:sp>
      <p:sp>
        <p:nvSpPr>
          <p:cNvPr id="122" name="Shape 120"/>
          <p:cNvSpPr/>
          <p:nvPr/>
        </p:nvSpPr>
        <p:spPr>
          <a:xfrm>
            <a:off x="411480" y="4389120"/>
            <a:ext cx="6903720" cy="0"/>
          </a:xfrm>
          <a:prstGeom prst="line">
            <a:avLst/>
          </a:prstGeom>
          <a:noFill/>
          <a:ln w="9525">
            <a:solidFill>
              <a:srgbClr val="0C233C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11480" y="5248656"/>
            <a:ext cx="1197864" cy="786384"/>
          </a:xfrm>
          <a:prstGeom prst="chevron">
            <a:avLst/>
          </a:prstGeom>
          <a:solidFill>
            <a:srgbClr val="00B8F5"/>
          </a:solidFill>
          <a:ln w="12700">
            <a:solidFill>
              <a:srgbClr val="00B8F5">
                <a:alpha val="0"/>
              </a:srgbClr>
            </a:solidFill>
            <a:prstDash val="solid"/>
          </a:ln>
        </p:spPr>
      </p:sp>
      <p:sp>
        <p:nvSpPr>
          <p:cNvPr id="124" name="Text 122"/>
          <p:cNvSpPr txBox="1"/>
          <p:nvPr/>
        </p:nvSpPr>
        <p:spPr>
          <a:xfrm>
            <a:off x="685800" y="5321808"/>
            <a:ext cx="813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Oct-26</a:t>
            </a:r>
            <a:endParaRPr lang="en-US" sz="1100" dirty="0"/>
          </a:p>
        </p:txBody>
      </p:sp>
      <p:sp>
        <p:nvSpPr>
          <p:cNvPr id="125" name="Text 123"/>
          <p:cNvSpPr txBox="1"/>
          <p:nvPr/>
        </p:nvSpPr>
        <p:spPr>
          <a:xfrm>
            <a:off x="685800" y="5632704"/>
            <a:ext cx="813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 Supply start</a:t>
            </a:r>
            <a:endParaRPr lang="en-US" sz="800" dirty="0"/>
          </a:p>
        </p:txBody>
      </p:sp>
      <p:sp>
        <p:nvSpPr>
          <p:cNvPr id="126" name="Shape 124"/>
          <p:cNvSpPr/>
          <p:nvPr/>
        </p:nvSpPr>
        <p:spPr>
          <a:xfrm>
            <a:off x="1764792" y="5248656"/>
            <a:ext cx="1197864" cy="786384"/>
          </a:xfrm>
          <a:prstGeom prst="chevron">
            <a:avLst/>
          </a:prstGeom>
          <a:solidFill>
            <a:srgbClr val="1E49E2"/>
          </a:solidFill>
          <a:ln w="12700">
            <a:solidFill>
              <a:srgbClr val="1E49E2">
                <a:alpha val="0"/>
              </a:srgbClr>
            </a:solidFill>
            <a:prstDash val="solid"/>
          </a:ln>
        </p:spPr>
      </p:sp>
      <p:sp>
        <p:nvSpPr>
          <p:cNvPr id="127" name="Text 125"/>
          <p:cNvSpPr txBox="1"/>
          <p:nvPr/>
        </p:nvSpPr>
        <p:spPr>
          <a:xfrm>
            <a:off x="2039112" y="5321808"/>
            <a:ext cx="813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Oct-26</a:t>
            </a:r>
            <a:endParaRPr lang="en-US" sz="1100" dirty="0"/>
          </a:p>
        </p:txBody>
      </p:sp>
      <p:sp>
        <p:nvSpPr>
          <p:cNvPr id="128" name="Text 126"/>
          <p:cNvSpPr txBox="1"/>
          <p:nvPr/>
        </p:nvSpPr>
        <p:spPr>
          <a:xfrm>
            <a:off x="2039112" y="5632704"/>
            <a:ext cx="813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 Erection start</a:t>
            </a:r>
            <a:endParaRPr lang="en-US" sz="800" dirty="0"/>
          </a:p>
        </p:txBody>
      </p:sp>
      <p:sp>
        <p:nvSpPr>
          <p:cNvPr id="129" name="Shape 127"/>
          <p:cNvSpPr/>
          <p:nvPr/>
        </p:nvSpPr>
        <p:spPr>
          <a:xfrm>
            <a:off x="3118104" y="5248656"/>
            <a:ext cx="1197864" cy="786384"/>
          </a:xfrm>
          <a:prstGeom prst="chevron">
            <a:avLst/>
          </a:prstGeom>
          <a:solidFill>
            <a:srgbClr val="00B8F5"/>
          </a:solidFill>
          <a:ln w="12700">
            <a:solidFill>
              <a:srgbClr val="00B8F5">
                <a:alpha val="0"/>
              </a:srgbClr>
            </a:solidFill>
            <a:prstDash val="solid"/>
          </a:ln>
        </p:spPr>
      </p:sp>
      <p:sp>
        <p:nvSpPr>
          <p:cNvPr id="130" name="Text 128"/>
          <p:cNvSpPr txBox="1"/>
          <p:nvPr/>
        </p:nvSpPr>
        <p:spPr>
          <a:xfrm>
            <a:off x="3392424" y="5321808"/>
            <a:ext cx="813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Jan-27</a:t>
            </a:r>
            <a:endParaRPr lang="en-US" sz="1100" dirty="0"/>
          </a:p>
        </p:txBody>
      </p:sp>
      <p:sp>
        <p:nvSpPr>
          <p:cNvPr id="131" name="Text 129"/>
          <p:cNvSpPr txBox="1"/>
          <p:nvPr/>
        </p:nvSpPr>
        <p:spPr>
          <a:xfrm>
            <a:off x="3392424" y="5632704"/>
            <a:ext cx="813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complete</a:t>
            </a:r>
            <a:endParaRPr lang="en-US" sz="800" dirty="0"/>
          </a:p>
        </p:txBody>
      </p:sp>
      <p:sp>
        <p:nvSpPr>
          <p:cNvPr id="132" name="Shape 130"/>
          <p:cNvSpPr/>
          <p:nvPr/>
        </p:nvSpPr>
        <p:spPr>
          <a:xfrm>
            <a:off x="4471416" y="5248656"/>
            <a:ext cx="1197864" cy="786384"/>
          </a:xfrm>
          <a:prstGeom prst="chevron">
            <a:avLst/>
          </a:prstGeom>
          <a:solidFill>
            <a:srgbClr val="0C233C"/>
          </a:solidFill>
          <a:ln w="12700">
            <a:solidFill>
              <a:srgbClr val="0C233C">
                <a:alpha val="0"/>
              </a:srgbClr>
            </a:solidFill>
            <a:prstDash val="solid"/>
          </a:ln>
        </p:spPr>
      </p:sp>
      <p:sp>
        <p:nvSpPr>
          <p:cNvPr id="133" name="Text 131"/>
          <p:cNvSpPr txBox="1"/>
          <p:nvPr/>
        </p:nvSpPr>
        <p:spPr>
          <a:xfrm>
            <a:off x="4745736" y="5321808"/>
            <a:ext cx="813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Apr-27</a:t>
            </a:r>
            <a:endParaRPr lang="en-US" sz="1100" dirty="0"/>
          </a:p>
        </p:txBody>
      </p:sp>
      <p:sp>
        <p:nvSpPr>
          <p:cNvPr id="134" name="Text 132"/>
          <p:cNvSpPr txBox="1"/>
          <p:nvPr/>
        </p:nvSpPr>
        <p:spPr>
          <a:xfrm>
            <a:off x="4745736" y="5632704"/>
            <a:ext cx="813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Erection finish</a:t>
            </a:r>
            <a:endParaRPr lang="en-US" sz="800" dirty="0"/>
          </a:p>
        </p:txBody>
      </p:sp>
      <p:sp>
        <p:nvSpPr>
          <p:cNvPr id="135" name="Text 133"/>
          <p:cNvSpPr txBox="1"/>
          <p:nvPr/>
        </p:nvSpPr>
        <p:spPr>
          <a:xfrm>
            <a:off x="411480" y="6144768"/>
            <a:ext cx="6903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view:</a:t>
            </a:r>
            <a:pPr algn="l" indent="0" marL="0">
              <a:buNone/>
            </a:pPr>
            <a:r>
              <a:rPr lang="en-US" sz="78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Material waiting at site builds to ≈423 MT by Jan-27 (supply ends 4 months before erection) - plan laydown and erection sequence.</a:t>
            </a:r>
            <a:endParaRPr lang="en-US" sz="780" dirty="0"/>
          </a:p>
        </p:txBody>
      </p:sp>
      <p:sp>
        <p:nvSpPr>
          <p:cNvPr id="136" name="Shape 134"/>
          <p:cNvSpPr/>
          <p:nvPr/>
        </p:nvSpPr>
        <p:spPr>
          <a:xfrm>
            <a:off x="7543800" y="2176272"/>
            <a:ext cx="82296" cy="82296"/>
          </a:xfrm>
          <a:prstGeom prst="rect">
            <a:avLst/>
          </a:prstGeom>
          <a:solidFill>
            <a:srgbClr val="1E49E2"/>
          </a:solidFill>
          <a:ln w="12700">
            <a:solidFill>
              <a:srgbClr val="1E49E2">
                <a:alpha val="0"/>
              </a:srgbClr>
            </a:solidFill>
            <a:prstDash val="solid"/>
          </a:ln>
        </p:spPr>
      </p:sp>
      <p:sp>
        <p:nvSpPr>
          <p:cNvPr id="137" name="Text 135"/>
          <p:cNvSpPr txBox="1"/>
          <p:nvPr/>
        </p:nvSpPr>
        <p:spPr>
          <a:xfrm>
            <a:off x="7690104" y="2103120"/>
            <a:ext cx="4233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C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CONCERNS &amp; ACTIONS</a:t>
            </a:r>
            <a:endParaRPr lang="en-US" sz="950" dirty="0"/>
          </a:p>
        </p:txBody>
      </p:sp>
      <p:sp>
        <p:nvSpPr>
          <p:cNvPr id="138" name="Shape 136"/>
          <p:cNvSpPr/>
          <p:nvPr/>
        </p:nvSpPr>
        <p:spPr>
          <a:xfrm>
            <a:off x="7543800" y="2359152"/>
            <a:ext cx="4233672" cy="658368"/>
          </a:xfrm>
          <a:prstGeom prst="rect">
            <a:avLst/>
          </a:prstGeom>
          <a:solidFill>
            <a:srgbClr val="F3F6FA"/>
          </a:solidFill>
          <a:ln w="6350">
            <a:solidFill>
              <a:srgbClr val="DDE2EA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7616952" y="2441448"/>
            <a:ext cx="749808" cy="173736"/>
          </a:xfrm>
          <a:prstGeom prst="roundRect">
            <a:avLst>
              <a:gd name="adj" fmla="val 83102"/>
            </a:avLst>
          </a:prstGeom>
          <a:solidFill>
            <a:srgbClr val="00B8F5"/>
          </a:solidFill>
          <a:ln w="12700">
            <a:solidFill>
              <a:srgbClr val="00B8F5">
                <a:alpha val="0"/>
              </a:srgbClr>
            </a:solidFill>
            <a:prstDash val="solid"/>
          </a:ln>
        </p:spPr>
      </p:sp>
      <p:sp>
        <p:nvSpPr>
          <p:cNvPr id="140" name="Text 138"/>
          <p:cNvSpPr txBox="1"/>
          <p:nvPr/>
        </p:nvSpPr>
        <p:spPr>
          <a:xfrm>
            <a:off x="7616952" y="2441448"/>
            <a:ext cx="74980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</a:t>
            </a:r>
            <a:endParaRPr lang="en-US" sz="650" dirty="0"/>
          </a:p>
        </p:txBody>
      </p:sp>
      <p:sp>
        <p:nvSpPr>
          <p:cNvPr id="141" name="Text 139"/>
          <p:cNvSpPr txBox="1"/>
          <p:nvPr/>
        </p:nvSpPr>
        <p:spPr>
          <a:xfrm>
            <a:off x="8458200" y="2395728"/>
            <a:ext cx="3246120" cy="381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 must jump from 0 MT in Sep-26 to 269 MT/month; Oct and Jan-27 alone need 519 MT.</a:t>
            </a:r>
            <a:endParaRPr lang="en-US" sz="740" dirty="0"/>
          </a:p>
        </p:txBody>
      </p:sp>
      <p:sp>
        <p:nvSpPr>
          <p:cNvPr id="142" name="Text 140"/>
          <p:cNvSpPr txBox="1"/>
          <p:nvPr/>
        </p:nvSpPr>
        <p:spPr>
          <a:xfrm>
            <a:off x="8458200" y="2754173"/>
            <a:ext cx="3246120" cy="25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E49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</a:t>
            </a:r>
            <a:pPr algn="l" indent="0" marL="0">
              <a:buNone/>
            </a:pPr>
            <a:r>
              <a:rPr lang="en-US" sz="720" dirty="0">
                <a:solidFill>
                  <a:srgbClr val="1E49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Lock fabrication lot plan; weekly dispatch vs 250/250/250/269 MT.</a:t>
            </a:r>
            <a:endParaRPr lang="en-US" sz="720" dirty="0"/>
          </a:p>
        </p:txBody>
      </p:sp>
      <p:sp>
        <p:nvSpPr>
          <p:cNvPr id="143" name="Shape 141"/>
          <p:cNvSpPr/>
          <p:nvPr/>
        </p:nvSpPr>
        <p:spPr>
          <a:xfrm>
            <a:off x="7543800" y="3072384"/>
            <a:ext cx="4233672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DE2EA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7616952" y="3154680"/>
            <a:ext cx="749808" cy="173736"/>
          </a:xfrm>
          <a:prstGeom prst="roundRect">
            <a:avLst>
              <a:gd name="adj" fmla="val 83102"/>
            </a:avLst>
          </a:prstGeom>
          <a:solidFill>
            <a:srgbClr val="FD349C"/>
          </a:solidFill>
          <a:ln w="12700">
            <a:solidFill>
              <a:srgbClr val="FD349C">
                <a:alpha val="0"/>
              </a:srgbClr>
            </a:solidFill>
            <a:prstDash val="solid"/>
          </a:ln>
        </p:spPr>
      </p:sp>
      <p:sp>
        <p:nvSpPr>
          <p:cNvPr id="145" name="Text 143"/>
          <p:cNvSpPr txBox="1"/>
          <p:nvPr/>
        </p:nvSpPr>
        <p:spPr>
          <a:xfrm>
            <a:off x="7616952" y="3154680"/>
            <a:ext cx="74980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</a:t>
            </a:r>
            <a:endParaRPr lang="en-US" sz="650" dirty="0"/>
          </a:p>
        </p:txBody>
      </p:sp>
      <p:sp>
        <p:nvSpPr>
          <p:cNvPr id="146" name="Text 144"/>
          <p:cNvSpPr txBox="1"/>
          <p:nvPr/>
        </p:nvSpPr>
        <p:spPr>
          <a:xfrm>
            <a:off x="8458200" y="3108960"/>
            <a:ext cx="3246120" cy="381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Erection starts first and needs surveyed starter-bay foundations now.</a:t>
            </a:r>
            <a:endParaRPr lang="en-US" sz="740" dirty="0"/>
          </a:p>
        </p:txBody>
      </p:sp>
      <p:sp>
        <p:nvSpPr>
          <p:cNvPr id="147" name="Text 145"/>
          <p:cNvSpPr txBox="1"/>
          <p:nvPr/>
        </p:nvSpPr>
        <p:spPr>
          <a:xfrm>
            <a:off x="8458200" y="3467405"/>
            <a:ext cx="3246120" cy="25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E49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</a:t>
            </a:r>
            <a:pPr algn="l" indent="0" marL="0">
              <a:buNone/>
            </a:pPr>
            <a:r>
              <a:rPr lang="en-US" sz="720" dirty="0">
                <a:solidFill>
                  <a:srgbClr val="1E49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Release surveyed starter-bay foundations / anchor bolts.</a:t>
            </a:r>
            <a:endParaRPr lang="en-US" sz="720" dirty="0"/>
          </a:p>
        </p:txBody>
      </p:sp>
      <p:sp>
        <p:nvSpPr>
          <p:cNvPr id="148" name="Shape 146"/>
          <p:cNvSpPr/>
          <p:nvPr/>
        </p:nvSpPr>
        <p:spPr>
          <a:xfrm>
            <a:off x="7543800" y="3785616"/>
            <a:ext cx="4233672" cy="658368"/>
          </a:xfrm>
          <a:prstGeom prst="rect">
            <a:avLst/>
          </a:prstGeom>
          <a:solidFill>
            <a:srgbClr val="F3F6FA"/>
          </a:solidFill>
          <a:ln w="6350">
            <a:solidFill>
              <a:srgbClr val="DDE2EA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7616952" y="3867912"/>
            <a:ext cx="749808" cy="173736"/>
          </a:xfrm>
          <a:prstGeom prst="roundRect">
            <a:avLst>
              <a:gd name="adj" fmla="val 83102"/>
            </a:avLst>
          </a:prstGeom>
          <a:solidFill>
            <a:srgbClr val="1E49E2"/>
          </a:solidFill>
          <a:ln w="12700">
            <a:solidFill>
              <a:srgbClr val="1E49E2">
                <a:alpha val="0"/>
              </a:srgbClr>
            </a:solidFill>
            <a:prstDash val="solid"/>
          </a:ln>
        </p:spPr>
      </p:sp>
      <p:sp>
        <p:nvSpPr>
          <p:cNvPr id="150" name="Text 148"/>
          <p:cNvSpPr txBox="1"/>
          <p:nvPr/>
        </p:nvSpPr>
        <p:spPr>
          <a:xfrm>
            <a:off x="7616952" y="3867912"/>
            <a:ext cx="74980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ERECTION</a:t>
            </a:r>
            <a:endParaRPr lang="en-US" sz="650" dirty="0"/>
          </a:p>
        </p:txBody>
      </p:sp>
      <p:sp>
        <p:nvSpPr>
          <p:cNvPr id="151" name="Text 149"/>
          <p:cNvSpPr txBox="1"/>
          <p:nvPr/>
        </p:nvSpPr>
        <p:spPr>
          <a:xfrm>
            <a:off x="8458200" y="3822192"/>
            <a:ext cx="3246120" cy="381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Erection starts Oct-26 and must hold 50–200 MT/month for 7 months.</a:t>
            </a:r>
            <a:endParaRPr lang="en-US" sz="740" dirty="0"/>
          </a:p>
        </p:txBody>
      </p:sp>
      <p:sp>
        <p:nvSpPr>
          <p:cNvPr id="152" name="Text 150"/>
          <p:cNvSpPr txBox="1"/>
          <p:nvPr/>
        </p:nvSpPr>
        <p:spPr>
          <a:xfrm>
            <a:off x="8458200" y="4180637"/>
            <a:ext cx="3246120" cy="25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E49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</a:t>
            </a:r>
            <a:pPr algn="l" indent="0" marL="0">
              <a:buNone/>
            </a:pPr>
            <a:r>
              <a:rPr lang="en-US" sz="720" dirty="0">
                <a:solidFill>
                  <a:srgbClr val="1E49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Mobilise crane and erection crew before Oct-26.</a:t>
            </a:r>
            <a:endParaRPr lang="en-US" sz="720" dirty="0"/>
          </a:p>
        </p:txBody>
      </p:sp>
      <p:sp>
        <p:nvSpPr>
          <p:cNvPr id="153" name="Shape 151"/>
          <p:cNvSpPr/>
          <p:nvPr/>
        </p:nvSpPr>
        <p:spPr>
          <a:xfrm>
            <a:off x="7543800" y="5038344"/>
            <a:ext cx="82296" cy="82296"/>
          </a:xfrm>
          <a:prstGeom prst="rect">
            <a:avLst/>
          </a:prstGeom>
          <a:solidFill>
            <a:srgbClr val="1E49E2"/>
          </a:solidFill>
          <a:ln w="12700">
            <a:solidFill>
              <a:srgbClr val="1E49E2">
                <a:alpha val="0"/>
              </a:srgbClr>
            </a:solidFill>
            <a:prstDash val="solid"/>
          </a:ln>
        </p:spPr>
      </p:sp>
      <p:sp>
        <p:nvSpPr>
          <p:cNvPr id="154" name="Text 152"/>
          <p:cNvSpPr txBox="1"/>
          <p:nvPr/>
        </p:nvSpPr>
        <p:spPr>
          <a:xfrm>
            <a:off x="7690104" y="4974336"/>
            <a:ext cx="4233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C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vs DRAWINGS vs SUPPLY vs ERECTION (MT)</a:t>
            </a:r>
            <a:endParaRPr lang="en-US" sz="950" dirty="0"/>
          </a:p>
        </p:txBody>
      </p:sp>
      <p:sp>
        <p:nvSpPr>
          <p:cNvPr id="155" name="Shape 153"/>
          <p:cNvSpPr/>
          <p:nvPr/>
        </p:nvSpPr>
        <p:spPr>
          <a:xfrm>
            <a:off x="7543800" y="5212080"/>
            <a:ext cx="4233672" cy="201168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>
                <a:alpha val="0"/>
              </a:srgbClr>
            </a:solidFill>
            <a:prstDash val="solid"/>
          </a:ln>
        </p:spPr>
      </p:sp>
      <p:sp>
        <p:nvSpPr>
          <p:cNvPr id="156" name="Text 154"/>
          <p:cNvSpPr txBox="1"/>
          <p:nvPr/>
        </p:nvSpPr>
        <p:spPr>
          <a:xfrm>
            <a:off x="7616952" y="5212080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en-US" sz="780" dirty="0"/>
          </a:p>
        </p:txBody>
      </p:sp>
      <p:sp>
        <p:nvSpPr>
          <p:cNvPr id="157" name="Shape 155"/>
          <p:cNvSpPr/>
          <p:nvPr/>
        </p:nvSpPr>
        <p:spPr>
          <a:xfrm>
            <a:off x="8750808" y="5248656"/>
            <a:ext cx="1783080" cy="128016"/>
          </a:xfrm>
          <a:prstGeom prst="rect">
            <a:avLst/>
          </a:prstGeom>
          <a:solidFill>
            <a:srgbClr val="DDE2EA"/>
          </a:solidFill>
          <a:ln w="12700">
            <a:solidFill>
              <a:srgbClr val="DDE2EA">
                <a:alpha val="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8750808" y="5248656"/>
            <a:ext cx="1783080" cy="128016"/>
          </a:xfrm>
          <a:prstGeom prst="rect">
            <a:avLst/>
          </a:prstGeom>
          <a:solidFill>
            <a:srgbClr val="0C233C"/>
          </a:solidFill>
          <a:ln w="12700">
            <a:solidFill>
              <a:srgbClr val="0C233C">
                <a:alpha val="0"/>
              </a:srgbClr>
            </a:solidFill>
            <a:prstDash val="solid"/>
          </a:ln>
        </p:spPr>
      </p:sp>
      <p:sp>
        <p:nvSpPr>
          <p:cNvPr id="159" name="Text 157"/>
          <p:cNvSpPr txBox="1"/>
          <p:nvPr/>
        </p:nvSpPr>
        <p:spPr>
          <a:xfrm>
            <a:off x="10607040" y="521208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1,019 MT</a:t>
            </a:r>
            <a:endParaRPr lang="en-US" sz="780" dirty="0"/>
          </a:p>
        </p:txBody>
      </p:sp>
      <p:sp>
        <p:nvSpPr>
          <p:cNvPr id="160" name="Shape 158"/>
          <p:cNvSpPr/>
          <p:nvPr/>
        </p:nvSpPr>
        <p:spPr>
          <a:xfrm>
            <a:off x="7543800" y="5449824"/>
            <a:ext cx="4233672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1" name="Text 159"/>
          <p:cNvSpPr txBox="1"/>
          <p:nvPr/>
        </p:nvSpPr>
        <p:spPr>
          <a:xfrm>
            <a:off x="7616952" y="5449824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Drawings released</a:t>
            </a:r>
            <a:endParaRPr lang="en-US" sz="780" dirty="0"/>
          </a:p>
        </p:txBody>
      </p:sp>
      <p:sp>
        <p:nvSpPr>
          <p:cNvPr id="162" name="Shape 160"/>
          <p:cNvSpPr/>
          <p:nvPr/>
        </p:nvSpPr>
        <p:spPr>
          <a:xfrm>
            <a:off x="8750808" y="5486400"/>
            <a:ext cx="1783080" cy="128016"/>
          </a:xfrm>
          <a:prstGeom prst="rect">
            <a:avLst/>
          </a:prstGeom>
          <a:solidFill>
            <a:srgbClr val="DDE2EA"/>
          </a:solidFill>
          <a:ln w="12700">
            <a:solidFill>
              <a:srgbClr val="DDE2EA">
                <a:alpha val="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8750808" y="5486400"/>
            <a:ext cx="1783080" cy="12801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164" name="Text 162"/>
          <p:cNvSpPr txBox="1"/>
          <p:nvPr/>
        </p:nvSpPr>
        <p:spPr>
          <a:xfrm>
            <a:off x="10607040" y="544982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1,019 MT  ·  100%</a:t>
            </a:r>
            <a:endParaRPr lang="en-US" sz="780" dirty="0"/>
          </a:p>
        </p:txBody>
      </p:sp>
      <p:sp>
        <p:nvSpPr>
          <p:cNvPr id="165" name="Shape 163"/>
          <p:cNvSpPr/>
          <p:nvPr/>
        </p:nvSpPr>
        <p:spPr>
          <a:xfrm>
            <a:off x="7543800" y="5687568"/>
            <a:ext cx="4233672" cy="201168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>
                <a:alpha val="0"/>
              </a:srgbClr>
            </a:solidFill>
            <a:prstDash val="solid"/>
          </a:ln>
        </p:spPr>
      </p:sp>
      <p:sp>
        <p:nvSpPr>
          <p:cNvPr id="166" name="Text 164"/>
          <p:cNvSpPr txBox="1"/>
          <p:nvPr/>
        </p:nvSpPr>
        <p:spPr>
          <a:xfrm>
            <a:off x="7616952" y="5687568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Supplied till Sep</a:t>
            </a:r>
            <a:endParaRPr lang="en-US" sz="780" dirty="0"/>
          </a:p>
        </p:txBody>
      </p:sp>
      <p:sp>
        <p:nvSpPr>
          <p:cNvPr id="167" name="Shape 165"/>
          <p:cNvSpPr/>
          <p:nvPr/>
        </p:nvSpPr>
        <p:spPr>
          <a:xfrm>
            <a:off x="8750808" y="5724144"/>
            <a:ext cx="1783080" cy="128016"/>
          </a:xfrm>
          <a:prstGeom prst="rect">
            <a:avLst/>
          </a:prstGeom>
          <a:solidFill>
            <a:srgbClr val="DDE2EA"/>
          </a:solidFill>
          <a:ln w="12700">
            <a:solidFill>
              <a:srgbClr val="DDE2EA">
                <a:alpha val="0"/>
              </a:srgbClr>
            </a:solidFill>
            <a:prstDash val="solid"/>
          </a:ln>
        </p:spPr>
      </p:sp>
      <p:sp>
        <p:nvSpPr>
          <p:cNvPr id="168" name="Text 166"/>
          <p:cNvSpPr txBox="1"/>
          <p:nvPr/>
        </p:nvSpPr>
        <p:spPr>
          <a:xfrm>
            <a:off x="10607040" y="568756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Nil</a:t>
            </a:r>
            <a:endParaRPr lang="en-US" sz="780" dirty="0"/>
          </a:p>
        </p:txBody>
      </p:sp>
      <p:sp>
        <p:nvSpPr>
          <p:cNvPr id="169" name="Shape 167"/>
          <p:cNvSpPr/>
          <p:nvPr/>
        </p:nvSpPr>
        <p:spPr>
          <a:xfrm>
            <a:off x="7543800" y="5925312"/>
            <a:ext cx="4233672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0" name="Text 168"/>
          <p:cNvSpPr txBox="1"/>
          <p:nvPr/>
        </p:nvSpPr>
        <p:spPr>
          <a:xfrm>
            <a:off x="7616952" y="5925312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Erected till date</a:t>
            </a:r>
            <a:endParaRPr lang="en-US" sz="780" dirty="0"/>
          </a:p>
        </p:txBody>
      </p:sp>
      <p:sp>
        <p:nvSpPr>
          <p:cNvPr id="171" name="Shape 169"/>
          <p:cNvSpPr/>
          <p:nvPr/>
        </p:nvSpPr>
        <p:spPr>
          <a:xfrm>
            <a:off x="8750808" y="5961888"/>
            <a:ext cx="1783080" cy="128016"/>
          </a:xfrm>
          <a:prstGeom prst="rect">
            <a:avLst/>
          </a:prstGeom>
          <a:solidFill>
            <a:srgbClr val="DDE2EA"/>
          </a:solidFill>
          <a:ln w="12700">
            <a:solidFill>
              <a:srgbClr val="DDE2EA">
                <a:alpha val="0"/>
              </a:srgbClr>
            </a:solidFill>
            <a:prstDash val="solid"/>
          </a:ln>
        </p:spPr>
      </p:sp>
      <p:sp>
        <p:nvSpPr>
          <p:cNvPr id="172" name="Text 170"/>
          <p:cNvSpPr txBox="1"/>
          <p:nvPr/>
        </p:nvSpPr>
        <p:spPr>
          <a:xfrm>
            <a:off x="10607040" y="592531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MT  ·  starts Oct-26</a:t>
            </a:r>
            <a:endParaRPr lang="en-US" sz="780" dirty="0"/>
          </a:p>
        </p:txBody>
      </p:sp>
      <p:sp>
        <p:nvSpPr>
          <p:cNvPr id="173" name="Text 171"/>
          <p:cNvSpPr txBox="1"/>
          <p:nvPr/>
        </p:nvSpPr>
        <p:spPr>
          <a:xfrm>
            <a:off x="7543800" y="6199632"/>
            <a:ext cx="4233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C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Drawings complete; supply starts Oct-26; erection starts Oct-26.</a:t>
            </a:r>
            <a:endParaRPr lang="en-US" sz="750" dirty="0"/>
          </a:p>
        </p:txBody>
      </p:sp>
      <p:sp>
        <p:nvSpPr>
          <p:cNvPr id="174" name="Text 172"/>
          <p:cNvSpPr txBox="1"/>
          <p:nvPr/>
        </p:nvSpPr>
        <p:spPr>
          <a:xfrm>
            <a:off x="411480" y="645566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 = building structure   ·   TS = technological structure</a:t>
            </a:r>
            <a:endParaRPr lang="en-US" sz="700" dirty="0"/>
          </a:p>
        </p:txBody>
      </p:sp>
      <p:sp>
        <p:nvSpPr>
          <p:cNvPr id="175" name="Text 173"/>
          <p:cNvSpPr txBox="1"/>
          <p:nvPr/>
        </p:nvSpPr>
        <p:spPr>
          <a:xfrm>
            <a:off x="11320272" y="64556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310896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C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Fines Building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804672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vendor: Vrinda Bhillai (site fabrication)   |   393 MT + TS 66.3 MT (bins, liner, weighing bins)   |   Supply Oct-26 → Jan-27   |   Erection Nov-26 → Mar-27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9052560" y="310896"/>
            <a:ext cx="2724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as on:  30-Sep-26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0222992" y="566928"/>
            <a:ext cx="1554480" cy="292608"/>
          </a:xfrm>
          <a:prstGeom prst="roundRect">
            <a:avLst>
              <a:gd name="adj" fmla="val 48828"/>
            </a:avLst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222992" y="56692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RISK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188720"/>
            <a:ext cx="1801368" cy="731520"/>
          </a:xfrm>
          <a:prstGeom prst="rect">
            <a:avLst/>
          </a:prstGeom>
          <a:solidFill>
            <a:srgbClr val="0C233C"/>
          </a:solidFill>
          <a:ln w="12700">
            <a:solidFill>
              <a:srgbClr val="0C233C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21208" y="1243584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B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521208" y="1417320"/>
            <a:ext cx="1618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393 MT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21208" y="1719072"/>
            <a:ext cx="1655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dirty="0">
                <a:solidFill>
                  <a:srgbClr val="C9D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TS 66.3 MT (bins, liner, weighing bins)</a:t>
            </a:r>
            <a:endParaRPr lang="en-US" sz="680" dirty="0"/>
          </a:p>
        </p:txBody>
      </p:sp>
      <p:sp>
        <p:nvSpPr>
          <p:cNvPr id="11" name="Shape 9"/>
          <p:cNvSpPr/>
          <p:nvPr/>
        </p:nvSpPr>
        <p:spPr>
          <a:xfrm>
            <a:off x="2322576" y="1188720"/>
            <a:ext cx="1801368" cy="731520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432304" y="1243584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DRAWINGS RELEASED</a:t>
            </a:r>
            <a:endParaRPr lang="en-US" sz="750" dirty="0"/>
          </a:p>
        </p:txBody>
      </p:sp>
      <p:sp>
        <p:nvSpPr>
          <p:cNvPr id="13" name="Text 11"/>
          <p:cNvSpPr txBox="1"/>
          <p:nvPr/>
        </p:nvSpPr>
        <p:spPr>
          <a:xfrm>
            <a:off x="2432304" y="1417320"/>
            <a:ext cx="1618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C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393 MT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432304" y="1719072"/>
            <a:ext cx="1655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of scope  ·  nil pending</a:t>
            </a:r>
            <a:endParaRPr lang="en-US" sz="680" dirty="0"/>
          </a:p>
        </p:txBody>
      </p:sp>
      <p:sp>
        <p:nvSpPr>
          <p:cNvPr id="15" name="Shape 13"/>
          <p:cNvSpPr/>
          <p:nvPr/>
        </p:nvSpPr>
        <p:spPr>
          <a:xfrm>
            <a:off x="4233672" y="1188720"/>
            <a:ext cx="1801368" cy="731520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343400" y="1243584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SUPPLIED TILL SEP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4343400" y="1417320"/>
            <a:ext cx="1618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C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Nil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343400" y="1719072"/>
            <a:ext cx="1655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Nil in Sep</a:t>
            </a:r>
            <a:endParaRPr lang="en-US" sz="680" dirty="0"/>
          </a:p>
        </p:txBody>
      </p:sp>
      <p:sp>
        <p:nvSpPr>
          <p:cNvPr id="19" name="Shape 17"/>
          <p:cNvSpPr/>
          <p:nvPr/>
        </p:nvSpPr>
        <p:spPr>
          <a:xfrm>
            <a:off x="6144768" y="1188720"/>
            <a:ext cx="1801368" cy="731520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54496" y="1243584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OCT–DEC SUPPLY PLAN</a:t>
            </a:r>
            <a:endParaRPr lang="en-US" sz="750" dirty="0"/>
          </a:p>
        </p:txBody>
      </p:sp>
      <p:sp>
        <p:nvSpPr>
          <p:cNvPr id="21" name="Text 19"/>
          <p:cNvSpPr txBox="1"/>
          <p:nvPr/>
        </p:nvSpPr>
        <p:spPr>
          <a:xfrm>
            <a:off x="6254496" y="1417320"/>
            <a:ext cx="1618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C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360 MT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254496" y="1719072"/>
            <a:ext cx="1655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 of scope  ·  120 / 120 / 120 MT</a:t>
            </a:r>
            <a:endParaRPr lang="en-US" sz="680" dirty="0"/>
          </a:p>
        </p:txBody>
      </p:sp>
      <p:sp>
        <p:nvSpPr>
          <p:cNvPr id="23" name="Shape 21"/>
          <p:cNvSpPr/>
          <p:nvPr/>
        </p:nvSpPr>
        <p:spPr>
          <a:xfrm>
            <a:off x="8055864" y="1188720"/>
            <a:ext cx="1801368" cy="731520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165592" y="1243584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OCT–DEC ERECTION PLAN</a:t>
            </a:r>
            <a:endParaRPr lang="en-US" sz="750" dirty="0"/>
          </a:p>
        </p:txBody>
      </p:sp>
      <p:sp>
        <p:nvSpPr>
          <p:cNvPr id="25" name="Text 23"/>
          <p:cNvSpPr txBox="1"/>
          <p:nvPr/>
        </p:nvSpPr>
        <p:spPr>
          <a:xfrm>
            <a:off x="8165592" y="1417320"/>
            <a:ext cx="1618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C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MT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165592" y="1719072"/>
            <a:ext cx="1655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 of scope  ·  0 erected, starts Nov-26</a:t>
            </a:r>
            <a:endParaRPr lang="en-US" sz="680" dirty="0"/>
          </a:p>
        </p:txBody>
      </p:sp>
      <p:sp>
        <p:nvSpPr>
          <p:cNvPr id="27" name="Shape 25"/>
          <p:cNvSpPr/>
          <p:nvPr/>
        </p:nvSpPr>
        <p:spPr>
          <a:xfrm>
            <a:off x="9966960" y="1188720"/>
            <a:ext cx="1801368" cy="731520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076688" y="1243584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MONTHLY RATE (MT)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10076688" y="1417320"/>
            <a:ext cx="1618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C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 | 120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10076688" y="1719072"/>
            <a:ext cx="1655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(Oct–Dec)  |  erection (Feb)</a:t>
            </a:r>
            <a:endParaRPr lang="en-US" sz="680" dirty="0"/>
          </a:p>
        </p:txBody>
      </p:sp>
      <p:sp>
        <p:nvSpPr>
          <p:cNvPr id="31" name="Shape 29"/>
          <p:cNvSpPr/>
          <p:nvPr/>
        </p:nvSpPr>
        <p:spPr>
          <a:xfrm>
            <a:off x="411480" y="2176272"/>
            <a:ext cx="82296" cy="82296"/>
          </a:xfrm>
          <a:prstGeom prst="rect">
            <a:avLst/>
          </a:prstGeom>
          <a:solidFill>
            <a:srgbClr val="1E49E2"/>
          </a:solidFill>
          <a:ln w="12700">
            <a:solidFill>
              <a:srgbClr val="1E49E2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57784" y="210312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C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WORK-FRONT SEQUENCE &amp; MONTHLY PLAN (MT)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343400" y="2180844"/>
            <a:ext cx="64008" cy="64008"/>
          </a:xfrm>
          <a:prstGeom prst="rect">
            <a:avLst/>
          </a:prstGeom>
          <a:solidFill>
            <a:srgbClr val="FD349C"/>
          </a:solidFill>
          <a:ln w="12700">
            <a:solidFill>
              <a:srgbClr val="FD349C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434840" y="2103120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 / drawings</a:t>
            </a:r>
            <a:endParaRPr lang="en-US" sz="630" dirty="0"/>
          </a:p>
        </p:txBody>
      </p:sp>
      <p:sp>
        <p:nvSpPr>
          <p:cNvPr id="35" name="Shape 33"/>
          <p:cNvSpPr/>
          <p:nvPr/>
        </p:nvSpPr>
        <p:spPr>
          <a:xfrm>
            <a:off x="5254142" y="2180844"/>
            <a:ext cx="64008" cy="64008"/>
          </a:xfrm>
          <a:prstGeom prst="rect">
            <a:avLst/>
          </a:prstGeom>
          <a:solidFill>
            <a:srgbClr val="00B8F5"/>
          </a:solidFill>
          <a:ln w="12700">
            <a:solidFill>
              <a:srgbClr val="00B8F5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345582" y="2103120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</a:t>
            </a:r>
            <a:endParaRPr lang="en-US" sz="630" dirty="0"/>
          </a:p>
        </p:txBody>
      </p:sp>
      <p:sp>
        <p:nvSpPr>
          <p:cNvPr id="37" name="Shape 35"/>
          <p:cNvSpPr/>
          <p:nvPr/>
        </p:nvSpPr>
        <p:spPr>
          <a:xfrm>
            <a:off x="5744261" y="2180844"/>
            <a:ext cx="64008" cy="64008"/>
          </a:xfrm>
          <a:prstGeom prst="rect">
            <a:avLst/>
          </a:prstGeom>
          <a:solidFill>
            <a:srgbClr val="1E49E2"/>
          </a:solidFill>
          <a:ln w="12700">
            <a:solidFill>
              <a:srgbClr val="1E49E2">
                <a:alpha val="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835701" y="2103120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Erection</a:t>
            </a:r>
            <a:endParaRPr lang="en-US" sz="630" dirty="0"/>
          </a:p>
        </p:txBody>
      </p:sp>
      <p:sp>
        <p:nvSpPr>
          <p:cNvPr id="39" name="Shape 37"/>
          <p:cNvSpPr/>
          <p:nvPr/>
        </p:nvSpPr>
        <p:spPr>
          <a:xfrm>
            <a:off x="6318504" y="2180844"/>
            <a:ext cx="64008" cy="64008"/>
          </a:xfrm>
          <a:prstGeom prst="rect">
            <a:avLst/>
          </a:prstGeom>
          <a:solidFill>
            <a:srgbClr val="7213EA"/>
          </a:solidFill>
          <a:ln w="12700">
            <a:solidFill>
              <a:srgbClr val="7213EA">
                <a:alpha val="0"/>
              </a:srgbClr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409944" y="2103120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 / bins</a:t>
            </a:r>
            <a:endParaRPr lang="en-US" sz="630" dirty="0"/>
          </a:p>
        </p:txBody>
      </p:sp>
      <p:sp>
        <p:nvSpPr>
          <p:cNvPr id="41" name="Shape 39"/>
          <p:cNvSpPr/>
          <p:nvPr/>
        </p:nvSpPr>
        <p:spPr>
          <a:xfrm>
            <a:off x="6934810" y="2180844"/>
            <a:ext cx="64008" cy="64008"/>
          </a:xfrm>
          <a:prstGeom prst="rect">
            <a:avLst/>
          </a:prstGeom>
          <a:solidFill>
            <a:srgbClr val="1F9D55"/>
          </a:solidFill>
          <a:ln w="12700">
            <a:solidFill>
              <a:srgbClr val="1F9D55">
                <a:alpha val="0"/>
              </a:srgbClr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026250" y="2103120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Handover</a:t>
            </a:r>
            <a:endParaRPr lang="en-US" sz="630" dirty="0"/>
          </a:p>
        </p:txBody>
      </p:sp>
      <p:sp>
        <p:nvSpPr>
          <p:cNvPr id="43" name="Shape 41"/>
          <p:cNvSpPr/>
          <p:nvPr/>
        </p:nvSpPr>
        <p:spPr>
          <a:xfrm>
            <a:off x="411480" y="2359152"/>
            <a:ext cx="6903720" cy="237744"/>
          </a:xfrm>
          <a:prstGeom prst="rect">
            <a:avLst/>
          </a:prstGeom>
          <a:solidFill>
            <a:srgbClr val="0C233C"/>
          </a:solidFill>
          <a:ln w="12700">
            <a:solidFill>
              <a:srgbClr val="0C233C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148840" y="2359152"/>
            <a:ext cx="1536192" cy="237744"/>
          </a:xfrm>
          <a:prstGeom prst="rect">
            <a:avLst/>
          </a:prstGeom>
          <a:solidFill>
            <a:srgbClr val="1E49E2"/>
          </a:solidFill>
          <a:ln w="12700">
            <a:solidFill>
              <a:srgbClr val="1E49E2">
                <a:alpha val="0"/>
              </a:srgbClr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84632" y="235915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front</a:t>
            </a:r>
            <a:endParaRPr lang="en-US" sz="800" dirty="0"/>
          </a:p>
        </p:txBody>
      </p:sp>
      <p:sp>
        <p:nvSpPr>
          <p:cNvPr id="46" name="Text 44"/>
          <p:cNvSpPr txBox="1"/>
          <p:nvPr/>
        </p:nvSpPr>
        <p:spPr>
          <a:xfrm>
            <a:off x="2148840" y="2359152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Oct-26</a:t>
            </a:r>
            <a:endParaRPr lang="en-US" sz="750" dirty="0"/>
          </a:p>
        </p:txBody>
      </p:sp>
      <p:sp>
        <p:nvSpPr>
          <p:cNvPr id="47" name="Text 45"/>
          <p:cNvSpPr txBox="1"/>
          <p:nvPr/>
        </p:nvSpPr>
        <p:spPr>
          <a:xfrm>
            <a:off x="2660904" y="2359152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</a:t>
            </a:r>
            <a:endParaRPr lang="en-US" sz="750" dirty="0"/>
          </a:p>
        </p:txBody>
      </p:sp>
      <p:sp>
        <p:nvSpPr>
          <p:cNvPr id="48" name="Text 46"/>
          <p:cNvSpPr txBox="1"/>
          <p:nvPr/>
        </p:nvSpPr>
        <p:spPr>
          <a:xfrm>
            <a:off x="3172968" y="2359152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</a:t>
            </a:r>
            <a:endParaRPr lang="en-US" sz="750" dirty="0"/>
          </a:p>
        </p:txBody>
      </p:sp>
      <p:sp>
        <p:nvSpPr>
          <p:cNvPr id="49" name="Text 47"/>
          <p:cNvSpPr txBox="1"/>
          <p:nvPr/>
        </p:nvSpPr>
        <p:spPr>
          <a:xfrm>
            <a:off x="3685032" y="2359152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Jan-27</a:t>
            </a:r>
            <a:endParaRPr lang="en-US" sz="750" dirty="0"/>
          </a:p>
        </p:txBody>
      </p:sp>
      <p:sp>
        <p:nvSpPr>
          <p:cNvPr id="50" name="Text 48"/>
          <p:cNvSpPr txBox="1"/>
          <p:nvPr/>
        </p:nvSpPr>
        <p:spPr>
          <a:xfrm>
            <a:off x="4197096" y="2359152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</a:t>
            </a:r>
            <a:endParaRPr lang="en-US" sz="750" dirty="0"/>
          </a:p>
        </p:txBody>
      </p:sp>
      <p:sp>
        <p:nvSpPr>
          <p:cNvPr id="51" name="Text 49"/>
          <p:cNvSpPr txBox="1"/>
          <p:nvPr/>
        </p:nvSpPr>
        <p:spPr>
          <a:xfrm>
            <a:off x="4709160" y="2359152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</a:t>
            </a:r>
            <a:endParaRPr lang="en-US" sz="750" dirty="0"/>
          </a:p>
        </p:txBody>
      </p:sp>
      <p:sp>
        <p:nvSpPr>
          <p:cNvPr id="52" name="Text 50"/>
          <p:cNvSpPr txBox="1"/>
          <p:nvPr/>
        </p:nvSpPr>
        <p:spPr>
          <a:xfrm>
            <a:off x="5221224" y="2359152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</a:t>
            </a:r>
            <a:endParaRPr lang="en-US" sz="750" dirty="0"/>
          </a:p>
        </p:txBody>
      </p:sp>
      <p:sp>
        <p:nvSpPr>
          <p:cNvPr id="53" name="Text 51"/>
          <p:cNvSpPr txBox="1"/>
          <p:nvPr/>
        </p:nvSpPr>
        <p:spPr>
          <a:xfrm>
            <a:off x="5733288" y="2359152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</a:t>
            </a:r>
            <a:endParaRPr lang="en-US" sz="750" dirty="0"/>
          </a:p>
        </p:txBody>
      </p:sp>
      <p:sp>
        <p:nvSpPr>
          <p:cNvPr id="54" name="Text 52"/>
          <p:cNvSpPr txBox="1"/>
          <p:nvPr/>
        </p:nvSpPr>
        <p:spPr>
          <a:xfrm>
            <a:off x="6245352" y="2359152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</a:t>
            </a:r>
            <a:endParaRPr lang="en-US" sz="750" dirty="0"/>
          </a:p>
        </p:txBody>
      </p:sp>
      <p:sp>
        <p:nvSpPr>
          <p:cNvPr id="55" name="Text 53"/>
          <p:cNvSpPr txBox="1"/>
          <p:nvPr/>
        </p:nvSpPr>
        <p:spPr>
          <a:xfrm>
            <a:off x="6757416" y="2359152"/>
            <a:ext cx="557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411480" y="2596896"/>
            <a:ext cx="6903720" cy="256032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>
                <a:alpha val="0"/>
              </a:srgbClr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484632" y="259689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release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2185416" y="2670048"/>
            <a:ext cx="950976" cy="118872"/>
          </a:xfrm>
          <a:prstGeom prst="roundRect">
            <a:avLst>
              <a:gd name="adj" fmla="val 177515"/>
            </a:avLst>
          </a:prstGeom>
          <a:solidFill>
            <a:srgbClr val="FD349C"/>
          </a:solidFill>
          <a:ln w="12700">
            <a:solidFill>
              <a:srgbClr val="FD349C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11480" y="2852928"/>
            <a:ext cx="69037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484632" y="28529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Fabrication &amp; supply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2185416" y="2926080"/>
            <a:ext cx="1975104" cy="118872"/>
          </a:xfrm>
          <a:prstGeom prst="roundRect">
            <a:avLst>
              <a:gd name="adj" fmla="val 177515"/>
            </a:avLst>
          </a:prstGeom>
          <a:solidFill>
            <a:srgbClr val="00B8F5"/>
          </a:solidFill>
          <a:ln w="12700">
            <a:solidFill>
              <a:srgbClr val="00B8F5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11480" y="3108960"/>
            <a:ext cx="6903720" cy="256032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>
                <a:alpha val="0"/>
              </a:srgbClr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484632" y="31089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 frame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2697480" y="3182112"/>
            <a:ext cx="950976" cy="118872"/>
          </a:xfrm>
          <a:prstGeom prst="roundRect">
            <a:avLst>
              <a:gd name="adj" fmla="val 177515"/>
            </a:avLst>
          </a:prstGeom>
          <a:solidFill>
            <a:srgbClr val="1E49E2"/>
          </a:solidFill>
          <a:ln w="12700">
            <a:solidFill>
              <a:srgbClr val="1E49E2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11480" y="3364992"/>
            <a:ext cx="69037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484632" y="33649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 support floors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3209544" y="3438144"/>
            <a:ext cx="1463040" cy="118872"/>
          </a:xfrm>
          <a:prstGeom prst="roundRect">
            <a:avLst>
              <a:gd name="adj" fmla="val 177515"/>
            </a:avLst>
          </a:prstGeom>
          <a:solidFill>
            <a:srgbClr val="1E49E2"/>
          </a:solidFill>
          <a:ln w="12700">
            <a:solidFill>
              <a:srgbClr val="1E49E2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11480" y="3621024"/>
            <a:ext cx="6903720" cy="256032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>
                <a:alpha val="0"/>
              </a:srgbClr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484632" y="362102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Bins / liner (TS)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3209544" y="3694176"/>
            <a:ext cx="1463040" cy="118872"/>
          </a:xfrm>
          <a:prstGeom prst="roundRect">
            <a:avLst>
              <a:gd name="adj" fmla="val 177515"/>
            </a:avLst>
          </a:prstGeom>
          <a:solidFill>
            <a:srgbClr val="7213EA"/>
          </a:solidFill>
          <a:ln w="12700">
            <a:solidFill>
              <a:srgbClr val="7213EA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11480" y="3877056"/>
            <a:ext cx="69037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484632" y="387705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Handover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4745736" y="3950208"/>
            <a:ext cx="438912" cy="118872"/>
          </a:xfrm>
          <a:prstGeom prst="roundRect">
            <a:avLst>
              <a:gd name="adj" fmla="val 177515"/>
            </a:avLst>
          </a:prstGeom>
          <a:solidFill>
            <a:srgbClr val="1F9D55"/>
          </a:solidFill>
          <a:ln w="12700">
            <a:solidFill>
              <a:srgbClr val="1F9D55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11480" y="4133088"/>
            <a:ext cx="6903720" cy="630936"/>
          </a:xfrm>
          <a:prstGeom prst="rect">
            <a:avLst/>
          </a:prstGeom>
          <a:solidFill>
            <a:srgbClr val="EDF1F6"/>
          </a:solidFill>
          <a:ln w="12700">
            <a:solidFill>
              <a:srgbClr val="EDF1F6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148840" y="2596896"/>
            <a:ext cx="914" cy="2167128"/>
          </a:xfrm>
          <a:prstGeom prst="line">
            <a:avLst/>
          </a:prstGeom>
          <a:noFill/>
          <a:ln w="6350">
            <a:solidFill>
              <a:srgbClr val="DDE2EA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660904" y="2596896"/>
            <a:ext cx="914" cy="2167128"/>
          </a:xfrm>
          <a:prstGeom prst="line">
            <a:avLst/>
          </a:prstGeom>
          <a:noFill/>
          <a:ln w="6350">
            <a:solidFill>
              <a:srgbClr val="DDE2EA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172968" y="2596896"/>
            <a:ext cx="914" cy="2167128"/>
          </a:xfrm>
          <a:prstGeom prst="line">
            <a:avLst/>
          </a:prstGeom>
          <a:noFill/>
          <a:ln w="6350">
            <a:solidFill>
              <a:srgbClr val="DDE2EA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685032" y="2596896"/>
            <a:ext cx="914" cy="2167128"/>
          </a:xfrm>
          <a:prstGeom prst="line">
            <a:avLst/>
          </a:prstGeom>
          <a:noFill/>
          <a:ln w="6350">
            <a:solidFill>
              <a:srgbClr val="DDE2EA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197096" y="2596896"/>
            <a:ext cx="914" cy="2167128"/>
          </a:xfrm>
          <a:prstGeom prst="line">
            <a:avLst/>
          </a:prstGeom>
          <a:noFill/>
          <a:ln w="6350">
            <a:solidFill>
              <a:srgbClr val="DDE2EA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709160" y="2596896"/>
            <a:ext cx="914" cy="2167128"/>
          </a:xfrm>
          <a:prstGeom prst="line">
            <a:avLst/>
          </a:prstGeom>
          <a:noFill/>
          <a:ln w="6350">
            <a:solidFill>
              <a:srgbClr val="DDE2EA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221224" y="2596896"/>
            <a:ext cx="914" cy="2167128"/>
          </a:xfrm>
          <a:prstGeom prst="line">
            <a:avLst/>
          </a:prstGeom>
          <a:noFill/>
          <a:ln w="6350">
            <a:solidFill>
              <a:srgbClr val="DDE2EA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733288" y="2596896"/>
            <a:ext cx="914" cy="2167128"/>
          </a:xfrm>
          <a:prstGeom prst="line">
            <a:avLst/>
          </a:prstGeom>
          <a:noFill/>
          <a:ln w="6350">
            <a:solidFill>
              <a:srgbClr val="DDE2EA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245352" y="2596896"/>
            <a:ext cx="914" cy="2167128"/>
          </a:xfrm>
          <a:prstGeom prst="line">
            <a:avLst/>
          </a:prstGeom>
          <a:noFill/>
          <a:ln w="6350">
            <a:solidFill>
              <a:srgbClr val="DDE2EA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757416" y="2596896"/>
            <a:ext cx="914" cy="2167128"/>
          </a:xfrm>
          <a:prstGeom prst="line">
            <a:avLst/>
          </a:prstGeom>
          <a:noFill/>
          <a:ln w="6350">
            <a:solidFill>
              <a:srgbClr val="DDE2EA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148840" y="2596896"/>
            <a:ext cx="1536192" cy="2167128"/>
          </a:xfrm>
          <a:prstGeom prst="rect">
            <a:avLst/>
          </a:prstGeom>
          <a:solidFill>
            <a:srgbClr val="1E49E2">
              <a:alpha val="7000"/>
            </a:srgbClr>
          </a:solidFill>
          <a:ln w="12700">
            <a:solidFill>
              <a:srgbClr val="1E49E2">
                <a:alpha val="0"/>
              </a:srgbClr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484632" y="4133088"/>
            <a:ext cx="1737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C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(MT)</a:t>
            </a:r>
            <a:endParaRPr lang="en-US" sz="750" dirty="0"/>
          </a:p>
        </p:txBody>
      </p:sp>
      <p:sp>
        <p:nvSpPr>
          <p:cNvPr id="87" name="Text 85"/>
          <p:cNvSpPr txBox="1"/>
          <p:nvPr/>
        </p:nvSpPr>
        <p:spPr>
          <a:xfrm>
            <a:off x="2148840" y="4133088"/>
            <a:ext cx="512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</a:t>
            </a:r>
            <a:endParaRPr lang="en-US" sz="750" dirty="0"/>
          </a:p>
        </p:txBody>
      </p:sp>
      <p:sp>
        <p:nvSpPr>
          <p:cNvPr id="88" name="Text 86"/>
          <p:cNvSpPr txBox="1"/>
          <p:nvPr/>
        </p:nvSpPr>
        <p:spPr>
          <a:xfrm>
            <a:off x="2660904" y="4133088"/>
            <a:ext cx="512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</a:t>
            </a:r>
            <a:endParaRPr lang="en-US" sz="750" dirty="0"/>
          </a:p>
        </p:txBody>
      </p:sp>
      <p:sp>
        <p:nvSpPr>
          <p:cNvPr id="89" name="Text 87"/>
          <p:cNvSpPr txBox="1"/>
          <p:nvPr/>
        </p:nvSpPr>
        <p:spPr>
          <a:xfrm>
            <a:off x="3172968" y="4133088"/>
            <a:ext cx="512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</a:t>
            </a:r>
            <a:endParaRPr lang="en-US" sz="750" dirty="0"/>
          </a:p>
        </p:txBody>
      </p:sp>
      <p:sp>
        <p:nvSpPr>
          <p:cNvPr id="90" name="Text 88"/>
          <p:cNvSpPr txBox="1"/>
          <p:nvPr/>
        </p:nvSpPr>
        <p:spPr>
          <a:xfrm>
            <a:off x="3685032" y="4133088"/>
            <a:ext cx="512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750" dirty="0"/>
          </a:p>
        </p:txBody>
      </p:sp>
      <p:sp>
        <p:nvSpPr>
          <p:cNvPr id="91" name="Text 89"/>
          <p:cNvSpPr txBox="1"/>
          <p:nvPr/>
        </p:nvSpPr>
        <p:spPr>
          <a:xfrm>
            <a:off x="4197096" y="4133088"/>
            <a:ext cx="512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750" dirty="0"/>
          </a:p>
        </p:txBody>
      </p:sp>
      <p:sp>
        <p:nvSpPr>
          <p:cNvPr id="92" name="Text 90"/>
          <p:cNvSpPr txBox="1"/>
          <p:nvPr/>
        </p:nvSpPr>
        <p:spPr>
          <a:xfrm>
            <a:off x="4709160" y="4133088"/>
            <a:ext cx="512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750" dirty="0"/>
          </a:p>
        </p:txBody>
      </p:sp>
      <p:sp>
        <p:nvSpPr>
          <p:cNvPr id="93" name="Text 91"/>
          <p:cNvSpPr txBox="1"/>
          <p:nvPr/>
        </p:nvSpPr>
        <p:spPr>
          <a:xfrm>
            <a:off x="5221224" y="4133088"/>
            <a:ext cx="512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750" dirty="0"/>
          </a:p>
        </p:txBody>
      </p:sp>
      <p:sp>
        <p:nvSpPr>
          <p:cNvPr id="94" name="Text 92"/>
          <p:cNvSpPr txBox="1"/>
          <p:nvPr/>
        </p:nvSpPr>
        <p:spPr>
          <a:xfrm>
            <a:off x="5733288" y="4133088"/>
            <a:ext cx="512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750" dirty="0"/>
          </a:p>
        </p:txBody>
      </p:sp>
      <p:sp>
        <p:nvSpPr>
          <p:cNvPr id="95" name="Text 93"/>
          <p:cNvSpPr txBox="1"/>
          <p:nvPr/>
        </p:nvSpPr>
        <p:spPr>
          <a:xfrm>
            <a:off x="6245352" y="4133088"/>
            <a:ext cx="512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750" dirty="0"/>
          </a:p>
        </p:txBody>
      </p:sp>
      <p:sp>
        <p:nvSpPr>
          <p:cNvPr id="96" name="Text 94"/>
          <p:cNvSpPr txBox="1"/>
          <p:nvPr/>
        </p:nvSpPr>
        <p:spPr>
          <a:xfrm>
            <a:off x="6757416" y="4133088"/>
            <a:ext cx="5577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C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393</a:t>
            </a:r>
            <a:endParaRPr lang="en-US" sz="750" dirty="0"/>
          </a:p>
        </p:txBody>
      </p:sp>
      <p:sp>
        <p:nvSpPr>
          <p:cNvPr id="97" name="Text 95"/>
          <p:cNvSpPr txBox="1"/>
          <p:nvPr/>
        </p:nvSpPr>
        <p:spPr>
          <a:xfrm>
            <a:off x="484632" y="4343400"/>
            <a:ext cx="1737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C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Erection (MT)</a:t>
            </a:r>
            <a:endParaRPr lang="en-US" sz="750" dirty="0"/>
          </a:p>
        </p:txBody>
      </p:sp>
      <p:sp>
        <p:nvSpPr>
          <p:cNvPr id="98" name="Text 96"/>
          <p:cNvSpPr txBox="1"/>
          <p:nvPr/>
        </p:nvSpPr>
        <p:spPr>
          <a:xfrm>
            <a:off x="2148840" y="4343400"/>
            <a:ext cx="512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750" dirty="0"/>
          </a:p>
        </p:txBody>
      </p:sp>
      <p:sp>
        <p:nvSpPr>
          <p:cNvPr id="99" name="Text 97"/>
          <p:cNvSpPr txBox="1"/>
          <p:nvPr/>
        </p:nvSpPr>
        <p:spPr>
          <a:xfrm>
            <a:off x="2660904" y="4343400"/>
            <a:ext cx="512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750" dirty="0"/>
          </a:p>
        </p:txBody>
      </p:sp>
      <p:sp>
        <p:nvSpPr>
          <p:cNvPr id="100" name="Text 98"/>
          <p:cNvSpPr txBox="1"/>
          <p:nvPr/>
        </p:nvSpPr>
        <p:spPr>
          <a:xfrm>
            <a:off x="3172968" y="4343400"/>
            <a:ext cx="512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750" dirty="0"/>
          </a:p>
        </p:txBody>
      </p:sp>
      <p:sp>
        <p:nvSpPr>
          <p:cNvPr id="101" name="Text 99"/>
          <p:cNvSpPr txBox="1"/>
          <p:nvPr/>
        </p:nvSpPr>
        <p:spPr>
          <a:xfrm>
            <a:off x="3685032" y="4343400"/>
            <a:ext cx="512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</a:t>
            </a:r>
            <a:endParaRPr lang="en-US" sz="750" dirty="0"/>
          </a:p>
        </p:txBody>
      </p:sp>
      <p:sp>
        <p:nvSpPr>
          <p:cNvPr id="102" name="Text 100"/>
          <p:cNvSpPr txBox="1"/>
          <p:nvPr/>
        </p:nvSpPr>
        <p:spPr>
          <a:xfrm>
            <a:off x="4197096" y="4343400"/>
            <a:ext cx="512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</a:t>
            </a:r>
            <a:endParaRPr lang="en-US" sz="750" dirty="0"/>
          </a:p>
        </p:txBody>
      </p:sp>
      <p:sp>
        <p:nvSpPr>
          <p:cNvPr id="103" name="Text 101"/>
          <p:cNvSpPr txBox="1"/>
          <p:nvPr/>
        </p:nvSpPr>
        <p:spPr>
          <a:xfrm>
            <a:off x="4709160" y="4343400"/>
            <a:ext cx="512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</a:t>
            </a:r>
            <a:endParaRPr lang="en-US" sz="750" dirty="0"/>
          </a:p>
        </p:txBody>
      </p:sp>
      <p:sp>
        <p:nvSpPr>
          <p:cNvPr id="104" name="Text 102"/>
          <p:cNvSpPr txBox="1"/>
          <p:nvPr/>
        </p:nvSpPr>
        <p:spPr>
          <a:xfrm>
            <a:off x="5221224" y="4343400"/>
            <a:ext cx="512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750" dirty="0"/>
          </a:p>
        </p:txBody>
      </p:sp>
      <p:sp>
        <p:nvSpPr>
          <p:cNvPr id="105" name="Text 103"/>
          <p:cNvSpPr txBox="1"/>
          <p:nvPr/>
        </p:nvSpPr>
        <p:spPr>
          <a:xfrm>
            <a:off x="5733288" y="4343400"/>
            <a:ext cx="512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750" dirty="0"/>
          </a:p>
        </p:txBody>
      </p:sp>
      <p:sp>
        <p:nvSpPr>
          <p:cNvPr id="106" name="Text 104"/>
          <p:cNvSpPr txBox="1"/>
          <p:nvPr/>
        </p:nvSpPr>
        <p:spPr>
          <a:xfrm>
            <a:off x="6245352" y="4343400"/>
            <a:ext cx="512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750" dirty="0"/>
          </a:p>
        </p:txBody>
      </p:sp>
      <p:sp>
        <p:nvSpPr>
          <p:cNvPr id="107" name="Text 105"/>
          <p:cNvSpPr txBox="1"/>
          <p:nvPr/>
        </p:nvSpPr>
        <p:spPr>
          <a:xfrm>
            <a:off x="6757416" y="4343400"/>
            <a:ext cx="5577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C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393</a:t>
            </a:r>
            <a:endParaRPr lang="en-US" sz="750" dirty="0"/>
          </a:p>
        </p:txBody>
      </p:sp>
      <p:sp>
        <p:nvSpPr>
          <p:cNvPr id="108" name="Text 106"/>
          <p:cNvSpPr txBox="1"/>
          <p:nvPr/>
        </p:nvSpPr>
        <p:spPr>
          <a:xfrm>
            <a:off x="484632" y="4553712"/>
            <a:ext cx="1737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Cum. erection (% of scope)</a:t>
            </a:r>
            <a:endParaRPr lang="en-US" sz="700" dirty="0"/>
          </a:p>
        </p:txBody>
      </p:sp>
      <p:sp>
        <p:nvSpPr>
          <p:cNvPr id="109" name="Text 107"/>
          <p:cNvSpPr txBox="1"/>
          <p:nvPr/>
        </p:nvSpPr>
        <p:spPr>
          <a:xfrm>
            <a:off x="2148840" y="4553712"/>
            <a:ext cx="512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750" dirty="0"/>
          </a:p>
        </p:txBody>
      </p:sp>
      <p:sp>
        <p:nvSpPr>
          <p:cNvPr id="110" name="Text 108"/>
          <p:cNvSpPr txBox="1"/>
          <p:nvPr/>
        </p:nvSpPr>
        <p:spPr>
          <a:xfrm>
            <a:off x="2660904" y="4553712"/>
            <a:ext cx="512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750" dirty="0"/>
          </a:p>
        </p:txBody>
      </p:sp>
      <p:sp>
        <p:nvSpPr>
          <p:cNvPr id="111" name="Text 109"/>
          <p:cNvSpPr txBox="1"/>
          <p:nvPr/>
        </p:nvSpPr>
        <p:spPr>
          <a:xfrm>
            <a:off x="3172968" y="4553712"/>
            <a:ext cx="512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750" dirty="0"/>
          </a:p>
        </p:txBody>
      </p:sp>
      <p:sp>
        <p:nvSpPr>
          <p:cNvPr id="112" name="Text 110"/>
          <p:cNvSpPr txBox="1"/>
          <p:nvPr/>
        </p:nvSpPr>
        <p:spPr>
          <a:xfrm>
            <a:off x="3685032" y="4553712"/>
            <a:ext cx="512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</a:t>
            </a:r>
            <a:endParaRPr lang="en-US" sz="750" dirty="0"/>
          </a:p>
        </p:txBody>
      </p:sp>
      <p:sp>
        <p:nvSpPr>
          <p:cNvPr id="113" name="Text 111"/>
          <p:cNvSpPr txBox="1"/>
          <p:nvPr/>
        </p:nvSpPr>
        <p:spPr>
          <a:xfrm>
            <a:off x="4197096" y="4553712"/>
            <a:ext cx="512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750" dirty="0"/>
          </a:p>
        </p:txBody>
      </p:sp>
      <p:sp>
        <p:nvSpPr>
          <p:cNvPr id="114" name="Text 112"/>
          <p:cNvSpPr txBox="1"/>
          <p:nvPr/>
        </p:nvSpPr>
        <p:spPr>
          <a:xfrm>
            <a:off x="4709160" y="4553712"/>
            <a:ext cx="512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750" dirty="0"/>
          </a:p>
        </p:txBody>
      </p:sp>
      <p:sp>
        <p:nvSpPr>
          <p:cNvPr id="115" name="Text 113"/>
          <p:cNvSpPr txBox="1"/>
          <p:nvPr/>
        </p:nvSpPr>
        <p:spPr>
          <a:xfrm>
            <a:off x="5221224" y="4553712"/>
            <a:ext cx="512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750" dirty="0"/>
          </a:p>
        </p:txBody>
      </p:sp>
      <p:sp>
        <p:nvSpPr>
          <p:cNvPr id="116" name="Text 114"/>
          <p:cNvSpPr txBox="1"/>
          <p:nvPr/>
        </p:nvSpPr>
        <p:spPr>
          <a:xfrm>
            <a:off x="5733288" y="4553712"/>
            <a:ext cx="512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750" dirty="0"/>
          </a:p>
        </p:txBody>
      </p:sp>
      <p:sp>
        <p:nvSpPr>
          <p:cNvPr id="117" name="Text 115"/>
          <p:cNvSpPr txBox="1"/>
          <p:nvPr/>
        </p:nvSpPr>
        <p:spPr>
          <a:xfrm>
            <a:off x="6245352" y="4553712"/>
            <a:ext cx="512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750" dirty="0"/>
          </a:p>
        </p:txBody>
      </p:sp>
      <p:sp>
        <p:nvSpPr>
          <p:cNvPr id="118" name="Text 116"/>
          <p:cNvSpPr txBox="1"/>
          <p:nvPr/>
        </p:nvSpPr>
        <p:spPr>
          <a:xfrm>
            <a:off x="6757416" y="4553712"/>
            <a:ext cx="5577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750" dirty="0"/>
          </a:p>
        </p:txBody>
      </p:sp>
      <p:sp>
        <p:nvSpPr>
          <p:cNvPr id="119" name="Shape 117"/>
          <p:cNvSpPr/>
          <p:nvPr/>
        </p:nvSpPr>
        <p:spPr>
          <a:xfrm>
            <a:off x="411480" y="4133088"/>
            <a:ext cx="6903720" cy="0"/>
          </a:xfrm>
          <a:prstGeom prst="line">
            <a:avLst/>
          </a:prstGeom>
          <a:noFill/>
          <a:ln w="9525">
            <a:solidFill>
              <a:srgbClr val="0C233C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11480" y="5029200"/>
            <a:ext cx="1197864" cy="786384"/>
          </a:xfrm>
          <a:prstGeom prst="chevron">
            <a:avLst/>
          </a:prstGeom>
          <a:solidFill>
            <a:srgbClr val="00B8F5"/>
          </a:solidFill>
          <a:ln w="12700">
            <a:solidFill>
              <a:srgbClr val="00B8F5">
                <a:alpha val="0"/>
              </a:srgbClr>
            </a:solidFill>
            <a:prstDash val="solid"/>
          </a:ln>
        </p:spPr>
      </p:sp>
      <p:sp>
        <p:nvSpPr>
          <p:cNvPr id="121" name="Text 119"/>
          <p:cNvSpPr txBox="1"/>
          <p:nvPr/>
        </p:nvSpPr>
        <p:spPr>
          <a:xfrm>
            <a:off x="685800" y="5102352"/>
            <a:ext cx="813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Oct-26</a:t>
            </a:r>
            <a:endParaRPr lang="en-US" sz="1100" dirty="0"/>
          </a:p>
        </p:txBody>
      </p:sp>
      <p:sp>
        <p:nvSpPr>
          <p:cNvPr id="122" name="Text 120"/>
          <p:cNvSpPr txBox="1"/>
          <p:nvPr/>
        </p:nvSpPr>
        <p:spPr>
          <a:xfrm>
            <a:off x="685800" y="5413248"/>
            <a:ext cx="813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 Supply start</a:t>
            </a:r>
            <a:endParaRPr lang="en-US" sz="800" dirty="0"/>
          </a:p>
        </p:txBody>
      </p:sp>
      <p:sp>
        <p:nvSpPr>
          <p:cNvPr id="123" name="Shape 121"/>
          <p:cNvSpPr/>
          <p:nvPr/>
        </p:nvSpPr>
        <p:spPr>
          <a:xfrm>
            <a:off x="1764792" y="5029200"/>
            <a:ext cx="1197864" cy="786384"/>
          </a:xfrm>
          <a:prstGeom prst="chevron">
            <a:avLst/>
          </a:prstGeom>
          <a:solidFill>
            <a:srgbClr val="1E49E2"/>
          </a:solidFill>
          <a:ln w="12700">
            <a:solidFill>
              <a:srgbClr val="1E49E2">
                <a:alpha val="0"/>
              </a:srgbClr>
            </a:solidFill>
            <a:prstDash val="solid"/>
          </a:ln>
        </p:spPr>
      </p:sp>
      <p:sp>
        <p:nvSpPr>
          <p:cNvPr id="124" name="Text 122"/>
          <p:cNvSpPr txBox="1"/>
          <p:nvPr/>
        </p:nvSpPr>
        <p:spPr>
          <a:xfrm>
            <a:off x="2039112" y="5102352"/>
            <a:ext cx="813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Nov-26</a:t>
            </a:r>
            <a:endParaRPr lang="en-US" sz="1100" dirty="0"/>
          </a:p>
        </p:txBody>
      </p:sp>
      <p:sp>
        <p:nvSpPr>
          <p:cNvPr id="125" name="Text 123"/>
          <p:cNvSpPr txBox="1"/>
          <p:nvPr/>
        </p:nvSpPr>
        <p:spPr>
          <a:xfrm>
            <a:off x="2039112" y="5413248"/>
            <a:ext cx="813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 Erection start</a:t>
            </a:r>
            <a:endParaRPr lang="en-US" sz="800" dirty="0"/>
          </a:p>
        </p:txBody>
      </p:sp>
      <p:sp>
        <p:nvSpPr>
          <p:cNvPr id="126" name="Shape 124"/>
          <p:cNvSpPr/>
          <p:nvPr/>
        </p:nvSpPr>
        <p:spPr>
          <a:xfrm>
            <a:off x="3118104" y="5029200"/>
            <a:ext cx="1197864" cy="786384"/>
          </a:xfrm>
          <a:prstGeom prst="chevron">
            <a:avLst/>
          </a:prstGeom>
          <a:solidFill>
            <a:srgbClr val="00B8F5"/>
          </a:solidFill>
          <a:ln w="12700">
            <a:solidFill>
              <a:srgbClr val="00B8F5">
                <a:alpha val="0"/>
              </a:srgbClr>
            </a:solidFill>
            <a:prstDash val="solid"/>
          </a:ln>
        </p:spPr>
      </p:sp>
      <p:sp>
        <p:nvSpPr>
          <p:cNvPr id="127" name="Text 125"/>
          <p:cNvSpPr txBox="1"/>
          <p:nvPr/>
        </p:nvSpPr>
        <p:spPr>
          <a:xfrm>
            <a:off x="3392424" y="5102352"/>
            <a:ext cx="813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Jan-27</a:t>
            </a:r>
            <a:endParaRPr lang="en-US" sz="1100" dirty="0"/>
          </a:p>
        </p:txBody>
      </p:sp>
      <p:sp>
        <p:nvSpPr>
          <p:cNvPr id="128" name="Text 126"/>
          <p:cNvSpPr txBox="1"/>
          <p:nvPr/>
        </p:nvSpPr>
        <p:spPr>
          <a:xfrm>
            <a:off x="3392424" y="5413248"/>
            <a:ext cx="813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complete</a:t>
            </a:r>
            <a:endParaRPr lang="en-US" sz="800" dirty="0"/>
          </a:p>
        </p:txBody>
      </p:sp>
      <p:sp>
        <p:nvSpPr>
          <p:cNvPr id="129" name="Shape 127"/>
          <p:cNvSpPr/>
          <p:nvPr/>
        </p:nvSpPr>
        <p:spPr>
          <a:xfrm>
            <a:off x="4471416" y="5029200"/>
            <a:ext cx="1197864" cy="786384"/>
          </a:xfrm>
          <a:prstGeom prst="chevron">
            <a:avLst/>
          </a:prstGeom>
          <a:solidFill>
            <a:srgbClr val="7213EA"/>
          </a:solidFill>
          <a:ln w="12700">
            <a:solidFill>
              <a:srgbClr val="7213EA">
                <a:alpha val="0"/>
              </a:srgbClr>
            </a:solidFill>
            <a:prstDash val="solid"/>
          </a:ln>
        </p:spPr>
      </p:sp>
      <p:sp>
        <p:nvSpPr>
          <p:cNvPr id="130" name="Text 128"/>
          <p:cNvSpPr txBox="1"/>
          <p:nvPr/>
        </p:nvSpPr>
        <p:spPr>
          <a:xfrm>
            <a:off x="4745736" y="5102352"/>
            <a:ext cx="813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 → Feb</a:t>
            </a:r>
            <a:endParaRPr lang="en-US" sz="1100" dirty="0"/>
          </a:p>
        </p:txBody>
      </p:sp>
      <p:sp>
        <p:nvSpPr>
          <p:cNvPr id="131" name="Text 129"/>
          <p:cNvSpPr txBox="1"/>
          <p:nvPr/>
        </p:nvSpPr>
        <p:spPr>
          <a:xfrm>
            <a:off x="4745736" y="5413248"/>
            <a:ext cx="813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Bins / liner (TS)</a:t>
            </a:r>
            <a:endParaRPr lang="en-US" sz="800" dirty="0"/>
          </a:p>
        </p:txBody>
      </p:sp>
      <p:sp>
        <p:nvSpPr>
          <p:cNvPr id="132" name="Shape 130"/>
          <p:cNvSpPr/>
          <p:nvPr/>
        </p:nvSpPr>
        <p:spPr>
          <a:xfrm>
            <a:off x="5824728" y="5029200"/>
            <a:ext cx="1197864" cy="786384"/>
          </a:xfrm>
          <a:prstGeom prst="chevron">
            <a:avLst/>
          </a:prstGeom>
          <a:solidFill>
            <a:srgbClr val="0C233C"/>
          </a:solidFill>
          <a:ln w="12700">
            <a:solidFill>
              <a:srgbClr val="0C233C">
                <a:alpha val="0"/>
              </a:srgbClr>
            </a:solidFill>
            <a:prstDash val="solid"/>
          </a:ln>
        </p:spPr>
      </p:sp>
      <p:sp>
        <p:nvSpPr>
          <p:cNvPr id="133" name="Text 131"/>
          <p:cNvSpPr txBox="1"/>
          <p:nvPr/>
        </p:nvSpPr>
        <p:spPr>
          <a:xfrm>
            <a:off x="6099048" y="5102352"/>
            <a:ext cx="813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Mar-27</a:t>
            </a:r>
            <a:endParaRPr lang="en-US" sz="1100" dirty="0"/>
          </a:p>
        </p:txBody>
      </p:sp>
      <p:sp>
        <p:nvSpPr>
          <p:cNvPr id="134" name="Text 132"/>
          <p:cNvSpPr txBox="1"/>
          <p:nvPr/>
        </p:nvSpPr>
        <p:spPr>
          <a:xfrm>
            <a:off x="6099048" y="5413248"/>
            <a:ext cx="813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Erection finish</a:t>
            </a:r>
            <a:endParaRPr lang="en-US" sz="800" dirty="0"/>
          </a:p>
        </p:txBody>
      </p:sp>
      <p:sp>
        <p:nvSpPr>
          <p:cNvPr id="135" name="Text 133"/>
          <p:cNvSpPr txBox="1"/>
          <p:nvPr/>
        </p:nvSpPr>
        <p:spPr>
          <a:xfrm>
            <a:off x="411480" y="5925312"/>
            <a:ext cx="6903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view:</a:t>
            </a:r>
            <a:pPr algn="l" indent="0" marL="0">
              <a:buNone/>
            </a:pPr>
            <a:r>
              <a:rPr lang="en-US" sz="78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Material waiting at site builds to ≈260 MT by Dec-26 (supply ends 3 months before erection) - plan laydown and erection sequence.</a:t>
            </a:r>
            <a:endParaRPr lang="en-US" sz="780" dirty="0"/>
          </a:p>
        </p:txBody>
      </p:sp>
      <p:sp>
        <p:nvSpPr>
          <p:cNvPr id="136" name="Shape 134"/>
          <p:cNvSpPr/>
          <p:nvPr/>
        </p:nvSpPr>
        <p:spPr>
          <a:xfrm>
            <a:off x="7543800" y="2176272"/>
            <a:ext cx="82296" cy="82296"/>
          </a:xfrm>
          <a:prstGeom prst="rect">
            <a:avLst/>
          </a:prstGeom>
          <a:solidFill>
            <a:srgbClr val="1E49E2"/>
          </a:solidFill>
          <a:ln w="12700">
            <a:solidFill>
              <a:srgbClr val="1E49E2">
                <a:alpha val="0"/>
              </a:srgbClr>
            </a:solidFill>
            <a:prstDash val="solid"/>
          </a:ln>
        </p:spPr>
      </p:sp>
      <p:sp>
        <p:nvSpPr>
          <p:cNvPr id="137" name="Text 135"/>
          <p:cNvSpPr txBox="1"/>
          <p:nvPr/>
        </p:nvSpPr>
        <p:spPr>
          <a:xfrm>
            <a:off x="7690104" y="2103120"/>
            <a:ext cx="4233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C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CONCERNS &amp; ACTIONS</a:t>
            </a:r>
            <a:endParaRPr lang="en-US" sz="950" dirty="0"/>
          </a:p>
        </p:txBody>
      </p:sp>
      <p:sp>
        <p:nvSpPr>
          <p:cNvPr id="138" name="Shape 136"/>
          <p:cNvSpPr/>
          <p:nvPr/>
        </p:nvSpPr>
        <p:spPr>
          <a:xfrm>
            <a:off x="7543800" y="2359152"/>
            <a:ext cx="4233672" cy="658368"/>
          </a:xfrm>
          <a:prstGeom prst="rect">
            <a:avLst/>
          </a:prstGeom>
          <a:solidFill>
            <a:srgbClr val="F3F6FA"/>
          </a:solidFill>
          <a:ln w="6350">
            <a:solidFill>
              <a:srgbClr val="DDE2EA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7616952" y="2441448"/>
            <a:ext cx="749808" cy="173736"/>
          </a:xfrm>
          <a:prstGeom prst="roundRect">
            <a:avLst>
              <a:gd name="adj" fmla="val 83102"/>
            </a:avLst>
          </a:prstGeom>
          <a:solidFill>
            <a:srgbClr val="00B8F5"/>
          </a:solidFill>
          <a:ln w="12700">
            <a:solidFill>
              <a:srgbClr val="00B8F5">
                <a:alpha val="0"/>
              </a:srgbClr>
            </a:solidFill>
            <a:prstDash val="solid"/>
          </a:ln>
        </p:spPr>
      </p:sp>
      <p:sp>
        <p:nvSpPr>
          <p:cNvPr id="140" name="Text 138"/>
          <p:cNvSpPr txBox="1"/>
          <p:nvPr/>
        </p:nvSpPr>
        <p:spPr>
          <a:xfrm>
            <a:off x="7616952" y="2441448"/>
            <a:ext cx="74980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</a:t>
            </a:r>
            <a:endParaRPr lang="en-US" sz="650" dirty="0"/>
          </a:p>
        </p:txBody>
      </p:sp>
      <p:sp>
        <p:nvSpPr>
          <p:cNvPr id="141" name="Text 139"/>
          <p:cNvSpPr txBox="1"/>
          <p:nvPr/>
        </p:nvSpPr>
        <p:spPr>
          <a:xfrm>
            <a:off x="8458200" y="2395728"/>
            <a:ext cx="3246120" cy="381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 must jump from 0 MT in Sep-26 to 120 MT/month; Oct and Nov alone need 240 MT.</a:t>
            </a:r>
            <a:endParaRPr lang="en-US" sz="740" dirty="0"/>
          </a:p>
        </p:txBody>
      </p:sp>
      <p:sp>
        <p:nvSpPr>
          <p:cNvPr id="142" name="Text 140"/>
          <p:cNvSpPr txBox="1"/>
          <p:nvPr/>
        </p:nvSpPr>
        <p:spPr>
          <a:xfrm>
            <a:off x="8458200" y="2754173"/>
            <a:ext cx="3246120" cy="25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E49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</a:t>
            </a:r>
            <a:pPr algn="l" indent="0" marL="0">
              <a:buNone/>
            </a:pPr>
            <a:r>
              <a:rPr lang="en-US" sz="720" dirty="0">
                <a:solidFill>
                  <a:srgbClr val="1E49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Lock fabrication lot plan; weekly dispatch vs 120/120/120/33 MT.</a:t>
            </a:r>
            <a:endParaRPr lang="en-US" sz="720" dirty="0"/>
          </a:p>
        </p:txBody>
      </p:sp>
      <p:sp>
        <p:nvSpPr>
          <p:cNvPr id="143" name="Shape 141"/>
          <p:cNvSpPr/>
          <p:nvPr/>
        </p:nvSpPr>
        <p:spPr>
          <a:xfrm>
            <a:off x="7543800" y="3072384"/>
            <a:ext cx="4233672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DE2EA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7616952" y="3154680"/>
            <a:ext cx="749808" cy="173736"/>
          </a:xfrm>
          <a:prstGeom prst="roundRect">
            <a:avLst>
              <a:gd name="adj" fmla="val 83102"/>
            </a:avLst>
          </a:prstGeom>
          <a:solidFill>
            <a:srgbClr val="1E49E2"/>
          </a:solidFill>
          <a:ln w="12700">
            <a:solidFill>
              <a:srgbClr val="1E49E2">
                <a:alpha val="0"/>
              </a:srgbClr>
            </a:solidFill>
            <a:prstDash val="solid"/>
          </a:ln>
        </p:spPr>
      </p:sp>
      <p:sp>
        <p:nvSpPr>
          <p:cNvPr id="145" name="Text 143"/>
          <p:cNvSpPr txBox="1"/>
          <p:nvPr/>
        </p:nvSpPr>
        <p:spPr>
          <a:xfrm>
            <a:off x="7616952" y="3154680"/>
            <a:ext cx="74980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ERECTION</a:t>
            </a:r>
            <a:endParaRPr lang="en-US" sz="650" dirty="0"/>
          </a:p>
        </p:txBody>
      </p:sp>
      <p:sp>
        <p:nvSpPr>
          <p:cNvPr id="146" name="Text 144"/>
          <p:cNvSpPr txBox="1"/>
          <p:nvPr/>
        </p:nvSpPr>
        <p:spPr>
          <a:xfrm>
            <a:off x="8458200" y="3108960"/>
            <a:ext cx="3246120" cy="381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Erection starts Nov-26 and must hold 50–120 MT/month for 5 months.</a:t>
            </a:r>
            <a:endParaRPr lang="en-US" sz="740" dirty="0"/>
          </a:p>
        </p:txBody>
      </p:sp>
      <p:sp>
        <p:nvSpPr>
          <p:cNvPr id="147" name="Text 145"/>
          <p:cNvSpPr txBox="1"/>
          <p:nvPr/>
        </p:nvSpPr>
        <p:spPr>
          <a:xfrm>
            <a:off x="8458200" y="3467405"/>
            <a:ext cx="3246120" cy="25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E49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</a:t>
            </a:r>
            <a:pPr algn="l" indent="0" marL="0">
              <a:buNone/>
            </a:pPr>
            <a:r>
              <a:rPr lang="en-US" sz="720" dirty="0">
                <a:solidFill>
                  <a:srgbClr val="1E49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Mobilise crane and erection crew before Nov-26.</a:t>
            </a:r>
            <a:endParaRPr lang="en-US" sz="720" dirty="0"/>
          </a:p>
        </p:txBody>
      </p:sp>
      <p:sp>
        <p:nvSpPr>
          <p:cNvPr id="148" name="Shape 146"/>
          <p:cNvSpPr/>
          <p:nvPr/>
        </p:nvSpPr>
        <p:spPr>
          <a:xfrm>
            <a:off x="7543800" y="3785616"/>
            <a:ext cx="4233672" cy="658368"/>
          </a:xfrm>
          <a:prstGeom prst="rect">
            <a:avLst/>
          </a:prstGeom>
          <a:solidFill>
            <a:srgbClr val="F3F6FA"/>
          </a:solidFill>
          <a:ln w="6350">
            <a:solidFill>
              <a:srgbClr val="DDE2EA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7616952" y="3867912"/>
            <a:ext cx="749808" cy="173736"/>
          </a:xfrm>
          <a:prstGeom prst="roundRect">
            <a:avLst>
              <a:gd name="adj" fmla="val 83102"/>
            </a:avLst>
          </a:prstGeom>
          <a:solidFill>
            <a:srgbClr val="7213EA"/>
          </a:solidFill>
          <a:ln w="12700">
            <a:solidFill>
              <a:srgbClr val="7213EA">
                <a:alpha val="0"/>
              </a:srgbClr>
            </a:solidFill>
            <a:prstDash val="solid"/>
          </a:ln>
        </p:spPr>
      </p:sp>
      <p:sp>
        <p:nvSpPr>
          <p:cNvPr id="150" name="Text 148"/>
          <p:cNvSpPr txBox="1"/>
          <p:nvPr/>
        </p:nvSpPr>
        <p:spPr>
          <a:xfrm>
            <a:off x="7616952" y="3867912"/>
            <a:ext cx="74980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</a:t>
            </a:r>
            <a:endParaRPr lang="en-US" sz="650" dirty="0"/>
          </a:p>
        </p:txBody>
      </p:sp>
      <p:sp>
        <p:nvSpPr>
          <p:cNvPr id="151" name="Text 149"/>
          <p:cNvSpPr txBox="1"/>
          <p:nvPr/>
        </p:nvSpPr>
        <p:spPr>
          <a:xfrm>
            <a:off x="8458200" y="3822192"/>
            <a:ext cx="3246120" cy="381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Bin-support and conveyor interface not yet frozen.</a:t>
            </a:r>
            <a:endParaRPr lang="en-US" sz="740" dirty="0"/>
          </a:p>
        </p:txBody>
      </p:sp>
      <p:sp>
        <p:nvSpPr>
          <p:cNvPr id="152" name="Text 150"/>
          <p:cNvSpPr txBox="1"/>
          <p:nvPr/>
        </p:nvSpPr>
        <p:spPr>
          <a:xfrm>
            <a:off x="8458200" y="4180637"/>
            <a:ext cx="3246120" cy="25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E49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</a:t>
            </a:r>
            <a:pPr algn="l" indent="0" marL="0">
              <a:buNone/>
            </a:pPr>
            <a:r>
              <a:rPr lang="en-US" sz="720" dirty="0">
                <a:solidFill>
                  <a:srgbClr val="1E49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Freeze bin-support and conveyor interface.</a:t>
            </a:r>
            <a:endParaRPr lang="en-US" sz="720" dirty="0"/>
          </a:p>
        </p:txBody>
      </p:sp>
      <p:sp>
        <p:nvSpPr>
          <p:cNvPr id="153" name="Shape 151"/>
          <p:cNvSpPr/>
          <p:nvPr/>
        </p:nvSpPr>
        <p:spPr>
          <a:xfrm>
            <a:off x="7543800" y="5038344"/>
            <a:ext cx="82296" cy="82296"/>
          </a:xfrm>
          <a:prstGeom prst="rect">
            <a:avLst/>
          </a:prstGeom>
          <a:solidFill>
            <a:srgbClr val="1E49E2"/>
          </a:solidFill>
          <a:ln w="12700">
            <a:solidFill>
              <a:srgbClr val="1E49E2">
                <a:alpha val="0"/>
              </a:srgbClr>
            </a:solidFill>
            <a:prstDash val="solid"/>
          </a:ln>
        </p:spPr>
      </p:sp>
      <p:sp>
        <p:nvSpPr>
          <p:cNvPr id="154" name="Text 152"/>
          <p:cNvSpPr txBox="1"/>
          <p:nvPr/>
        </p:nvSpPr>
        <p:spPr>
          <a:xfrm>
            <a:off x="7690104" y="4974336"/>
            <a:ext cx="4233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C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vs DRAWINGS vs SUPPLY vs ERECTION (MT)</a:t>
            </a:r>
            <a:endParaRPr lang="en-US" sz="950" dirty="0"/>
          </a:p>
        </p:txBody>
      </p:sp>
      <p:sp>
        <p:nvSpPr>
          <p:cNvPr id="155" name="Shape 153"/>
          <p:cNvSpPr/>
          <p:nvPr/>
        </p:nvSpPr>
        <p:spPr>
          <a:xfrm>
            <a:off x="7543800" y="5212080"/>
            <a:ext cx="4233672" cy="201168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>
                <a:alpha val="0"/>
              </a:srgbClr>
            </a:solidFill>
            <a:prstDash val="solid"/>
          </a:ln>
        </p:spPr>
      </p:sp>
      <p:sp>
        <p:nvSpPr>
          <p:cNvPr id="156" name="Text 154"/>
          <p:cNvSpPr txBox="1"/>
          <p:nvPr/>
        </p:nvSpPr>
        <p:spPr>
          <a:xfrm>
            <a:off x="7616952" y="5212080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en-US" sz="780" dirty="0"/>
          </a:p>
        </p:txBody>
      </p:sp>
      <p:sp>
        <p:nvSpPr>
          <p:cNvPr id="157" name="Shape 155"/>
          <p:cNvSpPr/>
          <p:nvPr/>
        </p:nvSpPr>
        <p:spPr>
          <a:xfrm>
            <a:off x="8750808" y="5248656"/>
            <a:ext cx="1783080" cy="128016"/>
          </a:xfrm>
          <a:prstGeom prst="rect">
            <a:avLst/>
          </a:prstGeom>
          <a:solidFill>
            <a:srgbClr val="DDE2EA"/>
          </a:solidFill>
          <a:ln w="12700">
            <a:solidFill>
              <a:srgbClr val="DDE2EA">
                <a:alpha val="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8750808" y="5248656"/>
            <a:ext cx="1783080" cy="128016"/>
          </a:xfrm>
          <a:prstGeom prst="rect">
            <a:avLst/>
          </a:prstGeom>
          <a:solidFill>
            <a:srgbClr val="0C233C"/>
          </a:solidFill>
          <a:ln w="12700">
            <a:solidFill>
              <a:srgbClr val="0C233C">
                <a:alpha val="0"/>
              </a:srgbClr>
            </a:solidFill>
            <a:prstDash val="solid"/>
          </a:ln>
        </p:spPr>
      </p:sp>
      <p:sp>
        <p:nvSpPr>
          <p:cNvPr id="159" name="Text 157"/>
          <p:cNvSpPr txBox="1"/>
          <p:nvPr/>
        </p:nvSpPr>
        <p:spPr>
          <a:xfrm>
            <a:off x="10607040" y="521208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393 MT</a:t>
            </a:r>
            <a:endParaRPr lang="en-US" sz="780" dirty="0"/>
          </a:p>
        </p:txBody>
      </p:sp>
      <p:sp>
        <p:nvSpPr>
          <p:cNvPr id="160" name="Shape 158"/>
          <p:cNvSpPr/>
          <p:nvPr/>
        </p:nvSpPr>
        <p:spPr>
          <a:xfrm>
            <a:off x="7543800" y="5449824"/>
            <a:ext cx="4233672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1" name="Text 159"/>
          <p:cNvSpPr txBox="1"/>
          <p:nvPr/>
        </p:nvSpPr>
        <p:spPr>
          <a:xfrm>
            <a:off x="7616952" y="5449824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Drawings released</a:t>
            </a:r>
            <a:endParaRPr lang="en-US" sz="780" dirty="0"/>
          </a:p>
        </p:txBody>
      </p:sp>
      <p:sp>
        <p:nvSpPr>
          <p:cNvPr id="162" name="Shape 160"/>
          <p:cNvSpPr/>
          <p:nvPr/>
        </p:nvSpPr>
        <p:spPr>
          <a:xfrm>
            <a:off x="8750808" y="5486400"/>
            <a:ext cx="1783080" cy="128016"/>
          </a:xfrm>
          <a:prstGeom prst="rect">
            <a:avLst/>
          </a:prstGeom>
          <a:solidFill>
            <a:srgbClr val="DDE2EA"/>
          </a:solidFill>
          <a:ln w="12700">
            <a:solidFill>
              <a:srgbClr val="DDE2EA">
                <a:alpha val="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8750808" y="5486400"/>
            <a:ext cx="1783080" cy="12801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164" name="Text 162"/>
          <p:cNvSpPr txBox="1"/>
          <p:nvPr/>
        </p:nvSpPr>
        <p:spPr>
          <a:xfrm>
            <a:off x="10607040" y="544982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393 MT  ·  100%</a:t>
            </a:r>
            <a:endParaRPr lang="en-US" sz="780" dirty="0"/>
          </a:p>
        </p:txBody>
      </p:sp>
      <p:sp>
        <p:nvSpPr>
          <p:cNvPr id="165" name="Shape 163"/>
          <p:cNvSpPr/>
          <p:nvPr/>
        </p:nvSpPr>
        <p:spPr>
          <a:xfrm>
            <a:off x="7543800" y="5687568"/>
            <a:ext cx="4233672" cy="201168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>
                <a:alpha val="0"/>
              </a:srgbClr>
            </a:solidFill>
            <a:prstDash val="solid"/>
          </a:ln>
        </p:spPr>
      </p:sp>
      <p:sp>
        <p:nvSpPr>
          <p:cNvPr id="166" name="Text 164"/>
          <p:cNvSpPr txBox="1"/>
          <p:nvPr/>
        </p:nvSpPr>
        <p:spPr>
          <a:xfrm>
            <a:off x="7616952" y="5687568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Supplied till Sep</a:t>
            </a:r>
            <a:endParaRPr lang="en-US" sz="780" dirty="0"/>
          </a:p>
        </p:txBody>
      </p:sp>
      <p:sp>
        <p:nvSpPr>
          <p:cNvPr id="167" name="Shape 165"/>
          <p:cNvSpPr/>
          <p:nvPr/>
        </p:nvSpPr>
        <p:spPr>
          <a:xfrm>
            <a:off x="8750808" y="5724144"/>
            <a:ext cx="1783080" cy="128016"/>
          </a:xfrm>
          <a:prstGeom prst="rect">
            <a:avLst/>
          </a:prstGeom>
          <a:solidFill>
            <a:srgbClr val="DDE2EA"/>
          </a:solidFill>
          <a:ln w="12700">
            <a:solidFill>
              <a:srgbClr val="DDE2EA">
                <a:alpha val="0"/>
              </a:srgbClr>
            </a:solidFill>
            <a:prstDash val="solid"/>
          </a:ln>
        </p:spPr>
      </p:sp>
      <p:sp>
        <p:nvSpPr>
          <p:cNvPr id="168" name="Text 166"/>
          <p:cNvSpPr txBox="1"/>
          <p:nvPr/>
        </p:nvSpPr>
        <p:spPr>
          <a:xfrm>
            <a:off x="10607040" y="568756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Nil</a:t>
            </a:r>
            <a:endParaRPr lang="en-US" sz="780" dirty="0"/>
          </a:p>
        </p:txBody>
      </p:sp>
      <p:sp>
        <p:nvSpPr>
          <p:cNvPr id="169" name="Shape 167"/>
          <p:cNvSpPr/>
          <p:nvPr/>
        </p:nvSpPr>
        <p:spPr>
          <a:xfrm>
            <a:off x="7543800" y="5925312"/>
            <a:ext cx="4233672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0" name="Text 168"/>
          <p:cNvSpPr txBox="1"/>
          <p:nvPr/>
        </p:nvSpPr>
        <p:spPr>
          <a:xfrm>
            <a:off x="7616952" y="5925312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Erected till date</a:t>
            </a:r>
            <a:endParaRPr lang="en-US" sz="780" dirty="0"/>
          </a:p>
        </p:txBody>
      </p:sp>
      <p:sp>
        <p:nvSpPr>
          <p:cNvPr id="171" name="Shape 169"/>
          <p:cNvSpPr/>
          <p:nvPr/>
        </p:nvSpPr>
        <p:spPr>
          <a:xfrm>
            <a:off x="8750808" y="5961888"/>
            <a:ext cx="1783080" cy="128016"/>
          </a:xfrm>
          <a:prstGeom prst="rect">
            <a:avLst/>
          </a:prstGeom>
          <a:solidFill>
            <a:srgbClr val="DDE2EA"/>
          </a:solidFill>
          <a:ln w="12700">
            <a:solidFill>
              <a:srgbClr val="DDE2EA">
                <a:alpha val="0"/>
              </a:srgbClr>
            </a:solidFill>
            <a:prstDash val="solid"/>
          </a:ln>
        </p:spPr>
      </p:sp>
      <p:sp>
        <p:nvSpPr>
          <p:cNvPr id="172" name="Text 170"/>
          <p:cNvSpPr txBox="1"/>
          <p:nvPr/>
        </p:nvSpPr>
        <p:spPr>
          <a:xfrm>
            <a:off x="10607040" y="592531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MT  ·  starts Nov-26</a:t>
            </a:r>
            <a:endParaRPr lang="en-US" sz="780" dirty="0"/>
          </a:p>
        </p:txBody>
      </p:sp>
      <p:sp>
        <p:nvSpPr>
          <p:cNvPr id="173" name="Text 171"/>
          <p:cNvSpPr txBox="1"/>
          <p:nvPr/>
        </p:nvSpPr>
        <p:spPr>
          <a:xfrm>
            <a:off x="7543800" y="6199632"/>
            <a:ext cx="4233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C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Drawings complete; supply starts Oct-26; erection starts Nov-26.</a:t>
            </a:r>
            <a:endParaRPr lang="en-US" sz="750" dirty="0"/>
          </a:p>
        </p:txBody>
      </p:sp>
      <p:sp>
        <p:nvSpPr>
          <p:cNvPr id="174" name="Text 172"/>
          <p:cNvSpPr txBox="1"/>
          <p:nvPr/>
        </p:nvSpPr>
        <p:spPr>
          <a:xfrm>
            <a:off x="411480" y="645566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 = building structure   ·   TS = technological structure</a:t>
            </a:r>
            <a:endParaRPr lang="en-US" sz="700" dirty="0"/>
          </a:p>
        </p:txBody>
      </p:sp>
      <p:sp>
        <p:nvSpPr>
          <p:cNvPr id="175" name="Text 173"/>
          <p:cNvSpPr txBox="1"/>
          <p:nvPr/>
        </p:nvSpPr>
        <p:spPr>
          <a:xfrm>
            <a:off x="11320272" y="64556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310896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C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Backup: combined supply and erection plan - all 3 buildings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804672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peaks at 870 MT/month in Dec-26; erection must climb from 50 to 538 MT/month by Feb-27  -  Building structures status, MT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9052560" y="310896"/>
            <a:ext cx="2724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as on:  30-Sep-26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11480" y="1316736"/>
            <a:ext cx="82296" cy="82296"/>
          </a:xfrm>
          <a:prstGeom prst="rect">
            <a:avLst/>
          </a:prstGeom>
          <a:solidFill>
            <a:srgbClr val="1E49E2"/>
          </a:solidFill>
          <a:ln w="12700">
            <a:solidFill>
              <a:srgbClr val="1E49E2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57784" y="124358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C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SUPPLY vs ERECTION (MT)</a:t>
            </a:r>
            <a:endParaRPr lang="en-US" sz="9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11480" y="1481328"/>
          <a:ext cx="5532120" cy="22128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245352" y="1316736"/>
            <a:ext cx="82296" cy="82296"/>
          </a:xfrm>
          <a:prstGeom prst="rect">
            <a:avLst/>
          </a:prstGeom>
          <a:solidFill>
            <a:srgbClr val="1E49E2"/>
          </a:solidFill>
          <a:ln w="12700">
            <a:solidFill>
              <a:srgbClr val="1E49E2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391656" y="124358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C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CUMULATIVE SUPPLY vs ERECTION (MT)</a:t>
            </a:r>
            <a:endParaRPr lang="en-US" sz="95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6245352" y="1481328"/>
          <a:ext cx="5532120" cy="22128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9464040" y="2587752"/>
            <a:ext cx="2157984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DDE2EA"/>
            </a:solidFill>
          </a:ln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0C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Dec-26: 2,172 MT supplied vs 930 erected</a:t>
            </a:r>
            <a:endParaRPr lang="en-US" sz="720" dirty="0"/>
          </a:p>
          <a:p>
            <a:pPr algn="l" indent="0" marL="0">
              <a:buNone/>
            </a:pPr>
            <a:r>
              <a:rPr lang="en-US" sz="720" dirty="0">
                <a:solidFill>
                  <a:srgbClr val="0C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material waiting at site: ≈1,538 MT (Jan-27)</a:t>
            </a:r>
            <a:endParaRPr lang="en-US" sz="720" dirty="0"/>
          </a:p>
        </p:txBody>
      </p:sp>
      <p:sp>
        <p:nvSpPr>
          <p:cNvPr id="12" name="Shape 8"/>
          <p:cNvSpPr/>
          <p:nvPr/>
        </p:nvSpPr>
        <p:spPr>
          <a:xfrm>
            <a:off x="411480" y="3950208"/>
            <a:ext cx="82296" cy="82296"/>
          </a:xfrm>
          <a:prstGeom prst="rect">
            <a:avLst/>
          </a:prstGeom>
          <a:solidFill>
            <a:srgbClr val="1E49E2"/>
          </a:solidFill>
          <a:ln w="12700">
            <a:solidFill>
              <a:srgbClr val="1E49E2">
                <a:alpha val="0"/>
              </a:srgbClr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557784" y="387705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C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PLAN BY BUILDING (MT)</a:t>
            </a:r>
            <a:endParaRPr lang="en-US" sz="950" dirty="0"/>
          </a:p>
        </p:txBody>
      </p:sp>
      <p:sp>
        <p:nvSpPr>
          <p:cNvPr id="14" name="Text 10"/>
          <p:cNvSpPr txBox="1"/>
          <p:nvPr/>
        </p:nvSpPr>
        <p:spPr>
          <a:xfrm>
            <a:off x="3108960" y="387705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Oct-26–Dec shaded  ·  – = nil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411480" y="4114800"/>
            <a:ext cx="7269480" cy="182880"/>
          </a:xfrm>
          <a:prstGeom prst="rect">
            <a:avLst/>
          </a:prstGeom>
          <a:solidFill>
            <a:srgbClr val="0C233C"/>
          </a:solidFill>
          <a:ln w="12700">
            <a:solidFill>
              <a:srgbClr val="0C233C">
                <a:alpha val="0"/>
              </a:srgbClr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66344" y="411480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</a:t>
            </a:r>
            <a:endParaRPr lang="en-US" sz="700" dirty="0"/>
          </a:p>
        </p:txBody>
      </p:sp>
      <p:sp>
        <p:nvSpPr>
          <p:cNvPr id="17" name="Text 13"/>
          <p:cNvSpPr txBox="1"/>
          <p:nvPr/>
        </p:nvSpPr>
        <p:spPr>
          <a:xfrm>
            <a:off x="2606040" y="411480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Oct-26</a:t>
            </a:r>
            <a:endParaRPr lang="en-US" sz="700" dirty="0"/>
          </a:p>
        </p:txBody>
      </p:sp>
      <p:sp>
        <p:nvSpPr>
          <p:cNvPr id="18" name="Text 14"/>
          <p:cNvSpPr txBox="1"/>
          <p:nvPr/>
        </p:nvSpPr>
        <p:spPr>
          <a:xfrm>
            <a:off x="3108960" y="411480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</a:t>
            </a:r>
            <a:endParaRPr lang="en-US" sz="700" dirty="0"/>
          </a:p>
        </p:txBody>
      </p:sp>
      <p:sp>
        <p:nvSpPr>
          <p:cNvPr id="19" name="Text 15"/>
          <p:cNvSpPr txBox="1"/>
          <p:nvPr/>
        </p:nvSpPr>
        <p:spPr>
          <a:xfrm>
            <a:off x="3611880" y="411480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</a:t>
            </a:r>
            <a:endParaRPr lang="en-US" sz="700" dirty="0"/>
          </a:p>
        </p:txBody>
      </p:sp>
      <p:sp>
        <p:nvSpPr>
          <p:cNvPr id="20" name="Text 16"/>
          <p:cNvSpPr txBox="1"/>
          <p:nvPr/>
        </p:nvSpPr>
        <p:spPr>
          <a:xfrm>
            <a:off x="4114800" y="411480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Jan-27</a:t>
            </a:r>
            <a:endParaRPr lang="en-US" sz="700" dirty="0"/>
          </a:p>
        </p:txBody>
      </p:sp>
      <p:sp>
        <p:nvSpPr>
          <p:cNvPr id="21" name="Text 17"/>
          <p:cNvSpPr txBox="1"/>
          <p:nvPr/>
        </p:nvSpPr>
        <p:spPr>
          <a:xfrm>
            <a:off x="4617720" y="411480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</a:t>
            </a:r>
            <a:endParaRPr lang="en-US" sz="700" dirty="0"/>
          </a:p>
        </p:txBody>
      </p:sp>
      <p:sp>
        <p:nvSpPr>
          <p:cNvPr id="22" name="Text 18"/>
          <p:cNvSpPr txBox="1"/>
          <p:nvPr/>
        </p:nvSpPr>
        <p:spPr>
          <a:xfrm>
            <a:off x="5120640" y="411480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</a:t>
            </a:r>
            <a:endParaRPr lang="en-US" sz="700" dirty="0"/>
          </a:p>
        </p:txBody>
      </p:sp>
      <p:sp>
        <p:nvSpPr>
          <p:cNvPr id="23" name="Text 19"/>
          <p:cNvSpPr txBox="1"/>
          <p:nvPr/>
        </p:nvSpPr>
        <p:spPr>
          <a:xfrm>
            <a:off x="5623560" y="411480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</a:t>
            </a:r>
            <a:endParaRPr lang="en-US" sz="700" dirty="0"/>
          </a:p>
        </p:txBody>
      </p:sp>
      <p:sp>
        <p:nvSpPr>
          <p:cNvPr id="24" name="Text 20"/>
          <p:cNvSpPr txBox="1"/>
          <p:nvPr/>
        </p:nvSpPr>
        <p:spPr>
          <a:xfrm>
            <a:off x="6126480" y="411480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</a:t>
            </a:r>
            <a:endParaRPr lang="en-US" sz="700" dirty="0"/>
          </a:p>
        </p:txBody>
      </p:sp>
      <p:sp>
        <p:nvSpPr>
          <p:cNvPr id="25" name="Text 21"/>
          <p:cNvSpPr txBox="1"/>
          <p:nvPr/>
        </p:nvSpPr>
        <p:spPr>
          <a:xfrm>
            <a:off x="6629400" y="411480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</a:t>
            </a:r>
            <a:endParaRPr lang="en-US" sz="700" dirty="0"/>
          </a:p>
        </p:txBody>
      </p:sp>
      <p:sp>
        <p:nvSpPr>
          <p:cNvPr id="26" name="Text 22"/>
          <p:cNvSpPr txBox="1"/>
          <p:nvPr/>
        </p:nvSpPr>
        <p:spPr>
          <a:xfrm>
            <a:off x="7132320" y="4114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700" dirty="0"/>
          </a:p>
        </p:txBody>
      </p:sp>
      <p:sp>
        <p:nvSpPr>
          <p:cNvPr id="27" name="Shape 23"/>
          <p:cNvSpPr/>
          <p:nvPr/>
        </p:nvSpPr>
        <p:spPr>
          <a:xfrm>
            <a:off x="411480" y="4297680"/>
            <a:ext cx="7269480" cy="182880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>
                <a:alpha val="0"/>
              </a:srgbClr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2606040" y="4297680"/>
            <a:ext cx="1508760" cy="182880"/>
          </a:xfrm>
          <a:prstGeom prst="rect">
            <a:avLst/>
          </a:prstGeom>
          <a:solidFill>
            <a:srgbClr val="1E49E2">
              <a:alpha val="7000"/>
            </a:srgbClr>
          </a:solidFill>
          <a:ln w="12700">
            <a:solidFill>
              <a:srgbClr val="1E49E2">
                <a:alpha val="0"/>
              </a:srgbClr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466344" y="429768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Additive Grinding Building - supply</a:t>
            </a:r>
            <a:endParaRPr lang="en-US" sz="680" dirty="0"/>
          </a:p>
        </p:txBody>
      </p:sp>
      <p:sp>
        <p:nvSpPr>
          <p:cNvPr id="30" name="Text 26"/>
          <p:cNvSpPr txBox="1"/>
          <p:nvPr/>
        </p:nvSpPr>
        <p:spPr>
          <a:xfrm>
            <a:off x="2606040" y="429768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</a:t>
            </a:r>
            <a:endParaRPr lang="en-US" sz="680" dirty="0"/>
          </a:p>
        </p:txBody>
      </p:sp>
      <p:sp>
        <p:nvSpPr>
          <p:cNvPr id="31" name="Text 27"/>
          <p:cNvSpPr txBox="1"/>
          <p:nvPr/>
        </p:nvSpPr>
        <p:spPr>
          <a:xfrm>
            <a:off x="3108960" y="429768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</a:t>
            </a:r>
            <a:endParaRPr lang="en-US" sz="680" dirty="0"/>
          </a:p>
        </p:txBody>
      </p:sp>
      <p:sp>
        <p:nvSpPr>
          <p:cNvPr id="32" name="Text 28"/>
          <p:cNvSpPr txBox="1"/>
          <p:nvPr/>
        </p:nvSpPr>
        <p:spPr>
          <a:xfrm>
            <a:off x="3611880" y="429768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</a:t>
            </a:r>
            <a:endParaRPr lang="en-US" sz="680" dirty="0"/>
          </a:p>
        </p:txBody>
      </p:sp>
      <p:sp>
        <p:nvSpPr>
          <p:cNvPr id="33" name="Text 29"/>
          <p:cNvSpPr txBox="1"/>
          <p:nvPr/>
        </p:nvSpPr>
        <p:spPr>
          <a:xfrm>
            <a:off x="4114800" y="429768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520</a:t>
            </a:r>
            <a:endParaRPr lang="en-US" sz="680" dirty="0"/>
          </a:p>
        </p:txBody>
      </p:sp>
      <p:sp>
        <p:nvSpPr>
          <p:cNvPr id="34" name="Text 30"/>
          <p:cNvSpPr txBox="1"/>
          <p:nvPr/>
        </p:nvSpPr>
        <p:spPr>
          <a:xfrm>
            <a:off x="4617720" y="429768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430</a:t>
            </a:r>
            <a:endParaRPr lang="en-US" sz="680" dirty="0"/>
          </a:p>
        </p:txBody>
      </p:sp>
      <p:sp>
        <p:nvSpPr>
          <p:cNvPr id="35" name="Text 31"/>
          <p:cNvSpPr txBox="1"/>
          <p:nvPr/>
        </p:nvSpPr>
        <p:spPr>
          <a:xfrm>
            <a:off x="5120640" y="429768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680" dirty="0"/>
          </a:p>
        </p:txBody>
      </p:sp>
      <p:sp>
        <p:nvSpPr>
          <p:cNvPr id="36" name="Text 32"/>
          <p:cNvSpPr txBox="1"/>
          <p:nvPr/>
        </p:nvSpPr>
        <p:spPr>
          <a:xfrm>
            <a:off x="5623560" y="429768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680" dirty="0"/>
          </a:p>
        </p:txBody>
      </p:sp>
      <p:sp>
        <p:nvSpPr>
          <p:cNvPr id="37" name="Text 33"/>
          <p:cNvSpPr txBox="1"/>
          <p:nvPr/>
        </p:nvSpPr>
        <p:spPr>
          <a:xfrm>
            <a:off x="6126480" y="429768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680" dirty="0"/>
          </a:p>
        </p:txBody>
      </p:sp>
      <p:sp>
        <p:nvSpPr>
          <p:cNvPr id="38" name="Text 34"/>
          <p:cNvSpPr txBox="1"/>
          <p:nvPr/>
        </p:nvSpPr>
        <p:spPr>
          <a:xfrm>
            <a:off x="6629400" y="429768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680" dirty="0"/>
          </a:p>
        </p:txBody>
      </p:sp>
      <p:sp>
        <p:nvSpPr>
          <p:cNvPr id="39" name="Text 35"/>
          <p:cNvSpPr txBox="1"/>
          <p:nvPr/>
        </p:nvSpPr>
        <p:spPr>
          <a:xfrm>
            <a:off x="7132320" y="429768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C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</a:t>
            </a:r>
            <a:endParaRPr lang="en-US" sz="680" dirty="0"/>
          </a:p>
        </p:txBody>
      </p:sp>
      <p:sp>
        <p:nvSpPr>
          <p:cNvPr id="40" name="Shape 36"/>
          <p:cNvSpPr/>
          <p:nvPr/>
        </p:nvSpPr>
        <p:spPr>
          <a:xfrm>
            <a:off x="411480" y="4480560"/>
            <a:ext cx="72694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2606040" y="4480560"/>
            <a:ext cx="1508760" cy="182880"/>
          </a:xfrm>
          <a:prstGeom prst="rect">
            <a:avLst/>
          </a:prstGeom>
          <a:solidFill>
            <a:srgbClr val="1E49E2">
              <a:alpha val="7000"/>
            </a:srgbClr>
          </a:solidFill>
          <a:ln w="12700">
            <a:solidFill>
              <a:srgbClr val="1E49E2">
                <a:alpha val="0"/>
              </a:srgbClr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466344" y="44805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Additive Grinding Building - erection</a:t>
            </a:r>
            <a:endParaRPr lang="en-US" sz="680" dirty="0"/>
          </a:p>
        </p:txBody>
      </p:sp>
      <p:sp>
        <p:nvSpPr>
          <p:cNvPr id="43" name="Text 39"/>
          <p:cNvSpPr txBox="1"/>
          <p:nvPr/>
        </p:nvSpPr>
        <p:spPr>
          <a:xfrm>
            <a:off x="2606040" y="448056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680" dirty="0"/>
          </a:p>
        </p:txBody>
      </p:sp>
      <p:sp>
        <p:nvSpPr>
          <p:cNvPr id="44" name="Text 40"/>
          <p:cNvSpPr txBox="1"/>
          <p:nvPr/>
        </p:nvSpPr>
        <p:spPr>
          <a:xfrm>
            <a:off x="3108960" y="448056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680" dirty="0"/>
          </a:p>
        </p:txBody>
      </p:sp>
      <p:sp>
        <p:nvSpPr>
          <p:cNvPr id="45" name="Text 41"/>
          <p:cNvSpPr txBox="1"/>
          <p:nvPr/>
        </p:nvSpPr>
        <p:spPr>
          <a:xfrm>
            <a:off x="3611880" y="448056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</a:t>
            </a:r>
            <a:endParaRPr lang="en-US" sz="680" dirty="0"/>
          </a:p>
        </p:txBody>
      </p:sp>
      <p:sp>
        <p:nvSpPr>
          <p:cNvPr id="46" name="Text 42"/>
          <p:cNvSpPr txBox="1"/>
          <p:nvPr/>
        </p:nvSpPr>
        <p:spPr>
          <a:xfrm>
            <a:off x="4114800" y="448056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</a:t>
            </a:r>
            <a:endParaRPr lang="en-US" sz="680" dirty="0"/>
          </a:p>
        </p:txBody>
      </p:sp>
      <p:sp>
        <p:nvSpPr>
          <p:cNvPr id="47" name="Text 43"/>
          <p:cNvSpPr txBox="1"/>
          <p:nvPr/>
        </p:nvSpPr>
        <p:spPr>
          <a:xfrm>
            <a:off x="4617720" y="448056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</a:t>
            </a:r>
            <a:endParaRPr lang="en-US" sz="680" dirty="0"/>
          </a:p>
        </p:txBody>
      </p:sp>
      <p:sp>
        <p:nvSpPr>
          <p:cNvPr id="48" name="Text 44"/>
          <p:cNvSpPr txBox="1"/>
          <p:nvPr/>
        </p:nvSpPr>
        <p:spPr>
          <a:xfrm>
            <a:off x="5120640" y="448056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</a:t>
            </a:r>
            <a:endParaRPr lang="en-US" sz="680" dirty="0"/>
          </a:p>
        </p:txBody>
      </p:sp>
      <p:sp>
        <p:nvSpPr>
          <p:cNvPr id="49" name="Text 45"/>
          <p:cNvSpPr txBox="1"/>
          <p:nvPr/>
        </p:nvSpPr>
        <p:spPr>
          <a:xfrm>
            <a:off x="5623560" y="448056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</a:t>
            </a:r>
            <a:endParaRPr lang="en-US" sz="680" dirty="0"/>
          </a:p>
        </p:txBody>
      </p:sp>
      <p:sp>
        <p:nvSpPr>
          <p:cNvPr id="50" name="Text 46"/>
          <p:cNvSpPr txBox="1"/>
          <p:nvPr/>
        </p:nvSpPr>
        <p:spPr>
          <a:xfrm>
            <a:off x="6126480" y="448056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</a:t>
            </a:r>
            <a:endParaRPr lang="en-US" sz="680" dirty="0"/>
          </a:p>
        </p:txBody>
      </p:sp>
      <p:sp>
        <p:nvSpPr>
          <p:cNvPr id="51" name="Text 47"/>
          <p:cNvSpPr txBox="1"/>
          <p:nvPr/>
        </p:nvSpPr>
        <p:spPr>
          <a:xfrm>
            <a:off x="6629400" y="448056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</a:t>
            </a:r>
            <a:endParaRPr lang="en-US" sz="680" dirty="0"/>
          </a:p>
        </p:txBody>
      </p:sp>
      <p:sp>
        <p:nvSpPr>
          <p:cNvPr id="52" name="Text 48"/>
          <p:cNvSpPr txBox="1"/>
          <p:nvPr/>
        </p:nvSpPr>
        <p:spPr>
          <a:xfrm>
            <a:off x="7132320" y="448056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C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</a:t>
            </a:r>
            <a:endParaRPr lang="en-US" sz="680" dirty="0"/>
          </a:p>
        </p:txBody>
      </p:sp>
      <p:sp>
        <p:nvSpPr>
          <p:cNvPr id="53" name="Shape 49"/>
          <p:cNvSpPr/>
          <p:nvPr/>
        </p:nvSpPr>
        <p:spPr>
          <a:xfrm>
            <a:off x="411480" y="4663440"/>
            <a:ext cx="7269480" cy="182880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>
                <a:alpha val="0"/>
              </a:srgbClr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2606040" y="4663440"/>
            <a:ext cx="1508760" cy="182880"/>
          </a:xfrm>
          <a:prstGeom prst="rect">
            <a:avLst/>
          </a:prstGeom>
          <a:solidFill>
            <a:srgbClr val="1E49E2">
              <a:alpha val="7000"/>
            </a:srgbClr>
          </a:solidFill>
          <a:ln w="12700">
            <a:solidFill>
              <a:srgbClr val="1E49E2">
                <a:alpha val="0"/>
              </a:srgbClr>
            </a:solidFill>
            <a:prstDash val="solid"/>
          </a:ln>
        </p:spPr>
      </p:sp>
      <p:sp>
        <p:nvSpPr>
          <p:cNvPr id="55" name="Text 51"/>
          <p:cNvSpPr txBox="1"/>
          <p:nvPr/>
        </p:nvSpPr>
        <p:spPr>
          <a:xfrm>
            <a:off x="466344" y="466344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House / Building - supply</a:t>
            </a:r>
            <a:endParaRPr lang="en-US" sz="680" dirty="0"/>
          </a:p>
        </p:txBody>
      </p:sp>
      <p:sp>
        <p:nvSpPr>
          <p:cNvPr id="56" name="Text 52"/>
          <p:cNvSpPr txBox="1"/>
          <p:nvPr/>
        </p:nvSpPr>
        <p:spPr>
          <a:xfrm>
            <a:off x="2606040" y="466344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</a:t>
            </a:r>
            <a:endParaRPr lang="en-US" sz="680" dirty="0"/>
          </a:p>
        </p:txBody>
      </p:sp>
      <p:sp>
        <p:nvSpPr>
          <p:cNvPr id="57" name="Text 53"/>
          <p:cNvSpPr txBox="1"/>
          <p:nvPr/>
        </p:nvSpPr>
        <p:spPr>
          <a:xfrm>
            <a:off x="3108960" y="466344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</a:t>
            </a:r>
            <a:endParaRPr lang="en-US" sz="680" dirty="0"/>
          </a:p>
        </p:txBody>
      </p:sp>
      <p:sp>
        <p:nvSpPr>
          <p:cNvPr id="58" name="Text 54"/>
          <p:cNvSpPr txBox="1"/>
          <p:nvPr/>
        </p:nvSpPr>
        <p:spPr>
          <a:xfrm>
            <a:off x="3611880" y="466344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</a:t>
            </a:r>
            <a:endParaRPr lang="en-US" sz="680" dirty="0"/>
          </a:p>
        </p:txBody>
      </p:sp>
      <p:sp>
        <p:nvSpPr>
          <p:cNvPr id="59" name="Text 55"/>
          <p:cNvSpPr txBox="1"/>
          <p:nvPr/>
        </p:nvSpPr>
        <p:spPr>
          <a:xfrm>
            <a:off x="4114800" y="466344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269</a:t>
            </a:r>
            <a:endParaRPr lang="en-US" sz="680" dirty="0"/>
          </a:p>
        </p:txBody>
      </p:sp>
      <p:sp>
        <p:nvSpPr>
          <p:cNvPr id="60" name="Text 56"/>
          <p:cNvSpPr txBox="1"/>
          <p:nvPr/>
        </p:nvSpPr>
        <p:spPr>
          <a:xfrm>
            <a:off x="4617720" y="466344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680" dirty="0"/>
          </a:p>
        </p:txBody>
      </p:sp>
      <p:sp>
        <p:nvSpPr>
          <p:cNvPr id="61" name="Text 57"/>
          <p:cNvSpPr txBox="1"/>
          <p:nvPr/>
        </p:nvSpPr>
        <p:spPr>
          <a:xfrm>
            <a:off x="5120640" y="466344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680" dirty="0"/>
          </a:p>
        </p:txBody>
      </p:sp>
      <p:sp>
        <p:nvSpPr>
          <p:cNvPr id="62" name="Text 58"/>
          <p:cNvSpPr txBox="1"/>
          <p:nvPr/>
        </p:nvSpPr>
        <p:spPr>
          <a:xfrm>
            <a:off x="5623560" y="466344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680" dirty="0"/>
          </a:p>
        </p:txBody>
      </p:sp>
      <p:sp>
        <p:nvSpPr>
          <p:cNvPr id="63" name="Text 59"/>
          <p:cNvSpPr txBox="1"/>
          <p:nvPr/>
        </p:nvSpPr>
        <p:spPr>
          <a:xfrm>
            <a:off x="6126480" y="466344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680" dirty="0"/>
          </a:p>
        </p:txBody>
      </p:sp>
      <p:sp>
        <p:nvSpPr>
          <p:cNvPr id="64" name="Text 60"/>
          <p:cNvSpPr txBox="1"/>
          <p:nvPr/>
        </p:nvSpPr>
        <p:spPr>
          <a:xfrm>
            <a:off x="6629400" y="466344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680" dirty="0"/>
          </a:p>
        </p:txBody>
      </p:sp>
      <p:sp>
        <p:nvSpPr>
          <p:cNvPr id="65" name="Text 61"/>
          <p:cNvSpPr txBox="1"/>
          <p:nvPr/>
        </p:nvSpPr>
        <p:spPr>
          <a:xfrm>
            <a:off x="7132320" y="466344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C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1,019</a:t>
            </a:r>
            <a:endParaRPr lang="en-US" sz="680" dirty="0"/>
          </a:p>
        </p:txBody>
      </p:sp>
      <p:sp>
        <p:nvSpPr>
          <p:cNvPr id="66" name="Shape 62"/>
          <p:cNvSpPr/>
          <p:nvPr/>
        </p:nvSpPr>
        <p:spPr>
          <a:xfrm>
            <a:off x="411480" y="4846320"/>
            <a:ext cx="72694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Shape 63"/>
          <p:cNvSpPr/>
          <p:nvPr/>
        </p:nvSpPr>
        <p:spPr>
          <a:xfrm>
            <a:off x="2606040" y="4846320"/>
            <a:ext cx="1508760" cy="182880"/>
          </a:xfrm>
          <a:prstGeom prst="rect">
            <a:avLst/>
          </a:prstGeom>
          <a:solidFill>
            <a:srgbClr val="1E49E2">
              <a:alpha val="7000"/>
            </a:srgbClr>
          </a:solidFill>
          <a:ln w="12700">
            <a:solidFill>
              <a:srgbClr val="1E49E2">
                <a:alpha val="0"/>
              </a:srgbClr>
            </a:solidFill>
            <a:prstDash val="solid"/>
          </a:ln>
        </p:spPr>
      </p:sp>
      <p:sp>
        <p:nvSpPr>
          <p:cNvPr id="68" name="Text 64"/>
          <p:cNvSpPr txBox="1"/>
          <p:nvPr/>
        </p:nvSpPr>
        <p:spPr>
          <a:xfrm>
            <a:off x="466344" y="484632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House / Building - erection</a:t>
            </a:r>
            <a:endParaRPr lang="en-US" sz="680" dirty="0"/>
          </a:p>
        </p:txBody>
      </p:sp>
      <p:sp>
        <p:nvSpPr>
          <p:cNvPr id="69" name="Text 65"/>
          <p:cNvSpPr txBox="1"/>
          <p:nvPr/>
        </p:nvSpPr>
        <p:spPr>
          <a:xfrm>
            <a:off x="2606040" y="48463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680" dirty="0"/>
          </a:p>
        </p:txBody>
      </p:sp>
      <p:sp>
        <p:nvSpPr>
          <p:cNvPr id="70" name="Text 66"/>
          <p:cNvSpPr txBox="1"/>
          <p:nvPr/>
        </p:nvSpPr>
        <p:spPr>
          <a:xfrm>
            <a:off x="3108960" y="48463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</a:t>
            </a:r>
            <a:endParaRPr lang="en-US" sz="680" dirty="0"/>
          </a:p>
        </p:txBody>
      </p:sp>
      <p:sp>
        <p:nvSpPr>
          <p:cNvPr id="71" name="Text 67"/>
          <p:cNvSpPr txBox="1"/>
          <p:nvPr/>
        </p:nvSpPr>
        <p:spPr>
          <a:xfrm>
            <a:off x="3611880" y="48463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</a:t>
            </a:r>
            <a:endParaRPr lang="en-US" sz="680" dirty="0"/>
          </a:p>
        </p:txBody>
      </p:sp>
      <p:sp>
        <p:nvSpPr>
          <p:cNvPr id="72" name="Text 68"/>
          <p:cNvSpPr txBox="1"/>
          <p:nvPr/>
        </p:nvSpPr>
        <p:spPr>
          <a:xfrm>
            <a:off x="4114800" y="48463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166</a:t>
            </a:r>
            <a:endParaRPr lang="en-US" sz="680" dirty="0"/>
          </a:p>
        </p:txBody>
      </p:sp>
      <p:sp>
        <p:nvSpPr>
          <p:cNvPr id="73" name="Text 69"/>
          <p:cNvSpPr txBox="1"/>
          <p:nvPr/>
        </p:nvSpPr>
        <p:spPr>
          <a:xfrm>
            <a:off x="4617720" y="48463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168</a:t>
            </a:r>
            <a:endParaRPr lang="en-US" sz="680" dirty="0"/>
          </a:p>
        </p:txBody>
      </p:sp>
      <p:sp>
        <p:nvSpPr>
          <p:cNvPr id="74" name="Text 70"/>
          <p:cNvSpPr txBox="1"/>
          <p:nvPr/>
        </p:nvSpPr>
        <p:spPr>
          <a:xfrm>
            <a:off x="5120640" y="48463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160</a:t>
            </a:r>
            <a:endParaRPr lang="en-US" sz="680" dirty="0"/>
          </a:p>
        </p:txBody>
      </p:sp>
      <p:sp>
        <p:nvSpPr>
          <p:cNvPr id="75" name="Text 71"/>
          <p:cNvSpPr txBox="1"/>
          <p:nvPr/>
        </p:nvSpPr>
        <p:spPr>
          <a:xfrm>
            <a:off x="5623560" y="48463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</a:t>
            </a:r>
            <a:endParaRPr lang="en-US" sz="680" dirty="0"/>
          </a:p>
        </p:txBody>
      </p:sp>
      <p:sp>
        <p:nvSpPr>
          <p:cNvPr id="76" name="Text 72"/>
          <p:cNvSpPr txBox="1"/>
          <p:nvPr/>
        </p:nvSpPr>
        <p:spPr>
          <a:xfrm>
            <a:off x="6126480" y="48463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680" dirty="0"/>
          </a:p>
        </p:txBody>
      </p:sp>
      <p:sp>
        <p:nvSpPr>
          <p:cNvPr id="77" name="Text 73"/>
          <p:cNvSpPr txBox="1"/>
          <p:nvPr/>
        </p:nvSpPr>
        <p:spPr>
          <a:xfrm>
            <a:off x="6629400" y="48463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680" dirty="0"/>
          </a:p>
        </p:txBody>
      </p:sp>
      <p:sp>
        <p:nvSpPr>
          <p:cNvPr id="78" name="Text 74"/>
          <p:cNvSpPr txBox="1"/>
          <p:nvPr/>
        </p:nvSpPr>
        <p:spPr>
          <a:xfrm>
            <a:off x="713232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C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1,019</a:t>
            </a:r>
            <a:endParaRPr lang="en-US" sz="680" dirty="0"/>
          </a:p>
        </p:txBody>
      </p:sp>
      <p:sp>
        <p:nvSpPr>
          <p:cNvPr id="79" name="Shape 75"/>
          <p:cNvSpPr/>
          <p:nvPr/>
        </p:nvSpPr>
        <p:spPr>
          <a:xfrm>
            <a:off x="411480" y="5029200"/>
            <a:ext cx="7269480" cy="182880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>
                <a:alpha val="0"/>
              </a:srgbClr>
            </a:solidFill>
            <a:prstDash val="solid"/>
          </a:ln>
        </p:spPr>
      </p:sp>
      <p:sp>
        <p:nvSpPr>
          <p:cNvPr id="80" name="Shape 76"/>
          <p:cNvSpPr/>
          <p:nvPr/>
        </p:nvSpPr>
        <p:spPr>
          <a:xfrm>
            <a:off x="2606040" y="5029200"/>
            <a:ext cx="1508760" cy="182880"/>
          </a:xfrm>
          <a:prstGeom prst="rect">
            <a:avLst/>
          </a:prstGeom>
          <a:solidFill>
            <a:srgbClr val="1E49E2">
              <a:alpha val="7000"/>
            </a:srgbClr>
          </a:solidFill>
          <a:ln w="12700">
            <a:solidFill>
              <a:srgbClr val="1E49E2">
                <a:alpha val="0"/>
              </a:srgbClr>
            </a:solidFill>
            <a:prstDash val="solid"/>
          </a:ln>
        </p:spPr>
      </p:sp>
      <p:sp>
        <p:nvSpPr>
          <p:cNvPr id="81" name="Text 77"/>
          <p:cNvSpPr txBox="1"/>
          <p:nvPr/>
        </p:nvSpPr>
        <p:spPr>
          <a:xfrm>
            <a:off x="466344" y="502920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Fines Building - supply</a:t>
            </a:r>
            <a:endParaRPr lang="en-US" sz="680" dirty="0"/>
          </a:p>
        </p:txBody>
      </p:sp>
      <p:sp>
        <p:nvSpPr>
          <p:cNvPr id="82" name="Text 78"/>
          <p:cNvSpPr txBox="1"/>
          <p:nvPr/>
        </p:nvSpPr>
        <p:spPr>
          <a:xfrm>
            <a:off x="2606040" y="502920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</a:t>
            </a:r>
            <a:endParaRPr lang="en-US" sz="680" dirty="0"/>
          </a:p>
        </p:txBody>
      </p:sp>
      <p:sp>
        <p:nvSpPr>
          <p:cNvPr id="83" name="Text 79"/>
          <p:cNvSpPr txBox="1"/>
          <p:nvPr/>
        </p:nvSpPr>
        <p:spPr>
          <a:xfrm>
            <a:off x="3108960" y="502920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</a:t>
            </a:r>
            <a:endParaRPr lang="en-US" sz="680" dirty="0"/>
          </a:p>
        </p:txBody>
      </p:sp>
      <p:sp>
        <p:nvSpPr>
          <p:cNvPr id="84" name="Text 80"/>
          <p:cNvSpPr txBox="1"/>
          <p:nvPr/>
        </p:nvSpPr>
        <p:spPr>
          <a:xfrm>
            <a:off x="3611880" y="502920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</a:t>
            </a:r>
            <a:endParaRPr lang="en-US" sz="680" dirty="0"/>
          </a:p>
        </p:txBody>
      </p:sp>
      <p:sp>
        <p:nvSpPr>
          <p:cNvPr id="85" name="Text 81"/>
          <p:cNvSpPr txBox="1"/>
          <p:nvPr/>
        </p:nvSpPr>
        <p:spPr>
          <a:xfrm>
            <a:off x="4114800" y="502920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680" dirty="0"/>
          </a:p>
        </p:txBody>
      </p:sp>
      <p:sp>
        <p:nvSpPr>
          <p:cNvPr id="86" name="Text 82"/>
          <p:cNvSpPr txBox="1"/>
          <p:nvPr/>
        </p:nvSpPr>
        <p:spPr>
          <a:xfrm>
            <a:off x="4617720" y="502920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680" dirty="0"/>
          </a:p>
        </p:txBody>
      </p:sp>
      <p:sp>
        <p:nvSpPr>
          <p:cNvPr id="87" name="Text 83"/>
          <p:cNvSpPr txBox="1"/>
          <p:nvPr/>
        </p:nvSpPr>
        <p:spPr>
          <a:xfrm>
            <a:off x="5120640" y="502920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680" dirty="0"/>
          </a:p>
        </p:txBody>
      </p:sp>
      <p:sp>
        <p:nvSpPr>
          <p:cNvPr id="88" name="Text 84"/>
          <p:cNvSpPr txBox="1"/>
          <p:nvPr/>
        </p:nvSpPr>
        <p:spPr>
          <a:xfrm>
            <a:off x="5623560" y="502920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680" dirty="0"/>
          </a:p>
        </p:txBody>
      </p:sp>
      <p:sp>
        <p:nvSpPr>
          <p:cNvPr id="89" name="Text 85"/>
          <p:cNvSpPr txBox="1"/>
          <p:nvPr/>
        </p:nvSpPr>
        <p:spPr>
          <a:xfrm>
            <a:off x="6126480" y="502920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680" dirty="0"/>
          </a:p>
        </p:txBody>
      </p:sp>
      <p:sp>
        <p:nvSpPr>
          <p:cNvPr id="90" name="Text 86"/>
          <p:cNvSpPr txBox="1"/>
          <p:nvPr/>
        </p:nvSpPr>
        <p:spPr>
          <a:xfrm>
            <a:off x="6629400" y="502920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680" dirty="0"/>
          </a:p>
        </p:txBody>
      </p:sp>
      <p:sp>
        <p:nvSpPr>
          <p:cNvPr id="91" name="Text 87"/>
          <p:cNvSpPr txBox="1"/>
          <p:nvPr/>
        </p:nvSpPr>
        <p:spPr>
          <a:xfrm>
            <a:off x="7132320" y="50292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C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393</a:t>
            </a:r>
            <a:endParaRPr lang="en-US" sz="680" dirty="0"/>
          </a:p>
        </p:txBody>
      </p:sp>
      <p:sp>
        <p:nvSpPr>
          <p:cNvPr id="92" name="Shape 88"/>
          <p:cNvSpPr/>
          <p:nvPr/>
        </p:nvSpPr>
        <p:spPr>
          <a:xfrm>
            <a:off x="411480" y="5212080"/>
            <a:ext cx="72694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3" name="Shape 89"/>
          <p:cNvSpPr/>
          <p:nvPr/>
        </p:nvSpPr>
        <p:spPr>
          <a:xfrm>
            <a:off x="2606040" y="5212080"/>
            <a:ext cx="1508760" cy="182880"/>
          </a:xfrm>
          <a:prstGeom prst="rect">
            <a:avLst/>
          </a:prstGeom>
          <a:solidFill>
            <a:srgbClr val="1E49E2">
              <a:alpha val="7000"/>
            </a:srgbClr>
          </a:solidFill>
          <a:ln w="12700">
            <a:solidFill>
              <a:srgbClr val="1E49E2">
                <a:alpha val="0"/>
              </a:srgbClr>
            </a:solidFill>
            <a:prstDash val="solid"/>
          </a:ln>
        </p:spPr>
      </p:sp>
      <p:sp>
        <p:nvSpPr>
          <p:cNvPr id="94" name="Text 90"/>
          <p:cNvSpPr txBox="1"/>
          <p:nvPr/>
        </p:nvSpPr>
        <p:spPr>
          <a:xfrm>
            <a:off x="466344" y="521208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Fines Building - erection</a:t>
            </a:r>
            <a:endParaRPr lang="en-US" sz="680" dirty="0"/>
          </a:p>
        </p:txBody>
      </p:sp>
      <p:sp>
        <p:nvSpPr>
          <p:cNvPr id="95" name="Text 91"/>
          <p:cNvSpPr txBox="1"/>
          <p:nvPr/>
        </p:nvSpPr>
        <p:spPr>
          <a:xfrm>
            <a:off x="2606040" y="521208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680" dirty="0"/>
          </a:p>
        </p:txBody>
      </p:sp>
      <p:sp>
        <p:nvSpPr>
          <p:cNvPr id="96" name="Text 92"/>
          <p:cNvSpPr txBox="1"/>
          <p:nvPr/>
        </p:nvSpPr>
        <p:spPr>
          <a:xfrm>
            <a:off x="3108960" y="521208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680" dirty="0"/>
          </a:p>
        </p:txBody>
      </p:sp>
      <p:sp>
        <p:nvSpPr>
          <p:cNvPr id="97" name="Text 93"/>
          <p:cNvSpPr txBox="1"/>
          <p:nvPr/>
        </p:nvSpPr>
        <p:spPr>
          <a:xfrm>
            <a:off x="3611880" y="521208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680" dirty="0"/>
          </a:p>
        </p:txBody>
      </p:sp>
      <p:sp>
        <p:nvSpPr>
          <p:cNvPr id="98" name="Text 94"/>
          <p:cNvSpPr txBox="1"/>
          <p:nvPr/>
        </p:nvSpPr>
        <p:spPr>
          <a:xfrm>
            <a:off x="4114800" y="521208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</a:t>
            </a:r>
            <a:endParaRPr lang="en-US" sz="680" dirty="0"/>
          </a:p>
        </p:txBody>
      </p:sp>
      <p:sp>
        <p:nvSpPr>
          <p:cNvPr id="99" name="Text 95"/>
          <p:cNvSpPr txBox="1"/>
          <p:nvPr/>
        </p:nvSpPr>
        <p:spPr>
          <a:xfrm>
            <a:off x="4617720" y="521208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</a:t>
            </a:r>
            <a:endParaRPr lang="en-US" sz="680" dirty="0"/>
          </a:p>
        </p:txBody>
      </p:sp>
      <p:sp>
        <p:nvSpPr>
          <p:cNvPr id="100" name="Text 96"/>
          <p:cNvSpPr txBox="1"/>
          <p:nvPr/>
        </p:nvSpPr>
        <p:spPr>
          <a:xfrm>
            <a:off x="5120640" y="521208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</a:t>
            </a:r>
            <a:endParaRPr lang="en-US" sz="680" dirty="0"/>
          </a:p>
        </p:txBody>
      </p:sp>
      <p:sp>
        <p:nvSpPr>
          <p:cNvPr id="101" name="Text 97"/>
          <p:cNvSpPr txBox="1"/>
          <p:nvPr/>
        </p:nvSpPr>
        <p:spPr>
          <a:xfrm>
            <a:off x="5623560" y="521208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680" dirty="0"/>
          </a:p>
        </p:txBody>
      </p:sp>
      <p:sp>
        <p:nvSpPr>
          <p:cNvPr id="102" name="Text 98"/>
          <p:cNvSpPr txBox="1"/>
          <p:nvPr/>
        </p:nvSpPr>
        <p:spPr>
          <a:xfrm>
            <a:off x="6126480" y="521208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680" dirty="0"/>
          </a:p>
        </p:txBody>
      </p:sp>
      <p:sp>
        <p:nvSpPr>
          <p:cNvPr id="103" name="Text 99"/>
          <p:cNvSpPr txBox="1"/>
          <p:nvPr/>
        </p:nvSpPr>
        <p:spPr>
          <a:xfrm>
            <a:off x="6629400" y="521208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680" dirty="0"/>
          </a:p>
        </p:txBody>
      </p:sp>
      <p:sp>
        <p:nvSpPr>
          <p:cNvPr id="104" name="Text 100"/>
          <p:cNvSpPr txBox="1"/>
          <p:nvPr/>
        </p:nvSpPr>
        <p:spPr>
          <a:xfrm>
            <a:off x="7132320" y="521208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C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393</a:t>
            </a:r>
            <a:endParaRPr lang="en-US" sz="680" dirty="0"/>
          </a:p>
        </p:txBody>
      </p:sp>
      <p:sp>
        <p:nvSpPr>
          <p:cNvPr id="105" name="Shape 101"/>
          <p:cNvSpPr/>
          <p:nvPr/>
        </p:nvSpPr>
        <p:spPr>
          <a:xfrm>
            <a:off x="411480" y="5394960"/>
            <a:ext cx="7269480" cy="182880"/>
          </a:xfrm>
          <a:prstGeom prst="rect">
            <a:avLst/>
          </a:prstGeom>
          <a:solidFill>
            <a:srgbClr val="EDF1F6"/>
          </a:solidFill>
          <a:ln w="12700">
            <a:solidFill>
              <a:srgbClr val="EDF1F6">
                <a:alpha val="0"/>
              </a:srgbClr>
            </a:solidFill>
            <a:prstDash val="solid"/>
          </a:ln>
        </p:spPr>
      </p:sp>
      <p:sp>
        <p:nvSpPr>
          <p:cNvPr id="106" name="Shape 102"/>
          <p:cNvSpPr/>
          <p:nvPr/>
        </p:nvSpPr>
        <p:spPr>
          <a:xfrm>
            <a:off x="2606040" y="5394960"/>
            <a:ext cx="1508760" cy="182880"/>
          </a:xfrm>
          <a:prstGeom prst="rect">
            <a:avLst/>
          </a:prstGeom>
          <a:solidFill>
            <a:srgbClr val="1E49E2">
              <a:alpha val="7000"/>
            </a:srgbClr>
          </a:solidFill>
          <a:ln w="12700">
            <a:solidFill>
              <a:srgbClr val="1E49E2">
                <a:alpha val="0"/>
              </a:srgbClr>
            </a:solidFill>
            <a:prstDash val="solid"/>
          </a:ln>
        </p:spPr>
      </p:sp>
      <p:sp>
        <p:nvSpPr>
          <p:cNvPr id="107" name="Text 103"/>
          <p:cNvSpPr txBox="1"/>
          <p:nvPr/>
        </p:nvSpPr>
        <p:spPr>
          <a:xfrm>
            <a:off x="466344" y="53949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supply</a:t>
            </a:r>
            <a:endParaRPr lang="en-US" sz="680" dirty="0"/>
          </a:p>
        </p:txBody>
      </p:sp>
      <p:sp>
        <p:nvSpPr>
          <p:cNvPr id="108" name="Text 104"/>
          <p:cNvSpPr txBox="1"/>
          <p:nvPr/>
        </p:nvSpPr>
        <p:spPr>
          <a:xfrm>
            <a:off x="2606040" y="539496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620</a:t>
            </a:r>
            <a:endParaRPr lang="en-US" sz="680" dirty="0"/>
          </a:p>
        </p:txBody>
      </p:sp>
      <p:sp>
        <p:nvSpPr>
          <p:cNvPr id="109" name="Text 105"/>
          <p:cNvSpPr txBox="1"/>
          <p:nvPr/>
        </p:nvSpPr>
        <p:spPr>
          <a:xfrm>
            <a:off x="3108960" y="539496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670</a:t>
            </a:r>
            <a:endParaRPr lang="en-US" sz="680" dirty="0"/>
          </a:p>
        </p:txBody>
      </p:sp>
      <p:sp>
        <p:nvSpPr>
          <p:cNvPr id="110" name="Text 106"/>
          <p:cNvSpPr txBox="1"/>
          <p:nvPr/>
        </p:nvSpPr>
        <p:spPr>
          <a:xfrm>
            <a:off x="3611880" y="539496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870</a:t>
            </a:r>
            <a:endParaRPr lang="en-US" sz="680" dirty="0"/>
          </a:p>
        </p:txBody>
      </p:sp>
      <p:sp>
        <p:nvSpPr>
          <p:cNvPr id="111" name="Text 107"/>
          <p:cNvSpPr txBox="1"/>
          <p:nvPr/>
        </p:nvSpPr>
        <p:spPr>
          <a:xfrm>
            <a:off x="4114800" y="539496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822</a:t>
            </a:r>
            <a:endParaRPr lang="en-US" sz="680" dirty="0"/>
          </a:p>
        </p:txBody>
      </p:sp>
      <p:sp>
        <p:nvSpPr>
          <p:cNvPr id="112" name="Text 108"/>
          <p:cNvSpPr txBox="1"/>
          <p:nvPr/>
        </p:nvSpPr>
        <p:spPr>
          <a:xfrm>
            <a:off x="4617720" y="539496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430</a:t>
            </a:r>
            <a:endParaRPr lang="en-US" sz="680" dirty="0"/>
          </a:p>
        </p:txBody>
      </p:sp>
      <p:sp>
        <p:nvSpPr>
          <p:cNvPr id="113" name="Text 109"/>
          <p:cNvSpPr txBox="1"/>
          <p:nvPr/>
        </p:nvSpPr>
        <p:spPr>
          <a:xfrm>
            <a:off x="5120640" y="539496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680" dirty="0"/>
          </a:p>
        </p:txBody>
      </p:sp>
      <p:sp>
        <p:nvSpPr>
          <p:cNvPr id="114" name="Text 110"/>
          <p:cNvSpPr txBox="1"/>
          <p:nvPr/>
        </p:nvSpPr>
        <p:spPr>
          <a:xfrm>
            <a:off x="5623560" y="539496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680" dirty="0"/>
          </a:p>
        </p:txBody>
      </p:sp>
      <p:sp>
        <p:nvSpPr>
          <p:cNvPr id="115" name="Text 111"/>
          <p:cNvSpPr txBox="1"/>
          <p:nvPr/>
        </p:nvSpPr>
        <p:spPr>
          <a:xfrm>
            <a:off x="6126480" y="539496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680" dirty="0"/>
          </a:p>
        </p:txBody>
      </p:sp>
      <p:sp>
        <p:nvSpPr>
          <p:cNvPr id="116" name="Text 112"/>
          <p:cNvSpPr txBox="1"/>
          <p:nvPr/>
        </p:nvSpPr>
        <p:spPr>
          <a:xfrm>
            <a:off x="6629400" y="539496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680" dirty="0"/>
          </a:p>
        </p:txBody>
      </p:sp>
      <p:sp>
        <p:nvSpPr>
          <p:cNvPr id="117" name="Text 113"/>
          <p:cNvSpPr txBox="1"/>
          <p:nvPr/>
        </p:nvSpPr>
        <p:spPr>
          <a:xfrm>
            <a:off x="7132320" y="539496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C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3,412</a:t>
            </a:r>
            <a:endParaRPr lang="en-US" sz="680" dirty="0"/>
          </a:p>
        </p:txBody>
      </p:sp>
      <p:sp>
        <p:nvSpPr>
          <p:cNvPr id="118" name="Shape 114"/>
          <p:cNvSpPr/>
          <p:nvPr/>
        </p:nvSpPr>
        <p:spPr>
          <a:xfrm>
            <a:off x="411480" y="5577840"/>
            <a:ext cx="7269480" cy="182880"/>
          </a:xfrm>
          <a:prstGeom prst="rect">
            <a:avLst/>
          </a:prstGeom>
          <a:solidFill>
            <a:srgbClr val="EDF1F6"/>
          </a:solidFill>
          <a:ln w="12700">
            <a:solidFill>
              <a:srgbClr val="EDF1F6">
                <a:alpha val="0"/>
              </a:srgbClr>
            </a:solidFill>
            <a:prstDash val="solid"/>
          </a:ln>
        </p:spPr>
      </p:sp>
      <p:sp>
        <p:nvSpPr>
          <p:cNvPr id="119" name="Shape 115"/>
          <p:cNvSpPr/>
          <p:nvPr/>
        </p:nvSpPr>
        <p:spPr>
          <a:xfrm>
            <a:off x="2606040" y="5577840"/>
            <a:ext cx="1508760" cy="182880"/>
          </a:xfrm>
          <a:prstGeom prst="rect">
            <a:avLst/>
          </a:prstGeom>
          <a:solidFill>
            <a:srgbClr val="1E49E2">
              <a:alpha val="7000"/>
            </a:srgbClr>
          </a:solidFill>
          <a:ln w="12700">
            <a:solidFill>
              <a:srgbClr val="1E49E2">
                <a:alpha val="0"/>
              </a:srgbClr>
            </a:solidFill>
            <a:prstDash val="solid"/>
          </a:ln>
        </p:spPr>
      </p:sp>
      <p:sp>
        <p:nvSpPr>
          <p:cNvPr id="120" name="Text 116"/>
          <p:cNvSpPr txBox="1"/>
          <p:nvPr/>
        </p:nvSpPr>
        <p:spPr>
          <a:xfrm>
            <a:off x="466344" y="557784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erection</a:t>
            </a:r>
            <a:endParaRPr lang="en-US" sz="680" dirty="0"/>
          </a:p>
        </p:txBody>
      </p:sp>
      <p:sp>
        <p:nvSpPr>
          <p:cNvPr id="121" name="Text 117"/>
          <p:cNvSpPr txBox="1"/>
          <p:nvPr/>
        </p:nvSpPr>
        <p:spPr>
          <a:xfrm>
            <a:off x="2606040" y="557784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680" dirty="0"/>
          </a:p>
        </p:txBody>
      </p:sp>
      <p:sp>
        <p:nvSpPr>
          <p:cNvPr id="122" name="Text 118"/>
          <p:cNvSpPr txBox="1"/>
          <p:nvPr/>
        </p:nvSpPr>
        <p:spPr>
          <a:xfrm>
            <a:off x="3108960" y="557784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</a:t>
            </a:r>
            <a:endParaRPr lang="en-US" sz="680" dirty="0"/>
          </a:p>
        </p:txBody>
      </p:sp>
      <p:sp>
        <p:nvSpPr>
          <p:cNvPr id="123" name="Text 119"/>
          <p:cNvSpPr txBox="1"/>
          <p:nvPr/>
        </p:nvSpPr>
        <p:spPr>
          <a:xfrm>
            <a:off x="3611880" y="557784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</a:t>
            </a:r>
            <a:endParaRPr lang="en-US" sz="680" dirty="0"/>
          </a:p>
        </p:txBody>
      </p:sp>
      <p:sp>
        <p:nvSpPr>
          <p:cNvPr id="124" name="Text 120"/>
          <p:cNvSpPr txBox="1"/>
          <p:nvPr/>
        </p:nvSpPr>
        <p:spPr>
          <a:xfrm>
            <a:off x="4114800" y="557784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526</a:t>
            </a:r>
            <a:endParaRPr lang="en-US" sz="680" dirty="0"/>
          </a:p>
        </p:txBody>
      </p:sp>
      <p:sp>
        <p:nvSpPr>
          <p:cNvPr id="125" name="Text 121"/>
          <p:cNvSpPr txBox="1"/>
          <p:nvPr/>
        </p:nvSpPr>
        <p:spPr>
          <a:xfrm>
            <a:off x="4617720" y="557784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538</a:t>
            </a:r>
            <a:endParaRPr lang="en-US" sz="680" dirty="0"/>
          </a:p>
        </p:txBody>
      </p:sp>
      <p:sp>
        <p:nvSpPr>
          <p:cNvPr id="126" name="Text 122"/>
          <p:cNvSpPr txBox="1"/>
          <p:nvPr/>
        </p:nvSpPr>
        <p:spPr>
          <a:xfrm>
            <a:off x="5120640" y="557784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473</a:t>
            </a:r>
            <a:endParaRPr lang="en-US" sz="680" dirty="0"/>
          </a:p>
        </p:txBody>
      </p:sp>
      <p:sp>
        <p:nvSpPr>
          <p:cNvPr id="127" name="Text 123"/>
          <p:cNvSpPr txBox="1"/>
          <p:nvPr/>
        </p:nvSpPr>
        <p:spPr>
          <a:xfrm>
            <a:off x="5623560" y="557784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345</a:t>
            </a:r>
            <a:endParaRPr lang="en-US" sz="680" dirty="0"/>
          </a:p>
        </p:txBody>
      </p:sp>
      <p:sp>
        <p:nvSpPr>
          <p:cNvPr id="128" name="Text 124"/>
          <p:cNvSpPr txBox="1"/>
          <p:nvPr/>
        </p:nvSpPr>
        <p:spPr>
          <a:xfrm>
            <a:off x="6126480" y="557784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</a:t>
            </a:r>
            <a:endParaRPr lang="en-US" sz="680" dirty="0"/>
          </a:p>
        </p:txBody>
      </p:sp>
      <p:sp>
        <p:nvSpPr>
          <p:cNvPr id="129" name="Text 125"/>
          <p:cNvSpPr txBox="1"/>
          <p:nvPr/>
        </p:nvSpPr>
        <p:spPr>
          <a:xfrm>
            <a:off x="6629400" y="557784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</a:t>
            </a:r>
            <a:endParaRPr lang="en-US" sz="680" dirty="0"/>
          </a:p>
        </p:txBody>
      </p:sp>
      <p:sp>
        <p:nvSpPr>
          <p:cNvPr id="130" name="Text 126"/>
          <p:cNvSpPr txBox="1"/>
          <p:nvPr/>
        </p:nvSpPr>
        <p:spPr>
          <a:xfrm>
            <a:off x="7132320" y="557784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C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3,412</a:t>
            </a:r>
            <a:endParaRPr lang="en-US" sz="680" dirty="0"/>
          </a:p>
        </p:txBody>
      </p:sp>
      <p:sp>
        <p:nvSpPr>
          <p:cNvPr id="131" name="Shape 127"/>
          <p:cNvSpPr/>
          <p:nvPr/>
        </p:nvSpPr>
        <p:spPr>
          <a:xfrm>
            <a:off x="7882128" y="3950208"/>
            <a:ext cx="82296" cy="82296"/>
          </a:xfrm>
          <a:prstGeom prst="rect">
            <a:avLst/>
          </a:prstGeom>
          <a:solidFill>
            <a:srgbClr val="1E49E2"/>
          </a:solidFill>
          <a:ln w="12700">
            <a:solidFill>
              <a:srgbClr val="1E49E2">
                <a:alpha val="0"/>
              </a:srgbClr>
            </a:solidFill>
            <a:prstDash val="solid"/>
          </a:ln>
        </p:spPr>
      </p:sp>
      <p:sp>
        <p:nvSpPr>
          <p:cNvPr id="132" name="Text 128"/>
          <p:cNvSpPr txBox="1"/>
          <p:nvPr/>
        </p:nvSpPr>
        <p:spPr>
          <a:xfrm>
            <a:off x="8028432" y="387705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C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GAPS TO CLOSE BEFORE PLAN SIGN-OFF</a:t>
            </a:r>
            <a:endParaRPr lang="en-US" sz="950" dirty="0"/>
          </a:p>
        </p:txBody>
      </p:sp>
      <p:sp>
        <p:nvSpPr>
          <p:cNvPr id="133" name="Shape 129"/>
          <p:cNvSpPr/>
          <p:nvPr/>
        </p:nvSpPr>
        <p:spPr>
          <a:xfrm>
            <a:off x="7900416" y="4178808"/>
            <a:ext cx="118872" cy="118872"/>
          </a:xfrm>
          <a:prstGeom prst="ellipse">
            <a:avLst/>
          </a:prstGeom>
          <a:solidFill>
            <a:srgbClr val="E5383B"/>
          </a:solidFill>
          <a:ln w="12700">
            <a:solidFill>
              <a:srgbClr val="E5383B">
                <a:alpha val="0"/>
              </a:srgbClr>
            </a:solidFill>
            <a:prstDash val="solid"/>
          </a:ln>
        </p:spPr>
      </p:sp>
      <p:sp>
        <p:nvSpPr>
          <p:cNvPr id="134" name="Text 130"/>
          <p:cNvSpPr txBox="1"/>
          <p:nvPr/>
        </p:nvSpPr>
        <p:spPr>
          <a:xfrm>
            <a:off x="8110728" y="4133088"/>
            <a:ext cx="3648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Additive Grinding Building:  Only 1,399 of 2,000 MT drawings released; 601 MT (30%) pending. Cumulative supply crosses 1,399 MT in Jan-27.</a:t>
            </a:r>
            <a:endParaRPr lang="en-US" sz="720" dirty="0"/>
          </a:p>
        </p:txBody>
      </p:sp>
      <p:sp>
        <p:nvSpPr>
          <p:cNvPr id="135" name="Shape 131"/>
          <p:cNvSpPr/>
          <p:nvPr/>
        </p:nvSpPr>
        <p:spPr>
          <a:xfrm>
            <a:off x="7900416" y="4581144"/>
            <a:ext cx="118872" cy="118872"/>
          </a:xfrm>
          <a:prstGeom prst="ellipse">
            <a:avLst/>
          </a:prstGeom>
          <a:solidFill>
            <a:srgbClr val="E5383B"/>
          </a:solidFill>
          <a:ln w="12700">
            <a:solidFill>
              <a:srgbClr val="E5383B">
                <a:alpha val="0"/>
              </a:srgbClr>
            </a:solidFill>
            <a:prstDash val="solid"/>
          </a:ln>
        </p:spPr>
      </p:sp>
      <p:sp>
        <p:nvSpPr>
          <p:cNvPr id="136" name="Text 132"/>
          <p:cNvSpPr txBox="1"/>
          <p:nvPr/>
        </p:nvSpPr>
        <p:spPr>
          <a:xfrm>
            <a:off x="8110728" y="4535424"/>
            <a:ext cx="3648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Additive Grinding Building:  Oct-26–Feb supply plan totals 2,000 MT but the balance is 1,988 MT (12 MT already done) - quantities not reconciled against scope.</a:t>
            </a:r>
            <a:endParaRPr lang="en-US" sz="720" dirty="0"/>
          </a:p>
        </p:txBody>
      </p:sp>
      <p:sp>
        <p:nvSpPr>
          <p:cNvPr id="137" name="Shape 133"/>
          <p:cNvSpPr/>
          <p:nvPr/>
        </p:nvSpPr>
        <p:spPr>
          <a:xfrm>
            <a:off x="7900416" y="4983480"/>
            <a:ext cx="118872" cy="118872"/>
          </a:xfrm>
          <a:prstGeom prst="ellipse">
            <a:avLst/>
          </a:prstGeom>
          <a:solidFill>
            <a:srgbClr val="E5383B"/>
          </a:solidFill>
          <a:ln w="12700">
            <a:solidFill>
              <a:srgbClr val="E5383B">
                <a:alpha val="0"/>
              </a:srgbClr>
            </a:solidFill>
            <a:prstDash val="solid"/>
          </a:ln>
        </p:spPr>
      </p:sp>
      <p:sp>
        <p:nvSpPr>
          <p:cNvPr id="138" name="Text 134"/>
          <p:cNvSpPr txBox="1"/>
          <p:nvPr/>
        </p:nvSpPr>
        <p:spPr>
          <a:xfrm>
            <a:off x="8110728" y="4937760"/>
            <a:ext cx="3648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Additive Grinding Building:  Dispatch must jump from 12 MT in Sep-26 to 520 MT/month; Dec and Jan-27 alone need 1,020 MT.</a:t>
            </a:r>
            <a:endParaRPr lang="en-US" sz="720" dirty="0"/>
          </a:p>
        </p:txBody>
      </p:sp>
      <p:sp>
        <p:nvSpPr>
          <p:cNvPr id="139" name="Shape 135"/>
          <p:cNvSpPr/>
          <p:nvPr/>
        </p:nvSpPr>
        <p:spPr>
          <a:xfrm>
            <a:off x="7900416" y="5385816"/>
            <a:ext cx="118872" cy="118872"/>
          </a:xfrm>
          <a:prstGeom prst="ellipse">
            <a:avLst/>
          </a:prstGeom>
          <a:solidFill>
            <a:srgbClr val="E5383B"/>
          </a:solidFill>
          <a:ln w="12700">
            <a:solidFill>
              <a:srgbClr val="E5383B">
                <a:alpha val="0"/>
              </a:srgbClr>
            </a:solidFill>
            <a:prstDash val="solid"/>
          </a:ln>
        </p:spPr>
      </p:sp>
      <p:sp>
        <p:nvSpPr>
          <p:cNvPr id="140" name="Text 136"/>
          <p:cNvSpPr txBox="1"/>
          <p:nvPr/>
        </p:nvSpPr>
        <p:spPr>
          <a:xfrm>
            <a:off x="8110728" y="5340096"/>
            <a:ext cx="3648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House / Building:  Dispatch must jump from 0 MT in Sep-26 to 269 MT/month; Oct and Jan-27 alone need 519 MT.</a:t>
            </a:r>
            <a:endParaRPr lang="en-US" sz="720" dirty="0"/>
          </a:p>
        </p:txBody>
      </p:sp>
      <p:sp>
        <p:nvSpPr>
          <p:cNvPr id="141" name="Text 137"/>
          <p:cNvSpPr txBox="1"/>
          <p:nvPr/>
        </p:nvSpPr>
        <p:spPr>
          <a:xfrm>
            <a:off x="7882128" y="5797296"/>
            <a:ext cx="3895344" cy="512064"/>
          </a:xfrm>
          <a:prstGeom prst="rect">
            <a:avLst/>
          </a:prstGeom>
          <a:solidFill>
            <a:srgbClr val="E6ECFC"/>
          </a:solidFill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0C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waiting at site = cumulative supply − cumulative erection. Plan laydown for the peak, and size erection crews to the monthly erection rate.</a:t>
            </a:r>
            <a:endParaRPr lang="en-US" sz="720" dirty="0"/>
          </a:p>
        </p:txBody>
      </p:sp>
      <p:sp>
        <p:nvSpPr>
          <p:cNvPr id="142" name="Text 138"/>
          <p:cNvSpPr txBox="1"/>
          <p:nvPr/>
        </p:nvSpPr>
        <p:spPr>
          <a:xfrm>
            <a:off x="11320272" y="64556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structures status</dc:title>
  <dc:subject>PptxGenJS Presentation</dc:subject>
  <dc:creator>Schedule Engine</dc:creator>
  <cp:lastModifiedBy>Schedule Engine</cp:lastModifiedBy>
  <cp:revision>1</cp:revision>
  <dcterms:created xsi:type="dcterms:W3CDTF">2026-09-28T09:07:01Z</dcterms:created>
  <dcterms:modified xsi:type="dcterms:W3CDTF">2026-09-28T09:07:01Z</dcterms:modified>
</cp:coreProperties>
</file>