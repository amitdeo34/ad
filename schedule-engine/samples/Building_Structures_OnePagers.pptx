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Supply</c:v>
                </c:pt>
              </c:strCache>
            </c:strRef>
          </c:tx>
          <c:spPr>
            <a:solidFill>
              <a:srgbClr val="00B8F5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620</c:v>
                </c:pt>
                <c:pt idx="1">
                  <c:v>670</c:v>
                </c:pt>
                <c:pt idx="2">
                  <c:v>870</c:v>
                </c:pt>
                <c:pt idx="3">
                  <c:v>822</c:v>
                </c:pt>
                <c:pt idx="4">
                  <c:v>430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Erection</c:v>
                </c:pt>
              </c:strCache>
            </c:strRef>
          </c:tx>
          <c:spPr>
            <a:solidFill>
              <a:srgbClr val="1E49E2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50</c:v>
                </c:pt>
                <c:pt idx="1">
                  <c:v>380</c:v>
                </c:pt>
                <c:pt idx="2">
                  <c:v>500</c:v>
                </c:pt>
                <c:pt idx="3">
                  <c:v>526</c:v>
                </c:pt>
                <c:pt idx="4">
                  <c:v>538</c:v>
                </c:pt>
                <c:pt idx="5">
                  <c:v>473</c:v>
                </c:pt>
                <c:pt idx="6">
                  <c:v>345</c:v>
                </c:pt>
                <c:pt idx="7">
                  <c:v>300</c:v>
                </c:pt>
                <c:pt idx="8">
                  <c:v>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B647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Cum. supply</c:v>
                </c:pt>
              </c:strCache>
            </c:strRef>
          </c:tx>
          <c:spPr>
            <a:solidFill>
              <a:srgbClr val="00B8F5"/>
            </a:solidFill>
            <a:ln w="25400" cap="flat">
              <a:solidFill>
                <a:srgbClr val="00B8F5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00B8F5"/>
              </a:solidFill>
              <a:ln w="9525" cap="flat">
                <a:solidFill>
                  <a:srgbClr val="00B8F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</c:v>
                </c:pt>
                <c:pt idx="1">
                  <c:v>1302</c:v>
                </c:pt>
                <c:pt idx="2">
                  <c:v>2172</c:v>
                </c:pt>
                <c:pt idx="3">
                  <c:v>2994</c:v>
                </c:pt>
                <c:pt idx="4">
                  <c:v>3424</c:v>
                </c:pt>
                <c:pt idx="5">
                  <c:v>3424</c:v>
                </c:pt>
                <c:pt idx="6">
                  <c:v>3424</c:v>
                </c:pt>
                <c:pt idx="7">
                  <c:v>3424</c:v>
                </c:pt>
                <c:pt idx="8">
                  <c:v>3424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Cum. erection</c:v>
                </c:pt>
              </c:strCache>
            </c:strRef>
          </c:tx>
          <c:spPr>
            <a:solidFill>
              <a:srgbClr val="1E49E2"/>
            </a:solidFill>
            <a:ln w="25400" cap="flat">
              <a:solidFill>
                <a:srgbClr val="1E49E2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E49E2"/>
              </a:solidFill>
              <a:ln w="9525" cap="flat">
                <a:solidFill>
                  <a:srgbClr val="1E49E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50</c:v>
                </c:pt>
                <c:pt idx="1">
                  <c:v>430</c:v>
                </c:pt>
                <c:pt idx="2">
                  <c:v>930</c:v>
                </c:pt>
                <c:pt idx="3">
                  <c:v>1456</c:v>
                </c:pt>
                <c:pt idx="4">
                  <c:v>1994</c:v>
                </c:pt>
                <c:pt idx="5">
                  <c:v>2467</c:v>
                </c:pt>
                <c:pt idx="6">
                  <c:v>2812</c:v>
                </c:pt>
                <c:pt idx="7">
                  <c:v>3112</c:v>
                </c:pt>
                <c:pt idx="8">
                  <c:v>3412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Scope</c:v>
                </c:pt>
              </c:strCache>
            </c:strRef>
          </c:tx>
          <c:spPr>
            <a:solidFill>
              <a:srgbClr val="5B6475"/>
            </a:solidFill>
            <a:ln w="25400" cap="flat">
              <a:solidFill>
                <a:srgbClr val="5B6475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5B6475"/>
              </a:solidFill>
              <a:ln w="9525" cap="flat">
                <a:solidFill>
                  <a:srgbClr val="5B647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Oct-26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Jan-27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3412</c:v>
                </c:pt>
                <c:pt idx="1">
                  <c:v>3412</c:v>
                </c:pt>
                <c:pt idx="2">
                  <c:v>3412</c:v>
                </c:pt>
                <c:pt idx="3">
                  <c:v>3412</c:v>
                </c:pt>
                <c:pt idx="4">
                  <c:v>3412</c:v>
                </c:pt>
                <c:pt idx="5">
                  <c:v>3412</c:v>
                </c:pt>
                <c:pt idx="6">
                  <c:v>3412</c:v>
                </c:pt>
                <c:pt idx="7">
                  <c:v>3412</c:v>
                </c:pt>
                <c:pt idx="8">
                  <c:v>3412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B647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- ADDITIVE GRINDING BUILDING
1. 2,000 MT scope, vendor KBL.
2. 1,399 MT drawings released (70% of scope  ·  601 MT pending).
3. Next three months: supply 1,050 MT, erection 400 MT.
4. DRAWINGS: Only 1,399 of 2,000 MT drawings released; 601 MT (30%) pending. Cumulative supply crosses 1,399 MT in Jan-27. Action: Close balance drawings / PO by Nov-26 to feed Jan-27 fabrication.
5. SUPPLY: Oct-26–Feb supply plan totals 2,000 MT but the balance is 1,988 MT (12 MT already done) - quantities not reconciled against scope. Action: Reconcile the supply plan against scope and the Sep-26 actual.
6. SUPPLY: Dispatch must jump from 12 MT in Sep-26 to 520 MT/month; Dec and Jan-27 alone need 1,020 MT. Action: Lock fabrication lot plan; weekly dispatch vs 250/300/500/520/430 MT.
7. ERECTION: Erection starts Nov-26 and must hold 150–300 MT/month for 8 months. Action: Mobilise crane and erection crew before Nov-26.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- SCREEN HOUSE / BUILDING
1. 1,019 MT scope, vendor Samal Brothers.
2. 1,019 MT drawings released (100% of scope  ·  nil pending).
3. Next three months: supply 750 MT, erection 430 MT.
4. SUPPLY: Dispatch must jump from 0 MT in Sep-26 to 269 MT/month; Oct and Jan-27 alone need 519 MT. Action: Lock fabrication lot plan; weekly dispatch vs 250/250/250/269 MT.
5. FRONT: Erection starts first and needs surveyed starter-bay foundations now. Action: Release surveyed starter-bay foundations / anchor bolts.
6. ERECTION: Erection starts Oct-26 and must hold 50–200 MT/month for 7 months. Action: Mobilise crane and erection crew before Oct-26.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- RETURN FINES BUILDING
1. 393 MT scope, vendor Vrinda Bhillai (site fabrication).
2. 393 MT drawings released (100% of scope  ·  nil pending).
3. Next three months: supply 360 MT, erection 100 MT.
4. SUPPLY: Dispatch must jump from 0 MT in Sep-26 to 120 MT/month; Oct and Nov alone need 240 MT. Action: Lock fabrication lot plan; weekly dispatch vs 120/120/120/33 MT.
5. ERECTION: Erection starts Nov-26 and must hold 50–120 MT/month for 5 months. Action: Mobilise crane and erection crew before Nov-26.
6. INTERFACE: Bin-support and conveyor interface not yet frozen. Action: Freeze bin-support and conveyor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Combined supply and erection plan across 3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vendor: KBL   |   2,000 MT + TS 160.9 MT (silos 132.3 + liner 28.6)   |   Supply Oct-26 → Feb-27   |   Erection Nov-26 → Jun-27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222992" y="566928"/>
            <a:ext cx="1554480" cy="292608"/>
          </a:xfrm>
          <a:prstGeom prst="roundRect">
            <a:avLst>
              <a:gd name="adj" fmla="val 48828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22992" y="5669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RISK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188720"/>
            <a:ext cx="1801368" cy="73152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TS 160.9 MT (silos 132.3 + liner 28.6)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2322576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32304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432304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1,399 MT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432304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of scope  ·  601 MT pending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4233672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actual 12 MT; plan exceeds balance by 12</a:t>
            </a:r>
            <a:endParaRPr lang="en-US" sz="680" dirty="0"/>
          </a:p>
        </p:txBody>
      </p:sp>
      <p:sp>
        <p:nvSpPr>
          <p:cNvPr id="19" name="Shape 17"/>
          <p:cNvSpPr/>
          <p:nvPr/>
        </p:nvSpPr>
        <p:spPr>
          <a:xfrm>
            <a:off x="6144768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SUPPLY PLAN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1,050 MT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of scope  ·  250 / 300 / 500 MT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65592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ERECTION PLAN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65592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MT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65592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of scope  ·  0 erected, starts Nov-26</a:t>
            </a:r>
            <a:endParaRPr lang="en-US" sz="680" dirty="0"/>
          </a:p>
        </p:txBody>
      </p:sp>
      <p:sp>
        <p:nvSpPr>
          <p:cNvPr id="27" name="Shape 25"/>
          <p:cNvSpPr/>
          <p:nvPr/>
        </p:nvSpPr>
        <p:spPr>
          <a:xfrm>
            <a:off x="9966960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7668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MONTHLY RATE (MT)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1007668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 | 300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7668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(Jan-27)  |  erection (May–Jun)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1148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7784" y="21031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WORK-FRONT SEQUENCE &amp; MONTHLY PLAN (MT)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2180844"/>
            <a:ext cx="64008" cy="64008"/>
          </a:xfrm>
          <a:prstGeom prst="rect">
            <a:avLst/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3484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/ drawings</a:t>
            </a:r>
            <a:endParaRPr lang="en-US" sz="630" dirty="0"/>
          </a:p>
        </p:txBody>
      </p:sp>
      <p:sp>
        <p:nvSpPr>
          <p:cNvPr id="35" name="Shape 33"/>
          <p:cNvSpPr/>
          <p:nvPr/>
        </p:nvSpPr>
        <p:spPr>
          <a:xfrm>
            <a:off x="5254142" y="2180844"/>
            <a:ext cx="64008" cy="64008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5582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5744261" y="2180844"/>
            <a:ext cx="64008" cy="64008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35701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6318504" y="2180844"/>
            <a:ext cx="64008" cy="64008"/>
          </a:xfrm>
          <a:prstGeom prst="rect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9944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/ bins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6934810" y="2180844"/>
            <a:ext cx="64008" cy="64008"/>
          </a:xfrm>
          <a:prstGeom prst="rect">
            <a:avLst/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2625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630" dirty="0"/>
          </a:p>
        </p:txBody>
      </p:sp>
      <p:sp>
        <p:nvSpPr>
          <p:cNvPr id="43" name="Shape 41"/>
          <p:cNvSpPr/>
          <p:nvPr/>
        </p:nvSpPr>
        <p:spPr>
          <a:xfrm>
            <a:off x="411480" y="2359152"/>
            <a:ext cx="6903720" cy="237744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48840" y="2359152"/>
            <a:ext cx="1536192" cy="237744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" y="2359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front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266090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317296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8503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4197096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470916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22122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573328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24535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6757416" y="2359152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11480" y="2596896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4632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/ PO closure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85416" y="2670048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1480" y="2852928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84632" y="28529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Fabrication &amp; supply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185416" y="2926080"/>
            <a:ext cx="2487168" cy="118872"/>
          </a:xfrm>
          <a:prstGeom prst="roundRect">
            <a:avLst>
              <a:gd name="adj" fmla="val 177515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3108960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84632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assembly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185416" y="3182112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11480" y="3364992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463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frame erection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2697480" y="3438144"/>
            <a:ext cx="402336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1480" y="3621024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84632" y="3621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/ liners (TS)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5257800" y="3694176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11480" y="3877056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4632" y="3877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/ handover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5769864" y="3950208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11480" y="4133088"/>
            <a:ext cx="6903720" cy="630936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884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6090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17296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68503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19709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0916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122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3328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4535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5741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148840" y="2596896"/>
            <a:ext cx="1536192" cy="2167128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484632" y="413308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(MT)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214884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266090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317296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368503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4197096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470916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522122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573328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624535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6757416" y="4133088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484632" y="434340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(MT)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214884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266090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317296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8503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4197096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470916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522122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573328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624535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6757416" y="4343400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484632" y="455371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Cum. erection (% of scope)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214884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10" name="Text 108"/>
          <p:cNvSpPr txBox="1"/>
          <p:nvPr/>
        </p:nvSpPr>
        <p:spPr>
          <a:xfrm>
            <a:off x="266090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317296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368503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197096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70916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522122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73328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24535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6757416" y="4553712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11480" y="4133088"/>
            <a:ext cx="6903720" cy="0"/>
          </a:xfrm>
          <a:prstGeom prst="line">
            <a:avLst/>
          </a:prstGeom>
          <a:noFill/>
          <a:ln w="9525">
            <a:solidFill>
              <a:srgbClr val="0C233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11480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85800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2" name="Text 120"/>
          <p:cNvSpPr txBox="1"/>
          <p:nvPr/>
        </p:nvSpPr>
        <p:spPr>
          <a:xfrm>
            <a:off x="685800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Supply start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1764792" y="5029200"/>
            <a:ext cx="1197864" cy="786384"/>
          </a:xfrm>
          <a:prstGeom prst="chevron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2039112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Nov-26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2039112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Erection start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3118104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3392424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Feb-27</a:t>
            </a:r>
            <a:endParaRPr lang="en-US" sz="1100" dirty="0"/>
          </a:p>
        </p:txBody>
      </p:sp>
      <p:sp>
        <p:nvSpPr>
          <p:cNvPr id="128" name="Text 126"/>
          <p:cNvSpPr txBox="1"/>
          <p:nvPr/>
        </p:nvSpPr>
        <p:spPr>
          <a:xfrm>
            <a:off x="3392424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complete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4471416" y="5029200"/>
            <a:ext cx="1197864" cy="786384"/>
          </a:xfrm>
          <a:prstGeom prst="chevron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4745736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→ Jun</a:t>
            </a:r>
            <a:endParaRPr lang="en-US" sz="1100" dirty="0"/>
          </a:p>
        </p:txBody>
      </p:sp>
      <p:sp>
        <p:nvSpPr>
          <p:cNvPr id="131" name="Text 129"/>
          <p:cNvSpPr txBox="1"/>
          <p:nvPr/>
        </p:nvSpPr>
        <p:spPr>
          <a:xfrm>
            <a:off x="4745736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/ liners (TS)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5824728" y="5029200"/>
            <a:ext cx="1197864" cy="786384"/>
          </a:xfrm>
          <a:prstGeom prst="chevron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6099048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Jun-27</a:t>
            </a:r>
            <a:endParaRPr lang="en-US" sz="1100" dirty="0"/>
          </a:p>
        </p:txBody>
      </p:sp>
      <p:sp>
        <p:nvSpPr>
          <p:cNvPr id="134" name="Text 132"/>
          <p:cNvSpPr txBox="1"/>
          <p:nvPr/>
        </p:nvSpPr>
        <p:spPr>
          <a:xfrm>
            <a:off x="6099048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finish</a:t>
            </a:r>
            <a:endParaRPr lang="en-US" sz="80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5925312"/>
            <a:ext cx="690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view:</a:t>
            </a:r>
            <a:pPr algn="l" indent="0" marL="0">
              <a:buNone/>
            </a:pPr>
            <a:r>
              <a:rPr lang="en-US" sz="7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Material waiting at site builds to ≈1,112 MT by Feb-27 (supply ends 5 months before erection) - plan laydown and erection sequence.</a:t>
            </a:r>
            <a:endParaRPr lang="en-US" sz="780" dirty="0"/>
          </a:p>
        </p:txBody>
      </p:sp>
      <p:sp>
        <p:nvSpPr>
          <p:cNvPr id="136" name="Shape 134"/>
          <p:cNvSpPr/>
          <p:nvPr/>
        </p:nvSpPr>
        <p:spPr>
          <a:xfrm>
            <a:off x="754380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690104" y="2103120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CONCERNS &amp; ACTIONS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7543800" y="2359152"/>
            <a:ext cx="4233672" cy="603504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616952" y="2441448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7616952" y="244144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</a:t>
            </a:r>
            <a:endParaRPr lang="en-US" sz="650" dirty="0"/>
          </a:p>
        </p:txBody>
      </p:sp>
      <p:sp>
        <p:nvSpPr>
          <p:cNvPr id="141" name="Text 139"/>
          <p:cNvSpPr txBox="1"/>
          <p:nvPr/>
        </p:nvSpPr>
        <p:spPr>
          <a:xfrm>
            <a:off x="8458200" y="2395728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1,399 of 2,000 MT drawings released; 601 MT (30%) pending. Cumulative supply crosses 1,399 MT in Jan-27.</a:t>
            </a:r>
            <a:endParaRPr lang="en-US" sz="740" dirty="0"/>
          </a:p>
        </p:txBody>
      </p:sp>
      <p:sp>
        <p:nvSpPr>
          <p:cNvPr id="142" name="Text 140"/>
          <p:cNvSpPr txBox="1"/>
          <p:nvPr/>
        </p:nvSpPr>
        <p:spPr>
          <a:xfrm>
            <a:off x="8458200" y="2721254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balance drawings / PO by Nov-26 to feed Jan-27 fabrication.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7543800" y="3017520"/>
            <a:ext cx="423367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616952" y="3099816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616952" y="309981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46" name="Text 144"/>
          <p:cNvSpPr txBox="1"/>
          <p:nvPr/>
        </p:nvSpPr>
        <p:spPr>
          <a:xfrm>
            <a:off x="8458200" y="3054096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Oct-26–Feb supply plan totals 2,000 MT but the balance is 1,988 MT (12 MT already done) - quantities not reconciled against scope.</a:t>
            </a:r>
            <a:endParaRPr lang="en-US" sz="740" dirty="0"/>
          </a:p>
        </p:txBody>
      </p:sp>
      <p:sp>
        <p:nvSpPr>
          <p:cNvPr id="147" name="Text 145"/>
          <p:cNvSpPr txBox="1"/>
          <p:nvPr/>
        </p:nvSpPr>
        <p:spPr>
          <a:xfrm>
            <a:off x="8458200" y="3379622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Reconcile the supply plan against scope and the Sep-26 actual.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7543800" y="3675888"/>
            <a:ext cx="4233672" cy="603504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616952" y="3758184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7616952" y="3758184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51" name="Text 149"/>
          <p:cNvSpPr txBox="1"/>
          <p:nvPr/>
        </p:nvSpPr>
        <p:spPr>
          <a:xfrm>
            <a:off x="8458200" y="3712464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must jump from 12 MT in Sep-26 to 520 MT/month; Dec and Jan-27 alone need 1,020 MT.</a:t>
            </a:r>
            <a:endParaRPr lang="en-US" sz="740" dirty="0"/>
          </a:p>
        </p:txBody>
      </p:sp>
      <p:sp>
        <p:nvSpPr>
          <p:cNvPr id="152" name="Text 150"/>
          <p:cNvSpPr txBox="1"/>
          <p:nvPr/>
        </p:nvSpPr>
        <p:spPr>
          <a:xfrm>
            <a:off x="8458200" y="4037990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 fabrication lot plan; weekly dispatch vs 250/300/500/520/430 MT.</a:t>
            </a:r>
            <a:endParaRPr lang="en-US" sz="720" dirty="0"/>
          </a:p>
        </p:txBody>
      </p:sp>
      <p:sp>
        <p:nvSpPr>
          <p:cNvPr id="153" name="Shape 151"/>
          <p:cNvSpPr/>
          <p:nvPr/>
        </p:nvSpPr>
        <p:spPr>
          <a:xfrm>
            <a:off x="7543800" y="4334256"/>
            <a:ext cx="423367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16952" y="4416552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7616952" y="441655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50" dirty="0"/>
          </a:p>
        </p:txBody>
      </p:sp>
      <p:sp>
        <p:nvSpPr>
          <p:cNvPr id="156" name="Text 154"/>
          <p:cNvSpPr txBox="1"/>
          <p:nvPr/>
        </p:nvSpPr>
        <p:spPr>
          <a:xfrm>
            <a:off x="8458200" y="4370832"/>
            <a:ext cx="3246120" cy="35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Nov-26 and must hold 150–300 MT/month for 8 months.</a:t>
            </a:r>
            <a:endParaRPr lang="en-US" sz="740" dirty="0"/>
          </a:p>
        </p:txBody>
      </p:sp>
      <p:sp>
        <p:nvSpPr>
          <p:cNvPr id="157" name="Text 155"/>
          <p:cNvSpPr txBox="1"/>
          <p:nvPr/>
        </p:nvSpPr>
        <p:spPr>
          <a:xfrm>
            <a:off x="8458200" y="4696358"/>
            <a:ext cx="3246120" cy="22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Mobilise crane and erection crew before Nov-26.</a:t>
            </a:r>
            <a:endParaRPr lang="en-US" sz="720" dirty="0"/>
          </a:p>
        </p:txBody>
      </p:sp>
      <p:sp>
        <p:nvSpPr>
          <p:cNvPr id="158" name="Shape 156"/>
          <p:cNvSpPr/>
          <p:nvPr/>
        </p:nvSpPr>
        <p:spPr>
          <a:xfrm>
            <a:off x="7543800" y="5038344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7690104" y="4974336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vs DRAWINGS vs SUPPLY vs ERECTION (MT)</a:t>
            </a:r>
            <a:endParaRPr lang="en-US" sz="950" dirty="0"/>
          </a:p>
        </p:txBody>
      </p:sp>
      <p:sp>
        <p:nvSpPr>
          <p:cNvPr id="160" name="Shape 158"/>
          <p:cNvSpPr/>
          <p:nvPr/>
        </p:nvSpPr>
        <p:spPr>
          <a:xfrm>
            <a:off x="7543800" y="5212080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616952" y="521208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80" dirty="0"/>
          </a:p>
        </p:txBody>
      </p:sp>
      <p:sp>
        <p:nvSpPr>
          <p:cNvPr id="162" name="Shape 160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1060704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MT</a:t>
            </a:r>
            <a:endParaRPr lang="en-US" sz="780" dirty="0"/>
          </a:p>
        </p:txBody>
      </p:sp>
      <p:sp>
        <p:nvSpPr>
          <p:cNvPr id="165" name="Shape 163"/>
          <p:cNvSpPr/>
          <p:nvPr/>
        </p:nvSpPr>
        <p:spPr>
          <a:xfrm>
            <a:off x="7543800" y="5449824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7616952" y="544982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80" dirty="0"/>
          </a:p>
        </p:txBody>
      </p:sp>
      <p:sp>
        <p:nvSpPr>
          <p:cNvPr id="167" name="Shape 165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8750808" y="5486400"/>
            <a:ext cx="1247264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607040" y="5449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1,399 MT  ·  70%</a:t>
            </a:r>
            <a:endParaRPr lang="en-US" sz="780" dirty="0"/>
          </a:p>
        </p:txBody>
      </p:sp>
      <p:sp>
        <p:nvSpPr>
          <p:cNvPr id="170" name="Shape 168"/>
          <p:cNvSpPr/>
          <p:nvPr/>
        </p:nvSpPr>
        <p:spPr>
          <a:xfrm>
            <a:off x="7543800" y="5687568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7616952" y="568756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80" dirty="0"/>
          </a:p>
        </p:txBody>
      </p:sp>
      <p:sp>
        <p:nvSpPr>
          <p:cNvPr id="172" name="Shape 170"/>
          <p:cNvSpPr/>
          <p:nvPr/>
        </p:nvSpPr>
        <p:spPr>
          <a:xfrm>
            <a:off x="8750808" y="5724144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8750808" y="5724144"/>
            <a:ext cx="27432" cy="128016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10607040" y="5687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MT  ·  0.6%</a:t>
            </a:r>
            <a:endParaRPr lang="en-US" sz="780" dirty="0"/>
          </a:p>
        </p:txBody>
      </p:sp>
      <p:sp>
        <p:nvSpPr>
          <p:cNvPr id="175" name="Shape 173"/>
          <p:cNvSpPr/>
          <p:nvPr/>
        </p:nvSpPr>
        <p:spPr>
          <a:xfrm>
            <a:off x="7543800" y="5925312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616952" y="59253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Erected till date</a:t>
            </a:r>
            <a:endParaRPr lang="en-US" sz="780" dirty="0"/>
          </a:p>
        </p:txBody>
      </p:sp>
      <p:sp>
        <p:nvSpPr>
          <p:cNvPr id="177" name="Shape 175"/>
          <p:cNvSpPr/>
          <p:nvPr/>
        </p:nvSpPr>
        <p:spPr>
          <a:xfrm>
            <a:off x="8750808" y="5961888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7040" y="59253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MT  ·  starts Nov-26</a:t>
            </a:r>
            <a:endParaRPr lang="en-US" sz="780" dirty="0"/>
          </a:p>
        </p:txBody>
      </p:sp>
      <p:sp>
        <p:nvSpPr>
          <p:cNvPr id="179" name="Text 177"/>
          <p:cNvSpPr txBox="1"/>
          <p:nvPr/>
        </p:nvSpPr>
        <p:spPr>
          <a:xfrm>
            <a:off x="7543800" y="6199632"/>
            <a:ext cx="4233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601 MT drawings pending; 0.6% supplied; erection starts Nov-26.</a:t>
            </a:r>
            <a:endParaRPr lang="en-US" sz="750" dirty="0"/>
          </a:p>
        </p:txBody>
      </p:sp>
      <p:sp>
        <p:nvSpPr>
          <p:cNvPr id="180" name="Text 178"/>
          <p:cNvSpPr txBox="1"/>
          <p:nvPr/>
        </p:nvSpPr>
        <p:spPr>
          <a:xfrm>
            <a:off x="411480" y="64556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= building structure   ·   TS = technological structure</a:t>
            </a:r>
            <a:endParaRPr lang="en-US" sz="700" dirty="0"/>
          </a:p>
        </p:txBody>
      </p:sp>
      <p:sp>
        <p:nvSpPr>
          <p:cNvPr id="181" name="Text 179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 / Building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vendor: Samal Brothers   |   1,019 MT + TS: equipment, crane &amp; conveyor supports   |   Supply Oct-26 → Jan-27   |   Erection Oct-26 → Apr-27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222992" y="566928"/>
            <a:ext cx="1554480" cy="292608"/>
          </a:xfrm>
          <a:prstGeom prst="roundRect">
            <a:avLst>
              <a:gd name="adj" fmla="val 48828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22992" y="5669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RISK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188720"/>
            <a:ext cx="1801368" cy="73152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TS: equipment, crane &amp; conveyor supports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2322576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32304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432304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432304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scope  ·  nil pending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4233672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in Sep</a:t>
            </a:r>
            <a:endParaRPr lang="en-US" sz="680" dirty="0"/>
          </a:p>
        </p:txBody>
      </p:sp>
      <p:sp>
        <p:nvSpPr>
          <p:cNvPr id="19" name="Shape 17"/>
          <p:cNvSpPr/>
          <p:nvPr/>
        </p:nvSpPr>
        <p:spPr>
          <a:xfrm>
            <a:off x="6144768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SUPPLY PLAN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MT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 of scope  ·  250 / 250 / 250 MT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65592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ERECTION PLAN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65592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 MT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65592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of scope  ·  0 erected, starts Oct-26</a:t>
            </a:r>
            <a:endParaRPr lang="en-US" sz="680" dirty="0"/>
          </a:p>
        </p:txBody>
      </p:sp>
      <p:sp>
        <p:nvSpPr>
          <p:cNvPr id="27" name="Shape 25"/>
          <p:cNvSpPr/>
          <p:nvPr/>
        </p:nvSpPr>
        <p:spPr>
          <a:xfrm>
            <a:off x="9966960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7668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MONTHLY RATE (MT)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1007668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 | 200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7668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(Jan-27)  |  erection (Dec)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1148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7784" y="21031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WORK-FRONT SEQUENCE &amp; MONTHLY PLAN (MT)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2180844"/>
            <a:ext cx="64008" cy="64008"/>
          </a:xfrm>
          <a:prstGeom prst="rect">
            <a:avLst/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3484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/ drawings</a:t>
            </a:r>
            <a:endParaRPr lang="en-US" sz="630" dirty="0"/>
          </a:p>
        </p:txBody>
      </p:sp>
      <p:sp>
        <p:nvSpPr>
          <p:cNvPr id="35" name="Shape 33"/>
          <p:cNvSpPr/>
          <p:nvPr/>
        </p:nvSpPr>
        <p:spPr>
          <a:xfrm>
            <a:off x="5254142" y="2180844"/>
            <a:ext cx="64008" cy="64008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5582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5744261" y="2180844"/>
            <a:ext cx="64008" cy="64008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35701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6318504" y="2180844"/>
            <a:ext cx="64008" cy="64008"/>
          </a:xfrm>
          <a:prstGeom prst="rect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9944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/ bins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6934810" y="2180844"/>
            <a:ext cx="64008" cy="64008"/>
          </a:xfrm>
          <a:prstGeom prst="rect">
            <a:avLst/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2625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630" dirty="0"/>
          </a:p>
        </p:txBody>
      </p:sp>
      <p:sp>
        <p:nvSpPr>
          <p:cNvPr id="43" name="Shape 41"/>
          <p:cNvSpPr/>
          <p:nvPr/>
        </p:nvSpPr>
        <p:spPr>
          <a:xfrm>
            <a:off x="411480" y="2359152"/>
            <a:ext cx="6903720" cy="237744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48840" y="2359152"/>
            <a:ext cx="1536192" cy="237744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" y="2359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front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266090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317296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8503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4197096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470916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22122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573328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24535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6757416" y="2359152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11480" y="2596896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4632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release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85416" y="2670048"/>
            <a:ext cx="438912" cy="118872"/>
          </a:xfrm>
          <a:prstGeom prst="roundRect">
            <a:avLst>
              <a:gd name="adj" fmla="val 177515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1480" y="2852928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84632" y="28529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receipt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185416" y="2926080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3108960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84632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bay / bracing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185416" y="3182112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11480" y="3364992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463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tiers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2697480" y="3438144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1480" y="3621024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84632" y="3621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/ crane levels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9544" y="3694176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11480" y="3877056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4632" y="3877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 tiers / roof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233672" y="3950208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11480" y="4133088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84632" y="4133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5257800" y="4206240"/>
            <a:ext cx="438912" cy="118872"/>
          </a:xfrm>
          <a:prstGeom prst="roundRect">
            <a:avLst>
              <a:gd name="adj" fmla="val 177515"/>
            </a:avLst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11480" y="4389120"/>
            <a:ext cx="6903720" cy="630936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8840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660904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172968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685032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197096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709160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221224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733288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245352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57416" y="2596896"/>
            <a:ext cx="914" cy="2423160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48840" y="2596896"/>
            <a:ext cx="1536192" cy="242316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84632" y="438912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(MT)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2148840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2660904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3172968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3685032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4197096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4709160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5221224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5733288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6245352" y="438912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6757416" y="4389120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484632" y="459943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(MT)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2148840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2660904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3172968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3685032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4197096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4709160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5221224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5733288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9" name="Text 107"/>
          <p:cNvSpPr txBox="1"/>
          <p:nvPr/>
        </p:nvSpPr>
        <p:spPr>
          <a:xfrm>
            <a:off x="6245352" y="459943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10" name="Text 108"/>
          <p:cNvSpPr txBox="1"/>
          <p:nvPr/>
        </p:nvSpPr>
        <p:spPr>
          <a:xfrm>
            <a:off x="6757416" y="4599432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484632" y="480974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Cum. erection (% of scope)</a:t>
            </a:r>
            <a:endParaRPr lang="en-US" sz="700" dirty="0"/>
          </a:p>
        </p:txBody>
      </p:sp>
      <p:sp>
        <p:nvSpPr>
          <p:cNvPr id="112" name="Text 110"/>
          <p:cNvSpPr txBox="1"/>
          <p:nvPr/>
        </p:nvSpPr>
        <p:spPr>
          <a:xfrm>
            <a:off x="2148840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2660904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3172968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3685032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4197096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4709160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5221224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5733288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6245352" y="4809744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21" name="Text 119"/>
          <p:cNvSpPr txBox="1"/>
          <p:nvPr/>
        </p:nvSpPr>
        <p:spPr>
          <a:xfrm>
            <a:off x="6757416" y="480974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411480" y="4389120"/>
            <a:ext cx="6903720" cy="0"/>
          </a:xfrm>
          <a:prstGeom prst="line">
            <a:avLst/>
          </a:prstGeom>
          <a:noFill/>
          <a:ln w="9525">
            <a:solidFill>
              <a:srgbClr val="0C233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11480" y="5248656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85800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685800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Supply start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1764792" y="5248656"/>
            <a:ext cx="1197864" cy="786384"/>
          </a:xfrm>
          <a:prstGeom prst="chevron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2039112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8" name="Text 126"/>
          <p:cNvSpPr txBox="1"/>
          <p:nvPr/>
        </p:nvSpPr>
        <p:spPr>
          <a:xfrm>
            <a:off x="2039112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Erection start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3118104" y="5248656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3392424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1100" dirty="0"/>
          </a:p>
        </p:txBody>
      </p:sp>
      <p:sp>
        <p:nvSpPr>
          <p:cNvPr id="131" name="Text 129"/>
          <p:cNvSpPr txBox="1"/>
          <p:nvPr/>
        </p:nvSpPr>
        <p:spPr>
          <a:xfrm>
            <a:off x="3392424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complete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4471416" y="5248656"/>
            <a:ext cx="1197864" cy="786384"/>
          </a:xfrm>
          <a:prstGeom prst="chevron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4745736" y="532180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Apr-27</a:t>
            </a:r>
            <a:endParaRPr lang="en-US" sz="1100" dirty="0"/>
          </a:p>
        </p:txBody>
      </p:sp>
      <p:sp>
        <p:nvSpPr>
          <p:cNvPr id="134" name="Text 132"/>
          <p:cNvSpPr txBox="1"/>
          <p:nvPr/>
        </p:nvSpPr>
        <p:spPr>
          <a:xfrm>
            <a:off x="4745736" y="5632704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finish</a:t>
            </a:r>
            <a:endParaRPr lang="en-US" sz="80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6144768"/>
            <a:ext cx="690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view:</a:t>
            </a:r>
            <a:pPr algn="l" indent="0" marL="0">
              <a:buNone/>
            </a:pPr>
            <a:r>
              <a:rPr lang="en-US" sz="7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Material waiting at site builds to ≈423 MT by Jan-27 (supply ends 4 months before erection) - plan laydown and erection sequence.</a:t>
            </a:r>
            <a:endParaRPr lang="en-US" sz="780" dirty="0"/>
          </a:p>
        </p:txBody>
      </p:sp>
      <p:sp>
        <p:nvSpPr>
          <p:cNvPr id="136" name="Shape 134"/>
          <p:cNvSpPr/>
          <p:nvPr/>
        </p:nvSpPr>
        <p:spPr>
          <a:xfrm>
            <a:off x="754380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690104" y="2103120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CONCERNS &amp; ACTIONS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7543800" y="2359152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616952" y="2441448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7616952" y="244144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41" name="Text 139"/>
          <p:cNvSpPr txBox="1"/>
          <p:nvPr/>
        </p:nvSpPr>
        <p:spPr>
          <a:xfrm>
            <a:off x="8458200" y="2395728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must jump from 0 MT in Sep-26 to 269 MT/month; Oct and Jan-27 alone need 519 MT.</a:t>
            </a:r>
            <a:endParaRPr lang="en-US" sz="740" dirty="0"/>
          </a:p>
        </p:txBody>
      </p:sp>
      <p:sp>
        <p:nvSpPr>
          <p:cNvPr id="142" name="Text 140"/>
          <p:cNvSpPr txBox="1"/>
          <p:nvPr/>
        </p:nvSpPr>
        <p:spPr>
          <a:xfrm>
            <a:off x="8458200" y="2754173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 fabrication lot plan; weekly dispatch vs 250/250/250/269 MT.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7543800" y="3072384"/>
            <a:ext cx="423367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616952" y="3154680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616952" y="315468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</a:t>
            </a:r>
            <a:endParaRPr lang="en-US" sz="650" dirty="0"/>
          </a:p>
        </p:txBody>
      </p:sp>
      <p:sp>
        <p:nvSpPr>
          <p:cNvPr id="146" name="Text 144"/>
          <p:cNvSpPr txBox="1"/>
          <p:nvPr/>
        </p:nvSpPr>
        <p:spPr>
          <a:xfrm>
            <a:off x="8458200" y="3108960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first and needs surveyed starter-bay foundations now.</a:t>
            </a:r>
            <a:endParaRPr lang="en-US" sz="740" dirty="0"/>
          </a:p>
        </p:txBody>
      </p:sp>
      <p:sp>
        <p:nvSpPr>
          <p:cNvPr id="147" name="Text 145"/>
          <p:cNvSpPr txBox="1"/>
          <p:nvPr/>
        </p:nvSpPr>
        <p:spPr>
          <a:xfrm>
            <a:off x="8458200" y="3467405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Release surveyed starter-bay foundations / anchor bolts.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7543800" y="3785616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616952" y="3867912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7616952" y="38679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50" dirty="0"/>
          </a:p>
        </p:txBody>
      </p:sp>
      <p:sp>
        <p:nvSpPr>
          <p:cNvPr id="151" name="Text 149"/>
          <p:cNvSpPr txBox="1"/>
          <p:nvPr/>
        </p:nvSpPr>
        <p:spPr>
          <a:xfrm>
            <a:off x="8458200" y="3822192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Oct-26 and must hold 50–200 MT/month for 7 months.</a:t>
            </a:r>
            <a:endParaRPr lang="en-US" sz="740" dirty="0"/>
          </a:p>
        </p:txBody>
      </p:sp>
      <p:sp>
        <p:nvSpPr>
          <p:cNvPr id="152" name="Text 150"/>
          <p:cNvSpPr txBox="1"/>
          <p:nvPr/>
        </p:nvSpPr>
        <p:spPr>
          <a:xfrm>
            <a:off x="8458200" y="4180637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Mobilise crane and erection crew before Oct-26.</a:t>
            </a:r>
            <a:endParaRPr lang="en-US" sz="720" dirty="0"/>
          </a:p>
        </p:txBody>
      </p:sp>
      <p:sp>
        <p:nvSpPr>
          <p:cNvPr id="153" name="Shape 151"/>
          <p:cNvSpPr/>
          <p:nvPr/>
        </p:nvSpPr>
        <p:spPr>
          <a:xfrm>
            <a:off x="7543800" y="5038344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7690104" y="4974336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vs DRAWINGS vs SUPPLY vs ERECTION (MT)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7543800" y="5212080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7616952" y="521208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80" dirty="0"/>
          </a:p>
        </p:txBody>
      </p:sp>
      <p:sp>
        <p:nvSpPr>
          <p:cNvPr id="157" name="Shape 155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60704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</a:t>
            </a:r>
            <a:endParaRPr lang="en-US" sz="780" dirty="0"/>
          </a:p>
        </p:txBody>
      </p:sp>
      <p:sp>
        <p:nvSpPr>
          <p:cNvPr id="160" name="Shape 158"/>
          <p:cNvSpPr/>
          <p:nvPr/>
        </p:nvSpPr>
        <p:spPr>
          <a:xfrm>
            <a:off x="7543800" y="5449824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616952" y="544982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80" dirty="0"/>
          </a:p>
        </p:txBody>
      </p:sp>
      <p:sp>
        <p:nvSpPr>
          <p:cNvPr id="162" name="Shape 160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10607040" y="5449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 MT  ·  100%</a:t>
            </a:r>
            <a:endParaRPr lang="en-US" sz="780" dirty="0"/>
          </a:p>
        </p:txBody>
      </p:sp>
      <p:sp>
        <p:nvSpPr>
          <p:cNvPr id="165" name="Shape 163"/>
          <p:cNvSpPr/>
          <p:nvPr/>
        </p:nvSpPr>
        <p:spPr>
          <a:xfrm>
            <a:off x="7543800" y="5687568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7616952" y="568756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80" dirty="0"/>
          </a:p>
        </p:txBody>
      </p:sp>
      <p:sp>
        <p:nvSpPr>
          <p:cNvPr id="167" name="Shape 165"/>
          <p:cNvSpPr/>
          <p:nvPr/>
        </p:nvSpPr>
        <p:spPr>
          <a:xfrm>
            <a:off x="8750808" y="5724144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607040" y="5687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780" dirty="0"/>
          </a:p>
        </p:txBody>
      </p:sp>
      <p:sp>
        <p:nvSpPr>
          <p:cNvPr id="169" name="Shape 167"/>
          <p:cNvSpPr/>
          <p:nvPr/>
        </p:nvSpPr>
        <p:spPr>
          <a:xfrm>
            <a:off x="7543800" y="5925312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7616952" y="59253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Erected till date</a:t>
            </a:r>
            <a:endParaRPr lang="en-US" sz="780" dirty="0"/>
          </a:p>
        </p:txBody>
      </p:sp>
      <p:sp>
        <p:nvSpPr>
          <p:cNvPr id="171" name="Shape 169"/>
          <p:cNvSpPr/>
          <p:nvPr/>
        </p:nvSpPr>
        <p:spPr>
          <a:xfrm>
            <a:off x="8750808" y="5961888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10607040" y="59253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MT  ·  starts Oct-26</a:t>
            </a:r>
            <a:endParaRPr lang="en-US" sz="780" dirty="0"/>
          </a:p>
        </p:txBody>
      </p:sp>
      <p:sp>
        <p:nvSpPr>
          <p:cNvPr id="173" name="Text 171"/>
          <p:cNvSpPr txBox="1"/>
          <p:nvPr/>
        </p:nvSpPr>
        <p:spPr>
          <a:xfrm>
            <a:off x="7543800" y="6199632"/>
            <a:ext cx="4233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complete; supply starts Oct-26; erection starts Oct-26.</a:t>
            </a:r>
            <a:endParaRPr lang="en-US" sz="750" dirty="0"/>
          </a:p>
        </p:txBody>
      </p:sp>
      <p:sp>
        <p:nvSpPr>
          <p:cNvPr id="174" name="Text 172"/>
          <p:cNvSpPr txBox="1"/>
          <p:nvPr/>
        </p:nvSpPr>
        <p:spPr>
          <a:xfrm>
            <a:off x="411480" y="64556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= building structure   ·   TS = technological structure</a:t>
            </a:r>
            <a:endParaRPr lang="en-US" sz="700" dirty="0"/>
          </a:p>
        </p:txBody>
      </p:sp>
      <p:sp>
        <p:nvSpPr>
          <p:cNvPr id="175" name="Text 173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Fines Building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vendor: Vrinda Bhillai (site fabrication)   |   393 MT + TS 66.3 MT (bins, liner, weighing bins)   |   Supply Oct-26 → Jan-27   |   Erection Nov-26 → Mar-27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222992" y="566928"/>
            <a:ext cx="1554480" cy="292608"/>
          </a:xfrm>
          <a:prstGeom prst="roundRect">
            <a:avLst>
              <a:gd name="adj" fmla="val 48828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22992" y="5669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RISK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188720"/>
            <a:ext cx="1801368" cy="73152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2120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TS 66.3 MT (bins, liner, weighing bins)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2322576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32304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432304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432304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scope  ·  nil pending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4233672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 in Sep</a:t>
            </a:r>
            <a:endParaRPr lang="en-US" sz="680" dirty="0"/>
          </a:p>
        </p:txBody>
      </p:sp>
      <p:sp>
        <p:nvSpPr>
          <p:cNvPr id="19" name="Shape 17"/>
          <p:cNvSpPr/>
          <p:nvPr/>
        </p:nvSpPr>
        <p:spPr>
          <a:xfrm>
            <a:off x="6144768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SUPPLY PLAN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MT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 of scope  ·  120 / 120 / 120 MT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65592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OCT–DEC ERECTION PLAN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65592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65592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of scope  ·  0 erected, starts Nov-26</a:t>
            </a:r>
            <a:endParaRPr lang="en-US" sz="680" dirty="0"/>
          </a:p>
        </p:txBody>
      </p:sp>
      <p:sp>
        <p:nvSpPr>
          <p:cNvPr id="27" name="Shape 25"/>
          <p:cNvSpPr/>
          <p:nvPr/>
        </p:nvSpPr>
        <p:spPr>
          <a:xfrm>
            <a:off x="9966960" y="1188720"/>
            <a:ext cx="1801368" cy="73152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76688" y="1243584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MONTHLY RATE (MT)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10076688" y="14173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| 120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76688" y="1719072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(Oct–Dec)  |  erection (Feb)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1148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7784" y="21031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WORK-FRONT SEQUENCE &amp; MONTHLY PLAN (MT)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2180844"/>
            <a:ext cx="64008" cy="64008"/>
          </a:xfrm>
          <a:prstGeom prst="rect">
            <a:avLst/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3484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/ drawings</a:t>
            </a:r>
            <a:endParaRPr lang="en-US" sz="630" dirty="0"/>
          </a:p>
        </p:txBody>
      </p:sp>
      <p:sp>
        <p:nvSpPr>
          <p:cNvPr id="35" name="Shape 33"/>
          <p:cNvSpPr/>
          <p:nvPr/>
        </p:nvSpPr>
        <p:spPr>
          <a:xfrm>
            <a:off x="5254142" y="2180844"/>
            <a:ext cx="64008" cy="64008"/>
          </a:xfrm>
          <a:prstGeom prst="rect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5582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5744261" y="2180844"/>
            <a:ext cx="64008" cy="64008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35701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6318504" y="2180844"/>
            <a:ext cx="64008" cy="64008"/>
          </a:xfrm>
          <a:prstGeom prst="rect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9944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/ bins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6934810" y="2180844"/>
            <a:ext cx="64008" cy="64008"/>
          </a:xfrm>
          <a:prstGeom prst="rect">
            <a:avLst/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26250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630" dirty="0"/>
          </a:p>
        </p:txBody>
      </p:sp>
      <p:sp>
        <p:nvSpPr>
          <p:cNvPr id="43" name="Shape 41"/>
          <p:cNvSpPr/>
          <p:nvPr/>
        </p:nvSpPr>
        <p:spPr>
          <a:xfrm>
            <a:off x="411480" y="2359152"/>
            <a:ext cx="6903720" cy="237744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48840" y="2359152"/>
            <a:ext cx="1536192" cy="237744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" y="2359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front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266090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317296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8503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4197096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4709160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5221224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5733288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6245352" y="235915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6757416" y="2359152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11480" y="2596896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4632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release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85416" y="2670048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FD349C"/>
          </a:solidFill>
          <a:ln w="12700">
            <a:solidFill>
              <a:srgbClr val="FD349C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1480" y="2852928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84632" y="28529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Fabrication &amp; supply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185416" y="2926080"/>
            <a:ext cx="1975104" cy="118872"/>
          </a:xfrm>
          <a:prstGeom prst="roundRect">
            <a:avLst>
              <a:gd name="adj" fmla="val 177515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3108960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84632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frame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697480" y="3182112"/>
            <a:ext cx="950976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11480" y="3364992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84632" y="33649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 support floors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9544" y="3438144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1480" y="3621024"/>
            <a:ext cx="6903720" cy="256032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84632" y="3621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Bins / liner (TS)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9544" y="3694176"/>
            <a:ext cx="1463040" cy="118872"/>
          </a:xfrm>
          <a:prstGeom prst="roundRect">
            <a:avLst>
              <a:gd name="adj" fmla="val 177515"/>
            </a:avLst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11480" y="3877056"/>
            <a:ext cx="69037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4632" y="3877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745736" y="3950208"/>
            <a:ext cx="438912" cy="118872"/>
          </a:xfrm>
          <a:prstGeom prst="roundRect">
            <a:avLst>
              <a:gd name="adj" fmla="val 177515"/>
            </a:avLst>
          </a:prstGeom>
          <a:solidFill>
            <a:srgbClr val="1F9D55"/>
          </a:solidFill>
          <a:ln w="12700">
            <a:solidFill>
              <a:srgbClr val="1F9D55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11480" y="4133088"/>
            <a:ext cx="6903720" cy="630936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884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6090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17296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68503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19709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09160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1224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33288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45352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57416" y="2596896"/>
            <a:ext cx="914" cy="2167128"/>
          </a:xfrm>
          <a:prstGeom prst="line">
            <a:avLst/>
          </a:prstGeom>
          <a:noFill/>
          <a:ln w="6350">
            <a:solidFill>
              <a:srgbClr val="DDE2E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148840" y="2596896"/>
            <a:ext cx="1536192" cy="2167128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484632" y="413308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(MT)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214884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266090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317296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368503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4197096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4709160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5221224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5733288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6245352" y="4133088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6757416" y="4133088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484632" y="434340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(MT)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214884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266090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317296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8503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4197096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4709160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5221224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5733288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6245352" y="4343400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6757416" y="4343400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484632" y="455371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Cum. erection (% of scope)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214884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750" dirty="0"/>
          </a:p>
        </p:txBody>
      </p:sp>
      <p:sp>
        <p:nvSpPr>
          <p:cNvPr id="110" name="Text 108"/>
          <p:cNvSpPr txBox="1"/>
          <p:nvPr/>
        </p:nvSpPr>
        <p:spPr>
          <a:xfrm>
            <a:off x="266090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13%</a:t>
            </a:r>
            <a:endParaRPr lang="en-US" sz="750" dirty="0"/>
          </a:p>
        </p:txBody>
      </p:sp>
      <p:sp>
        <p:nvSpPr>
          <p:cNvPr id="111" name="Text 109"/>
          <p:cNvSpPr txBox="1"/>
          <p:nvPr/>
        </p:nvSpPr>
        <p:spPr>
          <a:xfrm>
            <a:off x="317296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368503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197096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709160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5221224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733288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245352" y="4553712"/>
            <a:ext cx="512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6757416" y="4553712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11480" y="4133088"/>
            <a:ext cx="6903720" cy="0"/>
          </a:xfrm>
          <a:prstGeom prst="line">
            <a:avLst/>
          </a:prstGeom>
          <a:noFill/>
          <a:ln w="9525">
            <a:solidFill>
              <a:srgbClr val="0C233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11480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85800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1100" dirty="0"/>
          </a:p>
        </p:txBody>
      </p:sp>
      <p:sp>
        <p:nvSpPr>
          <p:cNvPr id="122" name="Text 120"/>
          <p:cNvSpPr txBox="1"/>
          <p:nvPr/>
        </p:nvSpPr>
        <p:spPr>
          <a:xfrm>
            <a:off x="685800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Supply start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1764792" y="5029200"/>
            <a:ext cx="1197864" cy="786384"/>
          </a:xfrm>
          <a:prstGeom prst="chevron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2039112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Nov-26</a:t>
            </a:r>
            <a:endParaRPr lang="en-US" sz="1100" dirty="0"/>
          </a:p>
        </p:txBody>
      </p:sp>
      <p:sp>
        <p:nvSpPr>
          <p:cNvPr id="125" name="Text 123"/>
          <p:cNvSpPr txBox="1"/>
          <p:nvPr/>
        </p:nvSpPr>
        <p:spPr>
          <a:xfrm>
            <a:off x="2039112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Erection start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3118104" y="5029200"/>
            <a:ext cx="1197864" cy="786384"/>
          </a:xfrm>
          <a:prstGeom prst="chevron">
            <a:avLst/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3392424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1100" dirty="0"/>
          </a:p>
        </p:txBody>
      </p:sp>
      <p:sp>
        <p:nvSpPr>
          <p:cNvPr id="128" name="Text 126"/>
          <p:cNvSpPr txBox="1"/>
          <p:nvPr/>
        </p:nvSpPr>
        <p:spPr>
          <a:xfrm>
            <a:off x="3392424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complete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4471416" y="5029200"/>
            <a:ext cx="1197864" cy="786384"/>
          </a:xfrm>
          <a:prstGeom prst="chevron">
            <a:avLst/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4745736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→ Feb</a:t>
            </a:r>
            <a:endParaRPr lang="en-US" sz="1100" dirty="0"/>
          </a:p>
        </p:txBody>
      </p:sp>
      <p:sp>
        <p:nvSpPr>
          <p:cNvPr id="131" name="Text 129"/>
          <p:cNvSpPr txBox="1"/>
          <p:nvPr/>
        </p:nvSpPr>
        <p:spPr>
          <a:xfrm>
            <a:off x="4745736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Bins / liner (TS)</a:t>
            </a:r>
            <a:endParaRPr lang="en-US" sz="800" dirty="0"/>
          </a:p>
        </p:txBody>
      </p:sp>
      <p:sp>
        <p:nvSpPr>
          <p:cNvPr id="132" name="Shape 130"/>
          <p:cNvSpPr/>
          <p:nvPr/>
        </p:nvSpPr>
        <p:spPr>
          <a:xfrm>
            <a:off x="5824728" y="5029200"/>
            <a:ext cx="1197864" cy="786384"/>
          </a:xfrm>
          <a:prstGeom prst="chevron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6099048" y="510235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Mar-27</a:t>
            </a:r>
            <a:endParaRPr lang="en-US" sz="1100" dirty="0"/>
          </a:p>
        </p:txBody>
      </p:sp>
      <p:sp>
        <p:nvSpPr>
          <p:cNvPr id="134" name="Text 132"/>
          <p:cNvSpPr txBox="1"/>
          <p:nvPr/>
        </p:nvSpPr>
        <p:spPr>
          <a:xfrm>
            <a:off x="6099048" y="5413248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finish</a:t>
            </a:r>
            <a:endParaRPr lang="en-US" sz="800" dirty="0"/>
          </a:p>
        </p:txBody>
      </p:sp>
      <p:sp>
        <p:nvSpPr>
          <p:cNvPr id="135" name="Text 133"/>
          <p:cNvSpPr txBox="1"/>
          <p:nvPr/>
        </p:nvSpPr>
        <p:spPr>
          <a:xfrm>
            <a:off x="411480" y="5925312"/>
            <a:ext cx="690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view:</a:t>
            </a:r>
            <a:pPr algn="l" indent="0" marL="0">
              <a:buNone/>
            </a:pPr>
            <a:r>
              <a:rPr lang="en-US" sz="78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Material waiting at site builds to ≈260 MT by Dec-26 (supply ends 3 months before erection) - plan laydown and erection sequence.</a:t>
            </a:r>
            <a:endParaRPr lang="en-US" sz="780" dirty="0"/>
          </a:p>
        </p:txBody>
      </p:sp>
      <p:sp>
        <p:nvSpPr>
          <p:cNvPr id="136" name="Shape 134"/>
          <p:cNvSpPr/>
          <p:nvPr/>
        </p:nvSpPr>
        <p:spPr>
          <a:xfrm>
            <a:off x="7543800" y="2176272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690104" y="2103120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CONCERNS &amp; ACTIONS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7543800" y="2359152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616952" y="2441448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00B8F5"/>
          </a:solidFill>
          <a:ln w="12700">
            <a:solidFill>
              <a:srgbClr val="00B8F5">
                <a:alpha val="0"/>
              </a:srgbClr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7616952" y="244144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</a:t>
            </a:r>
            <a:endParaRPr lang="en-US" sz="650" dirty="0"/>
          </a:p>
        </p:txBody>
      </p:sp>
      <p:sp>
        <p:nvSpPr>
          <p:cNvPr id="141" name="Text 139"/>
          <p:cNvSpPr txBox="1"/>
          <p:nvPr/>
        </p:nvSpPr>
        <p:spPr>
          <a:xfrm>
            <a:off x="8458200" y="2395728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must jump from 0 MT in Sep-26 to 120 MT/month; Oct and Nov alone need 240 MT.</a:t>
            </a:r>
            <a:endParaRPr lang="en-US" sz="740" dirty="0"/>
          </a:p>
        </p:txBody>
      </p:sp>
      <p:sp>
        <p:nvSpPr>
          <p:cNvPr id="142" name="Text 140"/>
          <p:cNvSpPr txBox="1"/>
          <p:nvPr/>
        </p:nvSpPr>
        <p:spPr>
          <a:xfrm>
            <a:off x="8458200" y="2754173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 fabrication lot plan; weekly dispatch vs 120/120/120/33 MT.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7543800" y="3072384"/>
            <a:ext cx="423367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616952" y="3154680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616952" y="315468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</a:t>
            </a:r>
            <a:endParaRPr lang="en-US" sz="650" dirty="0"/>
          </a:p>
        </p:txBody>
      </p:sp>
      <p:sp>
        <p:nvSpPr>
          <p:cNvPr id="146" name="Text 144"/>
          <p:cNvSpPr txBox="1"/>
          <p:nvPr/>
        </p:nvSpPr>
        <p:spPr>
          <a:xfrm>
            <a:off x="8458200" y="3108960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Erection starts Nov-26 and must hold 50–120 MT/month for 5 months.</a:t>
            </a:r>
            <a:endParaRPr lang="en-US" sz="740" dirty="0"/>
          </a:p>
        </p:txBody>
      </p:sp>
      <p:sp>
        <p:nvSpPr>
          <p:cNvPr id="147" name="Text 145"/>
          <p:cNvSpPr txBox="1"/>
          <p:nvPr/>
        </p:nvSpPr>
        <p:spPr>
          <a:xfrm>
            <a:off x="8458200" y="3467405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Mobilise crane and erection crew before Nov-26.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7543800" y="3785616"/>
            <a:ext cx="4233672" cy="658368"/>
          </a:xfrm>
          <a:prstGeom prst="rect">
            <a:avLst/>
          </a:prstGeom>
          <a:solidFill>
            <a:srgbClr val="F3F6FA"/>
          </a:solidFill>
          <a:ln w="6350">
            <a:solidFill>
              <a:srgbClr val="DDE2E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616952" y="3867912"/>
            <a:ext cx="749808" cy="173736"/>
          </a:xfrm>
          <a:prstGeom prst="roundRect">
            <a:avLst>
              <a:gd name="adj" fmla="val 83102"/>
            </a:avLst>
          </a:prstGeom>
          <a:solidFill>
            <a:srgbClr val="7213EA"/>
          </a:solidFill>
          <a:ln w="12700">
            <a:solidFill>
              <a:srgbClr val="7213EA">
                <a:alpha val="0"/>
              </a:srgbClr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7616952" y="38679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650" dirty="0"/>
          </a:p>
        </p:txBody>
      </p:sp>
      <p:sp>
        <p:nvSpPr>
          <p:cNvPr id="151" name="Text 149"/>
          <p:cNvSpPr txBox="1"/>
          <p:nvPr/>
        </p:nvSpPr>
        <p:spPr>
          <a:xfrm>
            <a:off x="8458200" y="3822192"/>
            <a:ext cx="3246120" cy="381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Bin-support and conveyor interface not yet frozen.</a:t>
            </a:r>
            <a:endParaRPr lang="en-US" sz="740" dirty="0"/>
          </a:p>
        </p:txBody>
      </p:sp>
      <p:sp>
        <p:nvSpPr>
          <p:cNvPr id="152" name="Text 150"/>
          <p:cNvSpPr txBox="1"/>
          <p:nvPr/>
        </p:nvSpPr>
        <p:spPr>
          <a:xfrm>
            <a:off x="8458200" y="4180637"/>
            <a:ext cx="3246120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buNone/>
            </a:pPr>
            <a:r>
              <a:rPr lang="en-US" sz="720" dirty="0">
                <a:solidFill>
                  <a:srgbClr val="1E4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Freeze bin-support and conveyor interface.</a:t>
            </a:r>
            <a:endParaRPr lang="en-US" sz="720" dirty="0"/>
          </a:p>
        </p:txBody>
      </p:sp>
      <p:sp>
        <p:nvSpPr>
          <p:cNvPr id="153" name="Shape 151"/>
          <p:cNvSpPr/>
          <p:nvPr/>
        </p:nvSpPr>
        <p:spPr>
          <a:xfrm>
            <a:off x="7543800" y="5038344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7690104" y="4974336"/>
            <a:ext cx="4233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vs DRAWINGS vs SUPPLY vs ERECTION (MT)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7543800" y="5212080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7616952" y="521208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780" dirty="0"/>
          </a:p>
        </p:txBody>
      </p:sp>
      <p:sp>
        <p:nvSpPr>
          <p:cNvPr id="157" name="Shape 155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750808" y="5248656"/>
            <a:ext cx="1783080" cy="128016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607040" y="52120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</a:t>
            </a:r>
            <a:endParaRPr lang="en-US" sz="780" dirty="0"/>
          </a:p>
        </p:txBody>
      </p:sp>
      <p:sp>
        <p:nvSpPr>
          <p:cNvPr id="160" name="Shape 158"/>
          <p:cNvSpPr/>
          <p:nvPr/>
        </p:nvSpPr>
        <p:spPr>
          <a:xfrm>
            <a:off x="7543800" y="5449824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616952" y="544982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released</a:t>
            </a:r>
            <a:endParaRPr lang="en-US" sz="780" dirty="0"/>
          </a:p>
        </p:txBody>
      </p:sp>
      <p:sp>
        <p:nvSpPr>
          <p:cNvPr id="162" name="Shape 160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750808" y="5486400"/>
            <a:ext cx="1783080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10607040" y="5449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 MT  ·  100%</a:t>
            </a:r>
            <a:endParaRPr lang="en-US" sz="780" dirty="0"/>
          </a:p>
        </p:txBody>
      </p:sp>
      <p:sp>
        <p:nvSpPr>
          <p:cNvPr id="165" name="Shape 163"/>
          <p:cNvSpPr/>
          <p:nvPr/>
        </p:nvSpPr>
        <p:spPr>
          <a:xfrm>
            <a:off x="7543800" y="5687568"/>
            <a:ext cx="4233672" cy="201168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7616952" y="568756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Supplied till Sep</a:t>
            </a:r>
            <a:endParaRPr lang="en-US" sz="780" dirty="0"/>
          </a:p>
        </p:txBody>
      </p:sp>
      <p:sp>
        <p:nvSpPr>
          <p:cNvPr id="167" name="Shape 165"/>
          <p:cNvSpPr/>
          <p:nvPr/>
        </p:nvSpPr>
        <p:spPr>
          <a:xfrm>
            <a:off x="8750808" y="5724144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607040" y="56875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</a:t>
            </a:r>
            <a:endParaRPr lang="en-US" sz="780" dirty="0"/>
          </a:p>
        </p:txBody>
      </p:sp>
      <p:sp>
        <p:nvSpPr>
          <p:cNvPr id="169" name="Shape 167"/>
          <p:cNvSpPr/>
          <p:nvPr/>
        </p:nvSpPr>
        <p:spPr>
          <a:xfrm>
            <a:off x="7543800" y="5925312"/>
            <a:ext cx="42336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7616952" y="592531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Erected till date</a:t>
            </a:r>
            <a:endParaRPr lang="en-US" sz="780" dirty="0"/>
          </a:p>
        </p:txBody>
      </p:sp>
      <p:sp>
        <p:nvSpPr>
          <p:cNvPr id="171" name="Shape 169"/>
          <p:cNvSpPr/>
          <p:nvPr/>
        </p:nvSpPr>
        <p:spPr>
          <a:xfrm>
            <a:off x="8750808" y="5961888"/>
            <a:ext cx="1783080" cy="128016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>
                <a:alpha val="0"/>
              </a:srgbClr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10607040" y="59253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MT  ·  starts Nov-26</a:t>
            </a:r>
            <a:endParaRPr lang="en-US" sz="780" dirty="0"/>
          </a:p>
        </p:txBody>
      </p:sp>
      <p:sp>
        <p:nvSpPr>
          <p:cNvPr id="173" name="Text 171"/>
          <p:cNvSpPr txBox="1"/>
          <p:nvPr/>
        </p:nvSpPr>
        <p:spPr>
          <a:xfrm>
            <a:off x="7543800" y="6199632"/>
            <a:ext cx="4233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complete; supply starts Oct-26; erection starts Nov-26.</a:t>
            </a:r>
            <a:endParaRPr lang="en-US" sz="750" dirty="0"/>
          </a:p>
        </p:txBody>
      </p:sp>
      <p:sp>
        <p:nvSpPr>
          <p:cNvPr id="174" name="Text 172"/>
          <p:cNvSpPr txBox="1"/>
          <p:nvPr/>
        </p:nvSpPr>
        <p:spPr>
          <a:xfrm>
            <a:off x="411480" y="64556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= building structure   ·   TS = technological structure</a:t>
            </a:r>
            <a:endParaRPr lang="en-US" sz="700" dirty="0"/>
          </a:p>
        </p:txBody>
      </p:sp>
      <p:sp>
        <p:nvSpPr>
          <p:cNvPr id="175" name="Text 173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combined supply and erection plan - all 3 buildings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0467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peaks at 870 MT/month in Dec-26; erection must climb from 50 to 538 MT/month by Feb-27  -  Building structures status, MT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310896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on:  30-Sep-26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1316736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" y="1243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SUPPLY vs ERECTION (MT)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481328"/>
          <a:ext cx="5532120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245352" y="1316736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91656" y="1243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SUPPLY vs ERECTION (MT)</a:t>
            </a:r>
            <a:endParaRPr lang="en-US" sz="9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45352" y="1481328"/>
          <a:ext cx="5532120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9464040" y="2587752"/>
            <a:ext cx="215798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A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Dec-26: 2,172 MT supplied vs 930 erected</a:t>
            </a:r>
            <a:endParaRPr lang="en-US" sz="720" dirty="0"/>
          </a:p>
          <a:p>
            <a:pPr algn="l" indent="0" marL="0">
              <a:buNone/>
            </a:pPr>
            <a:r>
              <a:rPr lang="en-US" sz="720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material waiting at site: ≈1,538 MT (Jan-27)</a:t>
            </a:r>
            <a:endParaRPr lang="en-US" sz="720" dirty="0"/>
          </a:p>
        </p:txBody>
      </p:sp>
      <p:sp>
        <p:nvSpPr>
          <p:cNvPr id="12" name="Shape 8"/>
          <p:cNvSpPr/>
          <p:nvPr/>
        </p:nvSpPr>
        <p:spPr>
          <a:xfrm>
            <a:off x="411480" y="3950208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57784" y="387705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PLAN BY BUILDING (MT)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108960" y="38770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Oct-26–Dec shaded  ·  – = nil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411480" y="4114800"/>
            <a:ext cx="7269480" cy="182880"/>
          </a:xfrm>
          <a:prstGeom prst="rect">
            <a:avLst/>
          </a:prstGeom>
          <a:solidFill>
            <a:srgbClr val="0C233C"/>
          </a:solidFill>
          <a:ln w="12700">
            <a:solidFill>
              <a:srgbClr val="0C233C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6344" y="4114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en-US" sz="700" dirty="0"/>
          </a:p>
        </p:txBody>
      </p:sp>
      <p:sp>
        <p:nvSpPr>
          <p:cNvPr id="17" name="Text 13"/>
          <p:cNvSpPr txBox="1"/>
          <p:nvPr/>
        </p:nvSpPr>
        <p:spPr>
          <a:xfrm>
            <a:off x="260604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Oct-26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310896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700" dirty="0"/>
          </a:p>
        </p:txBody>
      </p:sp>
      <p:sp>
        <p:nvSpPr>
          <p:cNvPr id="19" name="Text 15"/>
          <p:cNvSpPr txBox="1"/>
          <p:nvPr/>
        </p:nvSpPr>
        <p:spPr>
          <a:xfrm>
            <a:off x="361188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Text 16"/>
          <p:cNvSpPr txBox="1"/>
          <p:nvPr/>
        </p:nvSpPr>
        <p:spPr>
          <a:xfrm>
            <a:off x="411480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Jan-27</a:t>
            </a:r>
            <a:endParaRPr lang="en-US" sz="700" dirty="0"/>
          </a:p>
        </p:txBody>
      </p:sp>
      <p:sp>
        <p:nvSpPr>
          <p:cNvPr id="21" name="Text 17"/>
          <p:cNvSpPr txBox="1"/>
          <p:nvPr/>
        </p:nvSpPr>
        <p:spPr>
          <a:xfrm>
            <a:off x="461772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700" dirty="0"/>
          </a:p>
        </p:txBody>
      </p:sp>
      <p:sp>
        <p:nvSpPr>
          <p:cNvPr id="22" name="Text 18"/>
          <p:cNvSpPr txBox="1"/>
          <p:nvPr/>
        </p:nvSpPr>
        <p:spPr>
          <a:xfrm>
            <a:off x="512064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562356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700" dirty="0"/>
          </a:p>
        </p:txBody>
      </p:sp>
      <p:sp>
        <p:nvSpPr>
          <p:cNvPr id="24" name="Text 20"/>
          <p:cNvSpPr txBox="1"/>
          <p:nvPr/>
        </p:nvSpPr>
        <p:spPr>
          <a:xfrm>
            <a:off x="612648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6629400" y="41148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7132320" y="4114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411480" y="4297680"/>
            <a:ext cx="7269480" cy="18288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2606040" y="429768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66344" y="4297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 - supply</a:t>
            </a:r>
            <a:endParaRPr lang="en-US" sz="680" dirty="0"/>
          </a:p>
        </p:txBody>
      </p:sp>
      <p:sp>
        <p:nvSpPr>
          <p:cNvPr id="30" name="Text 26"/>
          <p:cNvSpPr txBox="1"/>
          <p:nvPr/>
        </p:nvSpPr>
        <p:spPr>
          <a:xfrm>
            <a:off x="260604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31" name="Text 27"/>
          <p:cNvSpPr txBox="1"/>
          <p:nvPr/>
        </p:nvSpPr>
        <p:spPr>
          <a:xfrm>
            <a:off x="310896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361188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411480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</a:t>
            </a:r>
            <a:endParaRPr lang="en-US" sz="680" dirty="0"/>
          </a:p>
        </p:txBody>
      </p:sp>
      <p:sp>
        <p:nvSpPr>
          <p:cNvPr id="34" name="Text 30"/>
          <p:cNvSpPr txBox="1"/>
          <p:nvPr/>
        </p:nvSpPr>
        <p:spPr>
          <a:xfrm>
            <a:off x="461772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680" dirty="0"/>
          </a:p>
        </p:txBody>
      </p:sp>
      <p:sp>
        <p:nvSpPr>
          <p:cNvPr id="35" name="Text 31"/>
          <p:cNvSpPr txBox="1"/>
          <p:nvPr/>
        </p:nvSpPr>
        <p:spPr>
          <a:xfrm>
            <a:off x="512064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6" name="Text 32"/>
          <p:cNvSpPr txBox="1"/>
          <p:nvPr/>
        </p:nvSpPr>
        <p:spPr>
          <a:xfrm>
            <a:off x="562356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7" name="Text 33"/>
          <p:cNvSpPr txBox="1"/>
          <p:nvPr/>
        </p:nvSpPr>
        <p:spPr>
          <a:xfrm>
            <a:off x="612648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8" name="Text 34"/>
          <p:cNvSpPr txBox="1"/>
          <p:nvPr/>
        </p:nvSpPr>
        <p:spPr>
          <a:xfrm>
            <a:off x="6629400" y="4297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39" name="Text 35"/>
          <p:cNvSpPr txBox="1"/>
          <p:nvPr/>
        </p:nvSpPr>
        <p:spPr>
          <a:xfrm>
            <a:off x="713232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680" dirty="0"/>
          </a:p>
        </p:txBody>
      </p:sp>
      <p:sp>
        <p:nvSpPr>
          <p:cNvPr id="40" name="Shape 36"/>
          <p:cNvSpPr/>
          <p:nvPr/>
        </p:nvSpPr>
        <p:spPr>
          <a:xfrm>
            <a:off x="411480" y="4480560"/>
            <a:ext cx="72694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06040" y="448056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66344" y="44805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 - erection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60604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44" name="Text 40"/>
          <p:cNvSpPr txBox="1"/>
          <p:nvPr/>
        </p:nvSpPr>
        <p:spPr>
          <a:xfrm>
            <a:off x="310896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361188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6" name="Text 42"/>
          <p:cNvSpPr txBox="1"/>
          <p:nvPr/>
        </p:nvSpPr>
        <p:spPr>
          <a:xfrm>
            <a:off x="411480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7" name="Text 43"/>
          <p:cNvSpPr txBox="1"/>
          <p:nvPr/>
        </p:nvSpPr>
        <p:spPr>
          <a:xfrm>
            <a:off x="461772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8" name="Text 44"/>
          <p:cNvSpPr txBox="1"/>
          <p:nvPr/>
        </p:nvSpPr>
        <p:spPr>
          <a:xfrm>
            <a:off x="512064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49" name="Text 45"/>
          <p:cNvSpPr txBox="1"/>
          <p:nvPr/>
        </p:nvSpPr>
        <p:spPr>
          <a:xfrm>
            <a:off x="562356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0" name="Text 46"/>
          <p:cNvSpPr txBox="1"/>
          <p:nvPr/>
        </p:nvSpPr>
        <p:spPr>
          <a:xfrm>
            <a:off x="612648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6629400" y="44805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52" name="Text 48"/>
          <p:cNvSpPr txBox="1"/>
          <p:nvPr/>
        </p:nvSpPr>
        <p:spPr>
          <a:xfrm>
            <a:off x="7132320" y="448056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680" dirty="0"/>
          </a:p>
        </p:txBody>
      </p:sp>
      <p:sp>
        <p:nvSpPr>
          <p:cNvPr id="53" name="Shape 49"/>
          <p:cNvSpPr/>
          <p:nvPr/>
        </p:nvSpPr>
        <p:spPr>
          <a:xfrm>
            <a:off x="411480" y="4663440"/>
            <a:ext cx="7269480" cy="18288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606040" y="466344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466344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 / Building - supply</a:t>
            </a:r>
            <a:endParaRPr lang="en-US" sz="680" dirty="0"/>
          </a:p>
        </p:txBody>
      </p:sp>
      <p:sp>
        <p:nvSpPr>
          <p:cNvPr id="56" name="Text 52"/>
          <p:cNvSpPr txBox="1"/>
          <p:nvPr/>
        </p:nvSpPr>
        <p:spPr>
          <a:xfrm>
            <a:off x="260604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310896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8" name="Text 54"/>
          <p:cNvSpPr txBox="1"/>
          <p:nvPr/>
        </p:nvSpPr>
        <p:spPr>
          <a:xfrm>
            <a:off x="361188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680" dirty="0"/>
          </a:p>
        </p:txBody>
      </p:sp>
      <p:sp>
        <p:nvSpPr>
          <p:cNvPr id="59" name="Text 55"/>
          <p:cNvSpPr txBox="1"/>
          <p:nvPr/>
        </p:nvSpPr>
        <p:spPr>
          <a:xfrm>
            <a:off x="411480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</a:t>
            </a:r>
            <a:endParaRPr lang="en-US" sz="680" dirty="0"/>
          </a:p>
        </p:txBody>
      </p:sp>
      <p:sp>
        <p:nvSpPr>
          <p:cNvPr id="60" name="Text 56"/>
          <p:cNvSpPr txBox="1"/>
          <p:nvPr/>
        </p:nvSpPr>
        <p:spPr>
          <a:xfrm>
            <a:off x="461772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1" name="Text 57"/>
          <p:cNvSpPr txBox="1"/>
          <p:nvPr/>
        </p:nvSpPr>
        <p:spPr>
          <a:xfrm>
            <a:off x="512064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562356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3" name="Text 59"/>
          <p:cNvSpPr txBox="1"/>
          <p:nvPr/>
        </p:nvSpPr>
        <p:spPr>
          <a:xfrm>
            <a:off x="612648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4" name="Text 60"/>
          <p:cNvSpPr txBox="1"/>
          <p:nvPr/>
        </p:nvSpPr>
        <p:spPr>
          <a:xfrm>
            <a:off x="6629400" y="46634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65" name="Text 61"/>
          <p:cNvSpPr txBox="1"/>
          <p:nvPr/>
        </p:nvSpPr>
        <p:spPr>
          <a:xfrm>
            <a:off x="7132320" y="46634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680" dirty="0"/>
          </a:p>
        </p:txBody>
      </p:sp>
      <p:sp>
        <p:nvSpPr>
          <p:cNvPr id="66" name="Shape 62"/>
          <p:cNvSpPr/>
          <p:nvPr/>
        </p:nvSpPr>
        <p:spPr>
          <a:xfrm>
            <a:off x="411480" y="4846320"/>
            <a:ext cx="72694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606040" y="484632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466344" y="48463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 / Building - erection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260604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70" name="Text 66"/>
          <p:cNvSpPr txBox="1"/>
          <p:nvPr/>
        </p:nvSpPr>
        <p:spPr>
          <a:xfrm>
            <a:off x="310896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680" dirty="0"/>
          </a:p>
        </p:txBody>
      </p:sp>
      <p:sp>
        <p:nvSpPr>
          <p:cNvPr id="71" name="Text 67"/>
          <p:cNvSpPr txBox="1"/>
          <p:nvPr/>
        </p:nvSpPr>
        <p:spPr>
          <a:xfrm>
            <a:off x="361188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680" dirty="0"/>
          </a:p>
        </p:txBody>
      </p:sp>
      <p:sp>
        <p:nvSpPr>
          <p:cNvPr id="72" name="Text 68"/>
          <p:cNvSpPr txBox="1"/>
          <p:nvPr/>
        </p:nvSpPr>
        <p:spPr>
          <a:xfrm>
            <a:off x="411480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680" dirty="0"/>
          </a:p>
        </p:txBody>
      </p:sp>
      <p:sp>
        <p:nvSpPr>
          <p:cNvPr id="73" name="Text 69"/>
          <p:cNvSpPr txBox="1"/>
          <p:nvPr/>
        </p:nvSpPr>
        <p:spPr>
          <a:xfrm>
            <a:off x="461772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680" dirty="0"/>
          </a:p>
        </p:txBody>
      </p:sp>
      <p:sp>
        <p:nvSpPr>
          <p:cNvPr id="74" name="Text 70"/>
          <p:cNvSpPr txBox="1"/>
          <p:nvPr/>
        </p:nvSpPr>
        <p:spPr>
          <a:xfrm>
            <a:off x="512064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680" dirty="0"/>
          </a:p>
        </p:txBody>
      </p:sp>
      <p:sp>
        <p:nvSpPr>
          <p:cNvPr id="75" name="Text 71"/>
          <p:cNvSpPr txBox="1"/>
          <p:nvPr/>
        </p:nvSpPr>
        <p:spPr>
          <a:xfrm>
            <a:off x="562356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680" dirty="0"/>
          </a:p>
        </p:txBody>
      </p:sp>
      <p:sp>
        <p:nvSpPr>
          <p:cNvPr id="76" name="Text 72"/>
          <p:cNvSpPr txBox="1"/>
          <p:nvPr/>
        </p:nvSpPr>
        <p:spPr>
          <a:xfrm>
            <a:off x="612648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77" name="Text 73"/>
          <p:cNvSpPr txBox="1"/>
          <p:nvPr/>
        </p:nvSpPr>
        <p:spPr>
          <a:xfrm>
            <a:off x="6629400" y="48463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71323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1,019</a:t>
            </a:r>
            <a:endParaRPr lang="en-US" sz="680" dirty="0"/>
          </a:p>
        </p:txBody>
      </p:sp>
      <p:sp>
        <p:nvSpPr>
          <p:cNvPr id="79" name="Shape 75"/>
          <p:cNvSpPr/>
          <p:nvPr/>
        </p:nvSpPr>
        <p:spPr>
          <a:xfrm>
            <a:off x="411480" y="5029200"/>
            <a:ext cx="7269480" cy="182880"/>
          </a:xfrm>
          <a:prstGeom prst="rect">
            <a:avLst/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606040" y="502920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66344" y="50292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Fines Building - supply</a:t>
            </a:r>
            <a:endParaRPr lang="en-US" sz="680" dirty="0"/>
          </a:p>
        </p:txBody>
      </p:sp>
      <p:sp>
        <p:nvSpPr>
          <p:cNvPr id="82" name="Text 78"/>
          <p:cNvSpPr txBox="1"/>
          <p:nvPr/>
        </p:nvSpPr>
        <p:spPr>
          <a:xfrm>
            <a:off x="260604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83" name="Text 79"/>
          <p:cNvSpPr txBox="1"/>
          <p:nvPr/>
        </p:nvSpPr>
        <p:spPr>
          <a:xfrm>
            <a:off x="310896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84" name="Text 80"/>
          <p:cNvSpPr txBox="1"/>
          <p:nvPr/>
        </p:nvSpPr>
        <p:spPr>
          <a:xfrm>
            <a:off x="361188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85" name="Text 81"/>
          <p:cNvSpPr txBox="1"/>
          <p:nvPr/>
        </p:nvSpPr>
        <p:spPr>
          <a:xfrm>
            <a:off x="411480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680" dirty="0"/>
          </a:p>
        </p:txBody>
      </p:sp>
      <p:sp>
        <p:nvSpPr>
          <p:cNvPr id="86" name="Text 82"/>
          <p:cNvSpPr txBox="1"/>
          <p:nvPr/>
        </p:nvSpPr>
        <p:spPr>
          <a:xfrm>
            <a:off x="461772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87" name="Text 83"/>
          <p:cNvSpPr txBox="1"/>
          <p:nvPr/>
        </p:nvSpPr>
        <p:spPr>
          <a:xfrm>
            <a:off x="512064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88" name="Text 84"/>
          <p:cNvSpPr txBox="1"/>
          <p:nvPr/>
        </p:nvSpPr>
        <p:spPr>
          <a:xfrm>
            <a:off x="562356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89" name="Text 85"/>
          <p:cNvSpPr txBox="1"/>
          <p:nvPr/>
        </p:nvSpPr>
        <p:spPr>
          <a:xfrm>
            <a:off x="612648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90" name="Text 86"/>
          <p:cNvSpPr txBox="1"/>
          <p:nvPr/>
        </p:nvSpPr>
        <p:spPr>
          <a:xfrm>
            <a:off x="6629400" y="5029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91" name="Text 87"/>
          <p:cNvSpPr txBox="1"/>
          <p:nvPr/>
        </p:nvSpPr>
        <p:spPr>
          <a:xfrm>
            <a:off x="7132320" y="5029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680" dirty="0"/>
          </a:p>
        </p:txBody>
      </p:sp>
      <p:sp>
        <p:nvSpPr>
          <p:cNvPr id="92" name="Shape 88"/>
          <p:cNvSpPr/>
          <p:nvPr/>
        </p:nvSpPr>
        <p:spPr>
          <a:xfrm>
            <a:off x="411480" y="5212080"/>
            <a:ext cx="72694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2606040" y="521208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466344" y="52120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Fines Building - erection</a:t>
            </a:r>
            <a:endParaRPr lang="en-US" sz="680" dirty="0"/>
          </a:p>
        </p:txBody>
      </p:sp>
      <p:sp>
        <p:nvSpPr>
          <p:cNvPr id="95" name="Text 91"/>
          <p:cNvSpPr txBox="1"/>
          <p:nvPr/>
        </p:nvSpPr>
        <p:spPr>
          <a:xfrm>
            <a:off x="260604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96" name="Text 92"/>
          <p:cNvSpPr txBox="1"/>
          <p:nvPr/>
        </p:nvSpPr>
        <p:spPr>
          <a:xfrm>
            <a:off x="310896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97" name="Text 93"/>
          <p:cNvSpPr txBox="1"/>
          <p:nvPr/>
        </p:nvSpPr>
        <p:spPr>
          <a:xfrm>
            <a:off x="361188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98" name="Text 94"/>
          <p:cNvSpPr txBox="1"/>
          <p:nvPr/>
        </p:nvSpPr>
        <p:spPr>
          <a:xfrm>
            <a:off x="411480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680" dirty="0"/>
          </a:p>
        </p:txBody>
      </p:sp>
      <p:sp>
        <p:nvSpPr>
          <p:cNvPr id="99" name="Text 95"/>
          <p:cNvSpPr txBox="1"/>
          <p:nvPr/>
        </p:nvSpPr>
        <p:spPr>
          <a:xfrm>
            <a:off x="461772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680" dirty="0"/>
          </a:p>
        </p:txBody>
      </p:sp>
      <p:sp>
        <p:nvSpPr>
          <p:cNvPr id="100" name="Text 96"/>
          <p:cNvSpPr txBox="1"/>
          <p:nvPr/>
        </p:nvSpPr>
        <p:spPr>
          <a:xfrm>
            <a:off x="512064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680" dirty="0"/>
          </a:p>
        </p:txBody>
      </p:sp>
      <p:sp>
        <p:nvSpPr>
          <p:cNvPr id="101" name="Text 97"/>
          <p:cNvSpPr txBox="1"/>
          <p:nvPr/>
        </p:nvSpPr>
        <p:spPr>
          <a:xfrm>
            <a:off x="562356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02" name="Text 98"/>
          <p:cNvSpPr txBox="1"/>
          <p:nvPr/>
        </p:nvSpPr>
        <p:spPr>
          <a:xfrm>
            <a:off x="612648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03" name="Text 99"/>
          <p:cNvSpPr txBox="1"/>
          <p:nvPr/>
        </p:nvSpPr>
        <p:spPr>
          <a:xfrm>
            <a:off x="6629400" y="52120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04" name="Text 100"/>
          <p:cNvSpPr txBox="1"/>
          <p:nvPr/>
        </p:nvSpPr>
        <p:spPr>
          <a:xfrm>
            <a:off x="7132320" y="52120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</a:t>
            </a:r>
            <a:endParaRPr lang="en-US" sz="680" dirty="0"/>
          </a:p>
        </p:txBody>
      </p:sp>
      <p:sp>
        <p:nvSpPr>
          <p:cNvPr id="105" name="Shape 101"/>
          <p:cNvSpPr/>
          <p:nvPr/>
        </p:nvSpPr>
        <p:spPr>
          <a:xfrm>
            <a:off x="411480" y="5394960"/>
            <a:ext cx="7269480" cy="182880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2606040" y="539496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07" name="Text 103"/>
          <p:cNvSpPr txBox="1"/>
          <p:nvPr/>
        </p:nvSpPr>
        <p:spPr>
          <a:xfrm>
            <a:off x="466344" y="5394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supply</a:t>
            </a:r>
            <a:endParaRPr lang="en-US" sz="680" dirty="0"/>
          </a:p>
        </p:txBody>
      </p:sp>
      <p:sp>
        <p:nvSpPr>
          <p:cNvPr id="108" name="Text 104"/>
          <p:cNvSpPr txBox="1"/>
          <p:nvPr/>
        </p:nvSpPr>
        <p:spPr>
          <a:xfrm>
            <a:off x="260604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680" dirty="0"/>
          </a:p>
        </p:txBody>
      </p:sp>
      <p:sp>
        <p:nvSpPr>
          <p:cNvPr id="109" name="Text 105"/>
          <p:cNvSpPr txBox="1"/>
          <p:nvPr/>
        </p:nvSpPr>
        <p:spPr>
          <a:xfrm>
            <a:off x="310896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670</a:t>
            </a:r>
            <a:endParaRPr lang="en-US" sz="680" dirty="0"/>
          </a:p>
        </p:txBody>
      </p:sp>
      <p:sp>
        <p:nvSpPr>
          <p:cNvPr id="110" name="Text 106"/>
          <p:cNvSpPr txBox="1"/>
          <p:nvPr/>
        </p:nvSpPr>
        <p:spPr>
          <a:xfrm>
            <a:off x="361188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</a:t>
            </a:r>
            <a:endParaRPr lang="en-US" sz="680" dirty="0"/>
          </a:p>
        </p:txBody>
      </p:sp>
      <p:sp>
        <p:nvSpPr>
          <p:cNvPr id="111" name="Text 107"/>
          <p:cNvSpPr txBox="1"/>
          <p:nvPr/>
        </p:nvSpPr>
        <p:spPr>
          <a:xfrm>
            <a:off x="411480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822</a:t>
            </a:r>
            <a:endParaRPr lang="en-US" sz="680" dirty="0"/>
          </a:p>
        </p:txBody>
      </p:sp>
      <p:sp>
        <p:nvSpPr>
          <p:cNvPr id="112" name="Text 108"/>
          <p:cNvSpPr txBox="1"/>
          <p:nvPr/>
        </p:nvSpPr>
        <p:spPr>
          <a:xfrm>
            <a:off x="461772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430</a:t>
            </a:r>
            <a:endParaRPr lang="en-US" sz="680" dirty="0"/>
          </a:p>
        </p:txBody>
      </p:sp>
      <p:sp>
        <p:nvSpPr>
          <p:cNvPr id="113" name="Text 109"/>
          <p:cNvSpPr txBox="1"/>
          <p:nvPr/>
        </p:nvSpPr>
        <p:spPr>
          <a:xfrm>
            <a:off x="512064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4" name="Text 110"/>
          <p:cNvSpPr txBox="1"/>
          <p:nvPr/>
        </p:nvSpPr>
        <p:spPr>
          <a:xfrm>
            <a:off x="562356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5" name="Text 111"/>
          <p:cNvSpPr txBox="1"/>
          <p:nvPr/>
        </p:nvSpPr>
        <p:spPr>
          <a:xfrm>
            <a:off x="612648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6" name="Text 112"/>
          <p:cNvSpPr txBox="1"/>
          <p:nvPr/>
        </p:nvSpPr>
        <p:spPr>
          <a:xfrm>
            <a:off x="6629400" y="53949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680" dirty="0"/>
          </a:p>
        </p:txBody>
      </p:sp>
      <p:sp>
        <p:nvSpPr>
          <p:cNvPr id="117" name="Text 113"/>
          <p:cNvSpPr txBox="1"/>
          <p:nvPr/>
        </p:nvSpPr>
        <p:spPr>
          <a:xfrm>
            <a:off x="7132320" y="539496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3,412</a:t>
            </a:r>
            <a:endParaRPr lang="en-US" sz="680" dirty="0"/>
          </a:p>
        </p:txBody>
      </p:sp>
      <p:sp>
        <p:nvSpPr>
          <p:cNvPr id="118" name="Shape 114"/>
          <p:cNvSpPr/>
          <p:nvPr/>
        </p:nvSpPr>
        <p:spPr>
          <a:xfrm>
            <a:off x="411480" y="5577840"/>
            <a:ext cx="7269480" cy="182880"/>
          </a:xfrm>
          <a:prstGeom prst="rect">
            <a:avLst/>
          </a:prstGeom>
          <a:solidFill>
            <a:srgbClr val="EDF1F6"/>
          </a:solidFill>
          <a:ln w="12700">
            <a:solidFill>
              <a:srgbClr val="EDF1F6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2606040" y="5577840"/>
            <a:ext cx="1508760" cy="182880"/>
          </a:xfrm>
          <a:prstGeom prst="rect">
            <a:avLst/>
          </a:prstGeom>
          <a:solidFill>
            <a:srgbClr val="1E49E2">
              <a:alpha val="7000"/>
            </a:srgbClr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20" name="Text 116"/>
          <p:cNvSpPr txBox="1"/>
          <p:nvPr/>
        </p:nvSpPr>
        <p:spPr>
          <a:xfrm>
            <a:off x="466344" y="55778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erection</a:t>
            </a:r>
            <a:endParaRPr lang="en-US" sz="680" dirty="0"/>
          </a:p>
        </p:txBody>
      </p:sp>
      <p:sp>
        <p:nvSpPr>
          <p:cNvPr id="121" name="Text 117"/>
          <p:cNvSpPr txBox="1"/>
          <p:nvPr/>
        </p:nvSpPr>
        <p:spPr>
          <a:xfrm>
            <a:off x="260604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80" dirty="0"/>
          </a:p>
        </p:txBody>
      </p:sp>
      <p:sp>
        <p:nvSpPr>
          <p:cNvPr id="122" name="Text 118"/>
          <p:cNvSpPr txBox="1"/>
          <p:nvPr/>
        </p:nvSpPr>
        <p:spPr>
          <a:xfrm>
            <a:off x="310896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</a:t>
            </a:r>
            <a:endParaRPr lang="en-US" sz="680" dirty="0"/>
          </a:p>
        </p:txBody>
      </p:sp>
      <p:sp>
        <p:nvSpPr>
          <p:cNvPr id="123" name="Text 119"/>
          <p:cNvSpPr txBox="1"/>
          <p:nvPr/>
        </p:nvSpPr>
        <p:spPr>
          <a:xfrm>
            <a:off x="361188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680" dirty="0"/>
          </a:p>
        </p:txBody>
      </p:sp>
      <p:sp>
        <p:nvSpPr>
          <p:cNvPr id="124" name="Text 120"/>
          <p:cNvSpPr txBox="1"/>
          <p:nvPr/>
        </p:nvSpPr>
        <p:spPr>
          <a:xfrm>
            <a:off x="411480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526</a:t>
            </a:r>
            <a:endParaRPr lang="en-US" sz="680" dirty="0"/>
          </a:p>
        </p:txBody>
      </p:sp>
      <p:sp>
        <p:nvSpPr>
          <p:cNvPr id="125" name="Text 121"/>
          <p:cNvSpPr txBox="1"/>
          <p:nvPr/>
        </p:nvSpPr>
        <p:spPr>
          <a:xfrm>
            <a:off x="461772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538</a:t>
            </a:r>
            <a:endParaRPr lang="en-US" sz="680" dirty="0"/>
          </a:p>
        </p:txBody>
      </p:sp>
      <p:sp>
        <p:nvSpPr>
          <p:cNvPr id="126" name="Text 122"/>
          <p:cNvSpPr txBox="1"/>
          <p:nvPr/>
        </p:nvSpPr>
        <p:spPr>
          <a:xfrm>
            <a:off x="512064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473</a:t>
            </a:r>
            <a:endParaRPr lang="en-US" sz="680" dirty="0"/>
          </a:p>
        </p:txBody>
      </p:sp>
      <p:sp>
        <p:nvSpPr>
          <p:cNvPr id="127" name="Text 123"/>
          <p:cNvSpPr txBox="1"/>
          <p:nvPr/>
        </p:nvSpPr>
        <p:spPr>
          <a:xfrm>
            <a:off x="562356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</a:t>
            </a:r>
            <a:endParaRPr lang="en-US" sz="680" dirty="0"/>
          </a:p>
        </p:txBody>
      </p:sp>
      <p:sp>
        <p:nvSpPr>
          <p:cNvPr id="128" name="Text 124"/>
          <p:cNvSpPr txBox="1"/>
          <p:nvPr/>
        </p:nvSpPr>
        <p:spPr>
          <a:xfrm>
            <a:off x="612648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129" name="Text 125"/>
          <p:cNvSpPr txBox="1"/>
          <p:nvPr/>
        </p:nvSpPr>
        <p:spPr>
          <a:xfrm>
            <a:off x="6629400" y="5577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680" dirty="0"/>
          </a:p>
        </p:txBody>
      </p:sp>
      <p:sp>
        <p:nvSpPr>
          <p:cNvPr id="130" name="Text 126"/>
          <p:cNvSpPr txBox="1"/>
          <p:nvPr/>
        </p:nvSpPr>
        <p:spPr>
          <a:xfrm>
            <a:off x="7132320" y="55778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3,412</a:t>
            </a:r>
            <a:endParaRPr lang="en-US" sz="680" dirty="0"/>
          </a:p>
        </p:txBody>
      </p:sp>
      <p:sp>
        <p:nvSpPr>
          <p:cNvPr id="131" name="Shape 127"/>
          <p:cNvSpPr/>
          <p:nvPr/>
        </p:nvSpPr>
        <p:spPr>
          <a:xfrm>
            <a:off x="7882128" y="3950208"/>
            <a:ext cx="82296" cy="82296"/>
          </a:xfrm>
          <a:prstGeom prst="rect">
            <a:avLst/>
          </a:prstGeom>
          <a:solidFill>
            <a:srgbClr val="1E49E2"/>
          </a:solidFill>
          <a:ln w="12700">
            <a:solidFill>
              <a:srgbClr val="1E49E2">
                <a:alpha val="0"/>
              </a:srgbClr>
            </a:solidFill>
            <a:prstDash val="solid"/>
          </a:ln>
        </p:spPr>
      </p:sp>
      <p:sp>
        <p:nvSpPr>
          <p:cNvPr id="132" name="Text 128"/>
          <p:cNvSpPr txBox="1"/>
          <p:nvPr/>
        </p:nvSpPr>
        <p:spPr>
          <a:xfrm>
            <a:off x="8028432" y="387705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TO CLOSE BEFORE PLAN SIGN-OFF</a:t>
            </a:r>
            <a:endParaRPr lang="en-US" sz="950" dirty="0"/>
          </a:p>
        </p:txBody>
      </p:sp>
      <p:sp>
        <p:nvSpPr>
          <p:cNvPr id="133" name="Shape 129"/>
          <p:cNvSpPr/>
          <p:nvPr/>
        </p:nvSpPr>
        <p:spPr>
          <a:xfrm>
            <a:off x="7900416" y="4178808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8110728" y="4133088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Building:  Only 1,399 of 2,000 MT drawings released; 601 MT (30%) pending. Cumulative supply crosses 1,399 MT in Jan-27.</a:t>
            </a:r>
            <a:endParaRPr lang="en-US" sz="720" dirty="0"/>
          </a:p>
        </p:txBody>
      </p:sp>
      <p:sp>
        <p:nvSpPr>
          <p:cNvPr id="135" name="Shape 131"/>
          <p:cNvSpPr/>
          <p:nvPr/>
        </p:nvSpPr>
        <p:spPr>
          <a:xfrm>
            <a:off x="7900416" y="4581144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36" name="Text 132"/>
          <p:cNvSpPr txBox="1"/>
          <p:nvPr/>
        </p:nvSpPr>
        <p:spPr>
          <a:xfrm>
            <a:off x="8110728" y="4535424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Building:  Oct-26–Feb supply plan totals 2,000 MT but the balance is 1,988 MT (12 MT already done) - quantities not reconciled against scope.</a:t>
            </a:r>
            <a:endParaRPr lang="en-US" sz="720" dirty="0"/>
          </a:p>
        </p:txBody>
      </p:sp>
      <p:sp>
        <p:nvSpPr>
          <p:cNvPr id="137" name="Shape 133"/>
          <p:cNvSpPr/>
          <p:nvPr/>
        </p:nvSpPr>
        <p:spPr>
          <a:xfrm>
            <a:off x="7900416" y="4983480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38" name="Text 134"/>
          <p:cNvSpPr txBox="1"/>
          <p:nvPr/>
        </p:nvSpPr>
        <p:spPr>
          <a:xfrm>
            <a:off x="8110728" y="4937760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Grinding Building:  Dispatch must jump from 12 MT in Sep-26 to 520 MT/month; Dec and Jan-27 alone need 1,020 MT.</a:t>
            </a:r>
            <a:endParaRPr lang="en-US" sz="720" dirty="0"/>
          </a:p>
        </p:txBody>
      </p:sp>
      <p:sp>
        <p:nvSpPr>
          <p:cNvPr id="139" name="Shape 135"/>
          <p:cNvSpPr/>
          <p:nvPr/>
        </p:nvSpPr>
        <p:spPr>
          <a:xfrm>
            <a:off x="7900416" y="5385816"/>
            <a:ext cx="118872" cy="118872"/>
          </a:xfrm>
          <a:prstGeom prst="ellipse">
            <a:avLst/>
          </a:prstGeom>
          <a:solidFill>
            <a:srgbClr val="E5383B"/>
          </a:solidFill>
          <a:ln w="12700">
            <a:solidFill>
              <a:srgbClr val="E5383B">
                <a:alpha val="0"/>
              </a:srgbClr>
            </a:solidFill>
            <a:prstDash val="solid"/>
          </a:ln>
        </p:spPr>
      </p:sp>
      <p:sp>
        <p:nvSpPr>
          <p:cNvPr id="140" name="Text 136"/>
          <p:cNvSpPr txBox="1"/>
          <p:nvPr/>
        </p:nvSpPr>
        <p:spPr>
          <a:xfrm>
            <a:off x="8110728" y="5340096"/>
            <a:ext cx="3648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House / Building:  Dispatch must jump from 0 MT in Sep-26 to 269 MT/month; Oct and Jan-27 alone need 519 MT.</a:t>
            </a:r>
            <a:endParaRPr lang="en-US" sz="720" dirty="0"/>
          </a:p>
        </p:txBody>
      </p:sp>
      <p:sp>
        <p:nvSpPr>
          <p:cNvPr id="141" name="Text 137"/>
          <p:cNvSpPr txBox="1"/>
          <p:nvPr/>
        </p:nvSpPr>
        <p:spPr>
          <a:xfrm>
            <a:off x="7882128" y="5797296"/>
            <a:ext cx="3895344" cy="512064"/>
          </a:xfrm>
          <a:prstGeom prst="rect">
            <a:avLst/>
          </a:prstGeom>
          <a:solidFill>
            <a:srgbClr val="E6ECFC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waiting at site = cumulative supply − cumulative erection. Plan laydown for the peak, and size erection crews to the monthly erection rate.</a:t>
            </a:r>
            <a:endParaRPr lang="en-US" sz="720" dirty="0"/>
          </a:p>
        </p:txBody>
      </p:sp>
      <p:sp>
        <p:nvSpPr>
          <p:cNvPr id="142" name="Text 138"/>
          <p:cNvSpPr txBox="1"/>
          <p:nvPr/>
        </p:nvSpPr>
        <p:spPr>
          <a:xfrm>
            <a:off x="11320272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structures status</dc:title>
  <dc:subject>PptxGenJS Presentation</dc:subject>
  <dc:creator>Schedule Engine</dc:creator>
  <cp:lastModifiedBy>Schedule Engine</cp:lastModifiedBy>
  <cp:revision>1</cp:revision>
  <dcterms:created xsi:type="dcterms:W3CDTF">2026-09-26T19:53:48Z</dcterms:created>
  <dcterms:modified xsi:type="dcterms:W3CDTF">2026-09-26T19:53:48Z</dcterms:modified>
</cp:coreProperties>
</file>